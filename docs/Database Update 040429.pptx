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80" r:id="rId2"/>
    <p:sldId id="298" r:id="rId3"/>
    <p:sldId id="258" r:id="rId4"/>
    <p:sldId id="259" r:id="rId5"/>
    <p:sldId id="281" r:id="rId6"/>
    <p:sldId id="293" r:id="rId7"/>
    <p:sldId id="269" r:id="rId8"/>
    <p:sldId id="262" r:id="rId9"/>
    <p:sldId id="271" r:id="rId10"/>
    <p:sldId id="266" r:id="rId11"/>
    <p:sldId id="297" r:id="rId12"/>
    <p:sldId id="268" r:id="rId13"/>
    <p:sldId id="296" r:id="rId14"/>
    <p:sldId id="260" r:id="rId15"/>
    <p:sldId id="294" r:id="rId16"/>
    <p:sldId id="272" r:id="rId17"/>
    <p:sldId id="273" r:id="rId18"/>
    <p:sldId id="274" r:id="rId19"/>
    <p:sldId id="265" r:id="rId20"/>
    <p:sldId id="278" r:id="rId21"/>
    <p:sldId id="279" r:id="rId22"/>
    <p:sldId id="277" r:id="rId23"/>
    <p:sldId id="270" r:id="rId24"/>
    <p:sldId id="257" r:id="rId25"/>
    <p:sldId id="267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8E8E8"/>
    <a:srgbClr val="383BC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432"/>
    <p:restoredTop sz="94673"/>
  </p:normalViewPr>
  <p:slideViewPr>
    <p:cSldViewPr snapToGrid="0">
      <p:cViewPr varScale="1">
        <p:scale>
          <a:sx n="148" d="100"/>
          <a:sy n="148" d="100"/>
        </p:scale>
        <p:origin x="216" y="8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svg"/><Relationship Id="rId1" Type="http://schemas.openxmlformats.org/officeDocument/2006/relationships/image" Target="../media/image17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svg"/><Relationship Id="rId1" Type="http://schemas.openxmlformats.org/officeDocument/2006/relationships/image" Target="../media/image1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1FE65A7-971E-42F3-8C14-B429C08F4B3B}" type="doc">
      <dgm:prSet loTypeId="urn:microsoft.com/office/officeart/2018/5/layout/CenteredIconLabelDescription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64F9CF9-F242-4F06-9C3D-A80DFA9FA79A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Validate the platform choice incrementally.</a:t>
          </a:r>
        </a:p>
      </dgm:t>
    </dgm:pt>
    <dgm:pt modelId="{46E75E4A-4B3F-4467-8D12-741DB192667D}" type="parTrans" cxnId="{2757682B-4010-4B96-A6CC-D0707FA08FE7}">
      <dgm:prSet/>
      <dgm:spPr/>
      <dgm:t>
        <a:bodyPr/>
        <a:lstStyle/>
        <a:p>
          <a:endParaRPr lang="en-US"/>
        </a:p>
      </dgm:t>
    </dgm:pt>
    <dgm:pt modelId="{C075A6D8-5C96-4843-9375-8DB327C2EEFF}" type="sibTrans" cxnId="{2757682B-4010-4B96-A6CC-D0707FA08FE7}">
      <dgm:prSet/>
      <dgm:spPr/>
      <dgm:t>
        <a:bodyPr/>
        <a:lstStyle/>
        <a:p>
          <a:endParaRPr lang="en-US"/>
        </a:p>
      </dgm:t>
    </dgm:pt>
    <dgm:pt modelId="{0D00CB84-D664-49C4-A02E-38192425923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Information gathering from team(s)</a:t>
          </a:r>
        </a:p>
      </dgm:t>
    </dgm:pt>
    <dgm:pt modelId="{5C469E34-DECA-4BD8-87CF-1E125D141B38}" type="parTrans" cxnId="{4D3092CB-DC35-4551-A269-C684BF727965}">
      <dgm:prSet/>
      <dgm:spPr/>
      <dgm:t>
        <a:bodyPr/>
        <a:lstStyle/>
        <a:p>
          <a:endParaRPr lang="en-US"/>
        </a:p>
      </dgm:t>
    </dgm:pt>
    <dgm:pt modelId="{DE576032-F961-44EA-839B-3D23800095C4}" type="sibTrans" cxnId="{4D3092CB-DC35-4551-A269-C684BF727965}">
      <dgm:prSet/>
      <dgm:spPr/>
      <dgm:t>
        <a:bodyPr/>
        <a:lstStyle/>
        <a:p>
          <a:endParaRPr lang="en-US"/>
        </a:p>
      </dgm:t>
    </dgm:pt>
    <dgm:pt modelId="{D289C1B0-5328-4C8C-864B-33120B663E4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Birddog integration experiments</a:t>
          </a:r>
        </a:p>
      </dgm:t>
    </dgm:pt>
    <dgm:pt modelId="{DA84B1BC-DE01-4EB9-85FC-4E065AA64364}" type="parTrans" cxnId="{D2F728CD-F279-4CB1-8DD0-407C4CC395C1}">
      <dgm:prSet/>
      <dgm:spPr/>
      <dgm:t>
        <a:bodyPr/>
        <a:lstStyle/>
        <a:p>
          <a:endParaRPr lang="en-US"/>
        </a:p>
      </dgm:t>
    </dgm:pt>
    <dgm:pt modelId="{E6174B7B-502D-41C5-8DD3-DF57C09B6D48}" type="sibTrans" cxnId="{D2F728CD-F279-4CB1-8DD0-407C4CC395C1}">
      <dgm:prSet/>
      <dgm:spPr/>
      <dgm:t>
        <a:bodyPr/>
        <a:lstStyle/>
        <a:p>
          <a:endParaRPr lang="en-US"/>
        </a:p>
      </dgm:t>
    </dgm:pt>
    <dgm:pt modelId="{58CC9691-ECBE-4A2A-9F8A-5BA592C6237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Identify and flesh out roles and views</a:t>
          </a:r>
        </a:p>
      </dgm:t>
    </dgm:pt>
    <dgm:pt modelId="{14391992-0B63-4F49-B176-25080A11C236}" type="parTrans" cxnId="{2C97B7DD-60BA-4B60-A3F5-4F23CDC59424}">
      <dgm:prSet/>
      <dgm:spPr/>
      <dgm:t>
        <a:bodyPr/>
        <a:lstStyle/>
        <a:p>
          <a:endParaRPr lang="en-US"/>
        </a:p>
      </dgm:t>
    </dgm:pt>
    <dgm:pt modelId="{6EB5362F-4C23-4282-A03E-D76486D7208E}" type="sibTrans" cxnId="{2C97B7DD-60BA-4B60-A3F5-4F23CDC59424}">
      <dgm:prSet/>
      <dgm:spPr/>
      <dgm:t>
        <a:bodyPr/>
        <a:lstStyle/>
        <a:p>
          <a:endParaRPr lang="en-US"/>
        </a:p>
      </dgm:t>
    </dgm:pt>
    <dgm:pt modelId="{E0476BD6-4BF0-46B5-8549-EC132BB86A0D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dirty="0"/>
            <a:t>Develop in parallel with ongoing Google Drive-based workflows.</a:t>
          </a:r>
        </a:p>
      </dgm:t>
    </dgm:pt>
    <dgm:pt modelId="{BD2FD5E6-8D9B-4CD7-8C9A-0C90AC393D2B}" type="parTrans" cxnId="{492BF80F-3183-4083-BAC2-D2098B560FF3}">
      <dgm:prSet/>
      <dgm:spPr/>
      <dgm:t>
        <a:bodyPr/>
        <a:lstStyle/>
        <a:p>
          <a:endParaRPr lang="en-US"/>
        </a:p>
      </dgm:t>
    </dgm:pt>
    <dgm:pt modelId="{02AE263F-4BCA-4351-8AF5-4D3BBECEC255}" type="sibTrans" cxnId="{492BF80F-3183-4083-BAC2-D2098B560FF3}">
      <dgm:prSet/>
      <dgm:spPr/>
      <dgm:t>
        <a:bodyPr/>
        <a:lstStyle/>
        <a:p>
          <a:endParaRPr lang="en-US"/>
        </a:p>
      </dgm:t>
    </dgm:pt>
    <dgm:pt modelId="{F86973ED-ACBD-42EC-863B-AE43A30E67F0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Transition when we’re ready.</a:t>
          </a:r>
        </a:p>
      </dgm:t>
    </dgm:pt>
    <dgm:pt modelId="{93D4A2C1-070C-452D-BC82-F5ED9D0C41C5}" type="parTrans" cxnId="{F005654D-5DBB-470C-BBDC-4AEFB7766083}">
      <dgm:prSet/>
      <dgm:spPr/>
      <dgm:t>
        <a:bodyPr/>
        <a:lstStyle/>
        <a:p>
          <a:endParaRPr lang="en-US"/>
        </a:p>
      </dgm:t>
    </dgm:pt>
    <dgm:pt modelId="{FB57CFEB-0D66-43F5-945E-702B89802DC3}" type="sibTrans" cxnId="{F005654D-5DBB-470C-BBDC-4AEFB7766083}">
      <dgm:prSet/>
      <dgm:spPr/>
      <dgm:t>
        <a:bodyPr/>
        <a:lstStyle/>
        <a:p>
          <a:endParaRPr lang="en-US"/>
        </a:p>
      </dgm:t>
    </dgm:pt>
    <dgm:pt modelId="{92AD0AD7-BFE6-4C04-9C30-E7B7E5AF56D3}" type="pres">
      <dgm:prSet presAssocID="{31FE65A7-971E-42F3-8C14-B429C08F4B3B}" presName="root" presStyleCnt="0">
        <dgm:presLayoutVars>
          <dgm:dir/>
          <dgm:resizeHandles val="exact"/>
        </dgm:presLayoutVars>
      </dgm:prSet>
      <dgm:spPr/>
    </dgm:pt>
    <dgm:pt modelId="{990087F0-9FEE-4F1F-843E-2645BDDA617F}" type="pres">
      <dgm:prSet presAssocID="{464F9CF9-F242-4F06-9C3D-A80DFA9FA79A}" presName="compNode" presStyleCnt="0"/>
      <dgm:spPr/>
    </dgm:pt>
    <dgm:pt modelId="{04E159F2-8CF6-489F-ADA6-D0DFD7FEB09B}" type="pres">
      <dgm:prSet presAssocID="{464F9CF9-F242-4F06-9C3D-A80DFA9FA79A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ircular Flowchart"/>
        </a:ext>
      </dgm:extLst>
    </dgm:pt>
    <dgm:pt modelId="{39DFB78B-F320-4DCB-A6D8-A761CAC7F0ED}" type="pres">
      <dgm:prSet presAssocID="{464F9CF9-F242-4F06-9C3D-A80DFA9FA79A}" presName="iconSpace" presStyleCnt="0"/>
      <dgm:spPr/>
    </dgm:pt>
    <dgm:pt modelId="{9173C4B8-825C-4EBD-B77F-50FE3A4E585E}" type="pres">
      <dgm:prSet presAssocID="{464F9CF9-F242-4F06-9C3D-A80DFA9FA79A}" presName="parTx" presStyleLbl="revTx" presStyleIdx="0" presStyleCnt="6">
        <dgm:presLayoutVars>
          <dgm:chMax val="0"/>
          <dgm:chPref val="0"/>
        </dgm:presLayoutVars>
      </dgm:prSet>
      <dgm:spPr/>
    </dgm:pt>
    <dgm:pt modelId="{44295DD2-1D2D-44CD-883F-0BA579E94692}" type="pres">
      <dgm:prSet presAssocID="{464F9CF9-F242-4F06-9C3D-A80DFA9FA79A}" presName="txSpace" presStyleCnt="0"/>
      <dgm:spPr/>
    </dgm:pt>
    <dgm:pt modelId="{397AA66B-5AD9-4FAD-84E3-1B8463411C25}" type="pres">
      <dgm:prSet presAssocID="{464F9CF9-F242-4F06-9C3D-A80DFA9FA79A}" presName="desTx" presStyleLbl="revTx" presStyleIdx="1" presStyleCnt="6">
        <dgm:presLayoutVars/>
      </dgm:prSet>
      <dgm:spPr/>
    </dgm:pt>
    <dgm:pt modelId="{744717E4-5FAA-4A1F-9D82-45276507FB69}" type="pres">
      <dgm:prSet presAssocID="{C075A6D8-5C96-4843-9375-8DB327C2EEFF}" presName="sibTrans" presStyleCnt="0"/>
      <dgm:spPr/>
    </dgm:pt>
    <dgm:pt modelId="{B4B7F62B-0F65-4801-B4D6-040182F33D82}" type="pres">
      <dgm:prSet presAssocID="{E0476BD6-4BF0-46B5-8549-EC132BB86A0D}" presName="compNode" presStyleCnt="0"/>
      <dgm:spPr/>
    </dgm:pt>
    <dgm:pt modelId="{58880F47-E6BC-44B3-8A1B-5637FC8FB6B6}" type="pres">
      <dgm:prSet presAssocID="{E0476BD6-4BF0-46B5-8549-EC132BB86A0D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Arrow Circle"/>
        </a:ext>
      </dgm:extLst>
    </dgm:pt>
    <dgm:pt modelId="{C2C8C9F4-DAE1-4819-A1EC-1C4DCA3837D8}" type="pres">
      <dgm:prSet presAssocID="{E0476BD6-4BF0-46B5-8549-EC132BB86A0D}" presName="iconSpace" presStyleCnt="0"/>
      <dgm:spPr/>
    </dgm:pt>
    <dgm:pt modelId="{6AE415BC-0F60-4B01-9D4C-56BD08C71CF1}" type="pres">
      <dgm:prSet presAssocID="{E0476BD6-4BF0-46B5-8549-EC132BB86A0D}" presName="parTx" presStyleLbl="revTx" presStyleIdx="2" presStyleCnt="6">
        <dgm:presLayoutVars>
          <dgm:chMax val="0"/>
          <dgm:chPref val="0"/>
        </dgm:presLayoutVars>
      </dgm:prSet>
      <dgm:spPr/>
    </dgm:pt>
    <dgm:pt modelId="{4245C156-79BE-481F-AE52-6E37628DCDE8}" type="pres">
      <dgm:prSet presAssocID="{E0476BD6-4BF0-46B5-8549-EC132BB86A0D}" presName="txSpace" presStyleCnt="0"/>
      <dgm:spPr/>
    </dgm:pt>
    <dgm:pt modelId="{F900913E-19F8-4ED5-A394-03F039018FD9}" type="pres">
      <dgm:prSet presAssocID="{E0476BD6-4BF0-46B5-8549-EC132BB86A0D}" presName="desTx" presStyleLbl="revTx" presStyleIdx="3" presStyleCnt="6">
        <dgm:presLayoutVars/>
      </dgm:prSet>
      <dgm:spPr/>
    </dgm:pt>
    <dgm:pt modelId="{22F455E3-C1B7-4E5A-A7DE-691041E1D36A}" type="pres">
      <dgm:prSet presAssocID="{02AE263F-4BCA-4351-8AF5-4D3BBECEC255}" presName="sibTrans" presStyleCnt="0"/>
      <dgm:spPr/>
    </dgm:pt>
    <dgm:pt modelId="{4EA744B6-B0BD-4AFF-8B7A-CF524B3A0C29}" type="pres">
      <dgm:prSet presAssocID="{F86973ED-ACBD-42EC-863B-AE43A30E67F0}" presName="compNode" presStyleCnt="0"/>
      <dgm:spPr/>
    </dgm:pt>
    <dgm:pt modelId="{664DF7AD-8B67-4159-AB86-144C59B9448B}" type="pres">
      <dgm:prSet presAssocID="{F86973ED-ACBD-42EC-863B-AE43A30E67F0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epeat"/>
        </a:ext>
      </dgm:extLst>
    </dgm:pt>
    <dgm:pt modelId="{E4E73144-33D1-4AA3-BF7E-DAA696EA6B56}" type="pres">
      <dgm:prSet presAssocID="{F86973ED-ACBD-42EC-863B-AE43A30E67F0}" presName="iconSpace" presStyleCnt="0"/>
      <dgm:spPr/>
    </dgm:pt>
    <dgm:pt modelId="{5542BC11-AD73-4F04-8F19-9EF68BA72DC2}" type="pres">
      <dgm:prSet presAssocID="{F86973ED-ACBD-42EC-863B-AE43A30E67F0}" presName="parTx" presStyleLbl="revTx" presStyleIdx="4" presStyleCnt="6">
        <dgm:presLayoutVars>
          <dgm:chMax val="0"/>
          <dgm:chPref val="0"/>
        </dgm:presLayoutVars>
      </dgm:prSet>
      <dgm:spPr/>
    </dgm:pt>
    <dgm:pt modelId="{916A3AC9-7CEF-4916-8954-6F751FE38F6A}" type="pres">
      <dgm:prSet presAssocID="{F86973ED-ACBD-42EC-863B-AE43A30E67F0}" presName="txSpace" presStyleCnt="0"/>
      <dgm:spPr/>
    </dgm:pt>
    <dgm:pt modelId="{2FDCAC75-18FA-48CB-A90E-703C0C3C90BB}" type="pres">
      <dgm:prSet presAssocID="{F86973ED-ACBD-42EC-863B-AE43A30E67F0}" presName="desTx" presStyleLbl="revTx" presStyleIdx="5" presStyleCnt="6">
        <dgm:presLayoutVars/>
      </dgm:prSet>
      <dgm:spPr/>
    </dgm:pt>
  </dgm:ptLst>
  <dgm:cxnLst>
    <dgm:cxn modelId="{B7BE4808-BE7A-4086-848B-CCBDC1F19049}" type="presOf" srcId="{F86973ED-ACBD-42EC-863B-AE43A30E67F0}" destId="{5542BC11-AD73-4F04-8F19-9EF68BA72DC2}" srcOrd="0" destOrd="0" presId="urn:microsoft.com/office/officeart/2018/5/layout/CenteredIconLabelDescriptionList"/>
    <dgm:cxn modelId="{492BF80F-3183-4083-BAC2-D2098B560FF3}" srcId="{31FE65A7-971E-42F3-8C14-B429C08F4B3B}" destId="{E0476BD6-4BF0-46B5-8549-EC132BB86A0D}" srcOrd="1" destOrd="0" parTransId="{BD2FD5E6-8D9B-4CD7-8C9A-0C90AC393D2B}" sibTransId="{02AE263F-4BCA-4351-8AF5-4D3BBECEC255}"/>
    <dgm:cxn modelId="{42F48D1D-7420-4995-902D-40E78370993F}" type="presOf" srcId="{464F9CF9-F242-4F06-9C3D-A80DFA9FA79A}" destId="{9173C4B8-825C-4EBD-B77F-50FE3A4E585E}" srcOrd="0" destOrd="0" presId="urn:microsoft.com/office/officeart/2018/5/layout/CenteredIconLabelDescriptionList"/>
    <dgm:cxn modelId="{0B01CF22-2806-4D78-900B-B835757F9B47}" type="presOf" srcId="{E0476BD6-4BF0-46B5-8549-EC132BB86A0D}" destId="{6AE415BC-0F60-4B01-9D4C-56BD08C71CF1}" srcOrd="0" destOrd="0" presId="urn:microsoft.com/office/officeart/2018/5/layout/CenteredIconLabelDescriptionList"/>
    <dgm:cxn modelId="{2757682B-4010-4B96-A6CC-D0707FA08FE7}" srcId="{31FE65A7-971E-42F3-8C14-B429C08F4B3B}" destId="{464F9CF9-F242-4F06-9C3D-A80DFA9FA79A}" srcOrd="0" destOrd="0" parTransId="{46E75E4A-4B3F-4467-8D12-741DB192667D}" sibTransId="{C075A6D8-5C96-4843-9375-8DB327C2EEFF}"/>
    <dgm:cxn modelId="{F005654D-5DBB-470C-BBDC-4AEFB7766083}" srcId="{31FE65A7-971E-42F3-8C14-B429C08F4B3B}" destId="{F86973ED-ACBD-42EC-863B-AE43A30E67F0}" srcOrd="2" destOrd="0" parTransId="{93D4A2C1-070C-452D-BC82-F5ED9D0C41C5}" sibTransId="{FB57CFEB-0D66-43F5-945E-702B89802DC3}"/>
    <dgm:cxn modelId="{C680A371-D335-4DB1-9998-D76CC96DEAE9}" type="presOf" srcId="{0D00CB84-D664-49C4-A02E-381924259233}" destId="{397AA66B-5AD9-4FAD-84E3-1B8463411C25}" srcOrd="0" destOrd="0" presId="urn:microsoft.com/office/officeart/2018/5/layout/CenteredIconLabelDescriptionList"/>
    <dgm:cxn modelId="{4D3092CB-DC35-4551-A269-C684BF727965}" srcId="{464F9CF9-F242-4F06-9C3D-A80DFA9FA79A}" destId="{0D00CB84-D664-49C4-A02E-381924259233}" srcOrd="0" destOrd="0" parTransId="{5C469E34-DECA-4BD8-87CF-1E125D141B38}" sibTransId="{DE576032-F961-44EA-839B-3D23800095C4}"/>
    <dgm:cxn modelId="{D2F728CD-F279-4CB1-8DD0-407C4CC395C1}" srcId="{464F9CF9-F242-4F06-9C3D-A80DFA9FA79A}" destId="{D289C1B0-5328-4C8C-864B-33120B663E43}" srcOrd="1" destOrd="0" parTransId="{DA84B1BC-DE01-4EB9-85FC-4E065AA64364}" sibTransId="{E6174B7B-502D-41C5-8DD3-DF57C09B6D48}"/>
    <dgm:cxn modelId="{2F4762CF-60AD-4348-A6DE-19B135E8396F}" type="presOf" srcId="{58CC9691-ECBE-4A2A-9F8A-5BA592C6237C}" destId="{397AA66B-5AD9-4FAD-84E3-1B8463411C25}" srcOrd="0" destOrd="2" presId="urn:microsoft.com/office/officeart/2018/5/layout/CenteredIconLabelDescriptionList"/>
    <dgm:cxn modelId="{2C97B7DD-60BA-4B60-A3F5-4F23CDC59424}" srcId="{464F9CF9-F242-4F06-9C3D-A80DFA9FA79A}" destId="{58CC9691-ECBE-4A2A-9F8A-5BA592C6237C}" srcOrd="2" destOrd="0" parTransId="{14391992-0B63-4F49-B176-25080A11C236}" sibTransId="{6EB5362F-4C23-4282-A03E-D76486D7208E}"/>
    <dgm:cxn modelId="{ED4F51F2-B0D7-47F2-933C-1F3827948502}" type="presOf" srcId="{D289C1B0-5328-4C8C-864B-33120B663E43}" destId="{397AA66B-5AD9-4FAD-84E3-1B8463411C25}" srcOrd="0" destOrd="1" presId="urn:microsoft.com/office/officeart/2018/5/layout/CenteredIconLabelDescriptionList"/>
    <dgm:cxn modelId="{93E36DF4-5B8F-40E7-BA5B-8ED82C750A2A}" type="presOf" srcId="{31FE65A7-971E-42F3-8C14-B429C08F4B3B}" destId="{92AD0AD7-BFE6-4C04-9C30-E7B7E5AF56D3}" srcOrd="0" destOrd="0" presId="urn:microsoft.com/office/officeart/2018/5/layout/CenteredIconLabelDescriptionList"/>
    <dgm:cxn modelId="{05BB96EA-282F-45D5-8625-4B191A796F8E}" type="presParOf" srcId="{92AD0AD7-BFE6-4C04-9C30-E7B7E5AF56D3}" destId="{990087F0-9FEE-4F1F-843E-2645BDDA617F}" srcOrd="0" destOrd="0" presId="urn:microsoft.com/office/officeart/2018/5/layout/CenteredIconLabelDescriptionList"/>
    <dgm:cxn modelId="{0E431E02-4AD4-46E2-8D96-24923758C0D7}" type="presParOf" srcId="{990087F0-9FEE-4F1F-843E-2645BDDA617F}" destId="{04E159F2-8CF6-489F-ADA6-D0DFD7FEB09B}" srcOrd="0" destOrd="0" presId="urn:microsoft.com/office/officeart/2018/5/layout/CenteredIconLabelDescriptionList"/>
    <dgm:cxn modelId="{4CBF9B95-CA51-4379-AC95-71A7E4971E34}" type="presParOf" srcId="{990087F0-9FEE-4F1F-843E-2645BDDA617F}" destId="{39DFB78B-F320-4DCB-A6D8-A761CAC7F0ED}" srcOrd="1" destOrd="0" presId="urn:microsoft.com/office/officeart/2018/5/layout/CenteredIconLabelDescriptionList"/>
    <dgm:cxn modelId="{57565D61-9EC7-46FF-A05F-479B5BA85F8C}" type="presParOf" srcId="{990087F0-9FEE-4F1F-843E-2645BDDA617F}" destId="{9173C4B8-825C-4EBD-B77F-50FE3A4E585E}" srcOrd="2" destOrd="0" presId="urn:microsoft.com/office/officeart/2018/5/layout/CenteredIconLabelDescriptionList"/>
    <dgm:cxn modelId="{FB53AD95-B979-43A5-BD33-E3D7ECE00CC6}" type="presParOf" srcId="{990087F0-9FEE-4F1F-843E-2645BDDA617F}" destId="{44295DD2-1D2D-44CD-883F-0BA579E94692}" srcOrd="3" destOrd="0" presId="urn:microsoft.com/office/officeart/2018/5/layout/CenteredIconLabelDescriptionList"/>
    <dgm:cxn modelId="{9BF0FBF3-8096-430E-8666-7DA137892D34}" type="presParOf" srcId="{990087F0-9FEE-4F1F-843E-2645BDDA617F}" destId="{397AA66B-5AD9-4FAD-84E3-1B8463411C25}" srcOrd="4" destOrd="0" presId="urn:microsoft.com/office/officeart/2018/5/layout/CenteredIconLabelDescriptionList"/>
    <dgm:cxn modelId="{FF1F4E01-5B36-4535-8B6B-0FE9A0C826CA}" type="presParOf" srcId="{92AD0AD7-BFE6-4C04-9C30-E7B7E5AF56D3}" destId="{744717E4-5FAA-4A1F-9D82-45276507FB69}" srcOrd="1" destOrd="0" presId="urn:microsoft.com/office/officeart/2018/5/layout/CenteredIconLabelDescriptionList"/>
    <dgm:cxn modelId="{F344D56C-FEE0-4C59-BCC5-3EE6600BC980}" type="presParOf" srcId="{92AD0AD7-BFE6-4C04-9C30-E7B7E5AF56D3}" destId="{B4B7F62B-0F65-4801-B4D6-040182F33D82}" srcOrd="2" destOrd="0" presId="urn:microsoft.com/office/officeart/2018/5/layout/CenteredIconLabelDescriptionList"/>
    <dgm:cxn modelId="{04BA48C3-937C-4F5C-B507-0D0368179646}" type="presParOf" srcId="{B4B7F62B-0F65-4801-B4D6-040182F33D82}" destId="{58880F47-E6BC-44B3-8A1B-5637FC8FB6B6}" srcOrd="0" destOrd="0" presId="urn:microsoft.com/office/officeart/2018/5/layout/CenteredIconLabelDescriptionList"/>
    <dgm:cxn modelId="{FDEFD19B-437F-412B-91F4-BC0872106F5B}" type="presParOf" srcId="{B4B7F62B-0F65-4801-B4D6-040182F33D82}" destId="{C2C8C9F4-DAE1-4819-A1EC-1C4DCA3837D8}" srcOrd="1" destOrd="0" presId="urn:microsoft.com/office/officeart/2018/5/layout/CenteredIconLabelDescriptionList"/>
    <dgm:cxn modelId="{7F42CBE3-9FF1-4DB8-AA01-F1D690845D61}" type="presParOf" srcId="{B4B7F62B-0F65-4801-B4D6-040182F33D82}" destId="{6AE415BC-0F60-4B01-9D4C-56BD08C71CF1}" srcOrd="2" destOrd="0" presId="urn:microsoft.com/office/officeart/2018/5/layout/CenteredIconLabelDescriptionList"/>
    <dgm:cxn modelId="{799D30F9-D064-4642-9576-051DE90F3287}" type="presParOf" srcId="{B4B7F62B-0F65-4801-B4D6-040182F33D82}" destId="{4245C156-79BE-481F-AE52-6E37628DCDE8}" srcOrd="3" destOrd="0" presId="urn:microsoft.com/office/officeart/2018/5/layout/CenteredIconLabelDescriptionList"/>
    <dgm:cxn modelId="{DCE35D6A-886A-4A80-81EC-A20CA6CBB500}" type="presParOf" srcId="{B4B7F62B-0F65-4801-B4D6-040182F33D82}" destId="{F900913E-19F8-4ED5-A394-03F039018FD9}" srcOrd="4" destOrd="0" presId="urn:microsoft.com/office/officeart/2018/5/layout/CenteredIconLabelDescriptionList"/>
    <dgm:cxn modelId="{3A29074F-244A-47C8-A81B-84B9A6B12A7F}" type="presParOf" srcId="{92AD0AD7-BFE6-4C04-9C30-E7B7E5AF56D3}" destId="{22F455E3-C1B7-4E5A-A7DE-691041E1D36A}" srcOrd="3" destOrd="0" presId="urn:microsoft.com/office/officeart/2018/5/layout/CenteredIconLabelDescriptionList"/>
    <dgm:cxn modelId="{4A975AF6-5396-4DDC-B6BB-BCFA862124B6}" type="presParOf" srcId="{92AD0AD7-BFE6-4C04-9C30-E7B7E5AF56D3}" destId="{4EA744B6-B0BD-4AFF-8B7A-CF524B3A0C29}" srcOrd="4" destOrd="0" presId="urn:microsoft.com/office/officeart/2018/5/layout/CenteredIconLabelDescriptionList"/>
    <dgm:cxn modelId="{1F3D40C2-9A21-4FD1-BE91-D055CDEC1A96}" type="presParOf" srcId="{4EA744B6-B0BD-4AFF-8B7A-CF524B3A0C29}" destId="{664DF7AD-8B67-4159-AB86-144C59B9448B}" srcOrd="0" destOrd="0" presId="urn:microsoft.com/office/officeart/2018/5/layout/CenteredIconLabelDescriptionList"/>
    <dgm:cxn modelId="{AB36EFC3-836F-46F4-87A2-B3D427E21274}" type="presParOf" srcId="{4EA744B6-B0BD-4AFF-8B7A-CF524B3A0C29}" destId="{E4E73144-33D1-4AA3-BF7E-DAA696EA6B56}" srcOrd="1" destOrd="0" presId="urn:microsoft.com/office/officeart/2018/5/layout/CenteredIconLabelDescriptionList"/>
    <dgm:cxn modelId="{8B5DD262-ADF5-425E-884D-DB05C9A355C0}" type="presParOf" srcId="{4EA744B6-B0BD-4AFF-8B7A-CF524B3A0C29}" destId="{5542BC11-AD73-4F04-8F19-9EF68BA72DC2}" srcOrd="2" destOrd="0" presId="urn:microsoft.com/office/officeart/2018/5/layout/CenteredIconLabelDescriptionList"/>
    <dgm:cxn modelId="{820AD1A4-FFC3-42E2-A48B-44E53D65959C}" type="presParOf" srcId="{4EA744B6-B0BD-4AFF-8B7A-CF524B3A0C29}" destId="{916A3AC9-7CEF-4916-8954-6F751FE38F6A}" srcOrd="3" destOrd="0" presId="urn:microsoft.com/office/officeart/2018/5/layout/CenteredIconLabelDescriptionList"/>
    <dgm:cxn modelId="{696C258E-7569-441C-A8A3-0D7085C43BE9}" type="presParOf" srcId="{4EA744B6-B0BD-4AFF-8B7A-CF524B3A0C29}" destId="{2FDCAC75-18FA-48CB-A90E-703C0C3C90BB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CAE4FAE-FC00-4EB0-BC6F-242874B24A95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7580D3DA-C2CF-4069-B4A0-E0829CCC7FC7}">
      <dgm:prSet/>
      <dgm:spPr/>
      <dgm:t>
        <a:bodyPr/>
        <a:lstStyle/>
        <a:p>
          <a:r>
            <a:rPr lang="en-US" dirty="0"/>
            <a:t>Low cost</a:t>
          </a:r>
        </a:p>
      </dgm:t>
    </dgm:pt>
    <dgm:pt modelId="{4E9EB7EA-C62F-44D4-88B9-49265617769D}" type="parTrans" cxnId="{00B84719-675D-48D2-8B4C-ECF5D48AE784}">
      <dgm:prSet/>
      <dgm:spPr/>
      <dgm:t>
        <a:bodyPr/>
        <a:lstStyle/>
        <a:p>
          <a:endParaRPr lang="en-US"/>
        </a:p>
      </dgm:t>
    </dgm:pt>
    <dgm:pt modelId="{0C426F35-3DF3-4E80-96F8-3F4767CF899F}" type="sibTrans" cxnId="{00B84719-675D-48D2-8B4C-ECF5D48AE784}">
      <dgm:prSet/>
      <dgm:spPr/>
      <dgm:t>
        <a:bodyPr/>
        <a:lstStyle/>
        <a:p>
          <a:endParaRPr lang="en-US"/>
        </a:p>
      </dgm:t>
    </dgm:pt>
    <dgm:pt modelId="{21FC33A9-E3AF-4E93-9AF4-DF60D1AE05B4}">
      <dgm:prSet/>
      <dgm:spPr/>
      <dgm:t>
        <a:bodyPr/>
        <a:lstStyle/>
        <a:p>
          <a:r>
            <a:rPr lang="en-US" dirty="0"/>
            <a:t>Multi-user</a:t>
          </a:r>
        </a:p>
      </dgm:t>
    </dgm:pt>
    <dgm:pt modelId="{3E6CBCB5-06A4-4524-BFAC-67FBC3375922}" type="parTrans" cxnId="{511A5D35-CCA2-4579-81AD-F8B22C2F025A}">
      <dgm:prSet/>
      <dgm:spPr/>
      <dgm:t>
        <a:bodyPr/>
        <a:lstStyle/>
        <a:p>
          <a:endParaRPr lang="en-US"/>
        </a:p>
      </dgm:t>
    </dgm:pt>
    <dgm:pt modelId="{A0BCBC19-F305-4261-AF6F-3D50FC547ECB}" type="sibTrans" cxnId="{511A5D35-CCA2-4579-81AD-F8B22C2F025A}">
      <dgm:prSet/>
      <dgm:spPr/>
      <dgm:t>
        <a:bodyPr/>
        <a:lstStyle/>
        <a:p>
          <a:endParaRPr lang="en-US"/>
        </a:p>
      </dgm:t>
    </dgm:pt>
    <dgm:pt modelId="{92A43039-45B7-4C28-A99B-EE92A796E56B}">
      <dgm:prSet/>
      <dgm:spPr/>
      <dgm:t>
        <a:bodyPr/>
        <a:lstStyle/>
        <a:p>
          <a:r>
            <a:rPr lang="en-US" dirty="0"/>
            <a:t>Easy learning curve</a:t>
          </a:r>
        </a:p>
      </dgm:t>
    </dgm:pt>
    <dgm:pt modelId="{2AEC10AC-FB3D-4657-A4DF-9A19B4B2885D}" type="parTrans" cxnId="{0AB144B9-0F7C-4A60-AB52-CEF7BDCEB6A8}">
      <dgm:prSet/>
      <dgm:spPr/>
      <dgm:t>
        <a:bodyPr/>
        <a:lstStyle/>
        <a:p>
          <a:endParaRPr lang="en-US"/>
        </a:p>
      </dgm:t>
    </dgm:pt>
    <dgm:pt modelId="{3EF49942-AB3F-4015-ACFC-219F7BAD8570}" type="sibTrans" cxnId="{0AB144B9-0F7C-4A60-AB52-CEF7BDCEB6A8}">
      <dgm:prSet/>
      <dgm:spPr/>
      <dgm:t>
        <a:bodyPr/>
        <a:lstStyle/>
        <a:p>
          <a:endParaRPr lang="en-US"/>
        </a:p>
      </dgm:t>
    </dgm:pt>
    <dgm:pt modelId="{8C8FF572-D483-428F-B9B8-61E2DC038557}">
      <dgm:prSet/>
      <dgm:spPr/>
      <dgm:t>
        <a:bodyPr/>
        <a:lstStyle/>
        <a:p>
          <a:r>
            <a:rPr lang="en-US" dirty="0"/>
            <a:t>Sufficient variety of views</a:t>
          </a:r>
        </a:p>
      </dgm:t>
    </dgm:pt>
    <dgm:pt modelId="{06774C9D-BB41-40F8-9ECF-9C4AD17538F7}" type="parTrans" cxnId="{6605566F-911D-4EBE-BBA0-09372905E8A1}">
      <dgm:prSet/>
      <dgm:spPr/>
      <dgm:t>
        <a:bodyPr/>
        <a:lstStyle/>
        <a:p>
          <a:endParaRPr lang="en-US"/>
        </a:p>
      </dgm:t>
    </dgm:pt>
    <dgm:pt modelId="{1C7E150B-7427-47A9-A11F-AA1095A6339A}" type="sibTrans" cxnId="{6605566F-911D-4EBE-BBA0-09372905E8A1}">
      <dgm:prSet/>
      <dgm:spPr/>
      <dgm:t>
        <a:bodyPr/>
        <a:lstStyle/>
        <a:p>
          <a:endParaRPr lang="en-US"/>
        </a:p>
      </dgm:t>
    </dgm:pt>
    <dgm:pt modelId="{2F9EF435-CF70-40B3-AC25-AE4D83A2CC10}">
      <dgm:prSet/>
      <dgm:spPr/>
      <dgm:t>
        <a:bodyPr/>
        <a:lstStyle/>
        <a:p>
          <a:r>
            <a:rPr lang="en-US" dirty="0"/>
            <a:t>Coexists with Birddog and Google Drive</a:t>
          </a:r>
        </a:p>
      </dgm:t>
    </dgm:pt>
    <dgm:pt modelId="{8CAEF53E-67B3-4155-9853-FF4342C2F313}" type="parTrans" cxnId="{5668782A-3463-43BA-8E09-9120D2122986}">
      <dgm:prSet/>
      <dgm:spPr/>
      <dgm:t>
        <a:bodyPr/>
        <a:lstStyle/>
        <a:p>
          <a:endParaRPr lang="en-US"/>
        </a:p>
      </dgm:t>
    </dgm:pt>
    <dgm:pt modelId="{5D963A10-DE60-4EB4-92FC-4B12A2CED81E}" type="sibTrans" cxnId="{5668782A-3463-43BA-8E09-9120D2122986}">
      <dgm:prSet/>
      <dgm:spPr/>
      <dgm:t>
        <a:bodyPr/>
        <a:lstStyle/>
        <a:p>
          <a:endParaRPr lang="en-US"/>
        </a:p>
      </dgm:t>
    </dgm:pt>
    <dgm:pt modelId="{89930480-602F-43DA-A996-8402CE3F75B0}">
      <dgm:prSet/>
      <dgm:spPr/>
      <dgm:t>
        <a:bodyPr/>
        <a:lstStyle/>
        <a:p>
          <a:r>
            <a:rPr lang="en-US" dirty="0"/>
            <a:t>Easily grow and transform with evolving needs</a:t>
          </a:r>
        </a:p>
      </dgm:t>
    </dgm:pt>
    <dgm:pt modelId="{E24DB92E-EAA1-4DC5-8C58-8B1275E10EC6}" type="parTrans" cxnId="{725E4CCC-14EC-4F97-B466-FB05965B2367}">
      <dgm:prSet/>
      <dgm:spPr/>
      <dgm:t>
        <a:bodyPr/>
        <a:lstStyle/>
        <a:p>
          <a:endParaRPr lang="en-US"/>
        </a:p>
      </dgm:t>
    </dgm:pt>
    <dgm:pt modelId="{21A3E326-CF37-42D4-9663-5E700DBA522F}" type="sibTrans" cxnId="{725E4CCC-14EC-4F97-B466-FB05965B2367}">
      <dgm:prSet/>
      <dgm:spPr/>
      <dgm:t>
        <a:bodyPr/>
        <a:lstStyle/>
        <a:p>
          <a:endParaRPr lang="en-US"/>
        </a:p>
      </dgm:t>
    </dgm:pt>
    <dgm:pt modelId="{E8234D1E-B433-4BA5-8CD7-BD0821C9F26F}">
      <dgm:prSet/>
      <dgm:spPr/>
      <dgm:t>
        <a:bodyPr/>
        <a:lstStyle/>
        <a:p>
          <a:r>
            <a:rPr lang="en-US" dirty="0"/>
            <a:t>No lock-in: possible to migrate out down the road</a:t>
          </a:r>
        </a:p>
      </dgm:t>
    </dgm:pt>
    <dgm:pt modelId="{97F15419-12A1-411D-8936-3BBF1C7E0262}" type="parTrans" cxnId="{5730C2FC-040D-412A-84D4-5342C75F5E91}">
      <dgm:prSet/>
      <dgm:spPr/>
      <dgm:t>
        <a:bodyPr/>
        <a:lstStyle/>
        <a:p>
          <a:endParaRPr lang="en-US"/>
        </a:p>
      </dgm:t>
    </dgm:pt>
    <dgm:pt modelId="{46BFB7FF-6D60-4F26-9945-9E07B65A4F51}" type="sibTrans" cxnId="{5730C2FC-040D-412A-84D4-5342C75F5E91}">
      <dgm:prSet/>
      <dgm:spPr/>
      <dgm:t>
        <a:bodyPr/>
        <a:lstStyle/>
        <a:p>
          <a:endParaRPr lang="en-US"/>
        </a:p>
      </dgm:t>
    </dgm:pt>
    <dgm:pt modelId="{3BF7A4A8-82F2-A04D-8B36-044290AA49A5}">
      <dgm:prSet/>
      <dgm:spPr/>
      <dgm:t>
        <a:bodyPr/>
        <a:lstStyle/>
        <a:p>
          <a:r>
            <a:rPr lang="en-US"/>
            <a:t>Role-based access rights</a:t>
          </a:r>
        </a:p>
      </dgm:t>
    </dgm:pt>
    <dgm:pt modelId="{EA6FA496-E93B-2A4F-A4A8-CF4C385DEDC0}" type="parTrans" cxnId="{1A71B790-6A34-EF49-AA12-1F1B119694CA}">
      <dgm:prSet/>
      <dgm:spPr/>
      <dgm:t>
        <a:bodyPr/>
        <a:lstStyle/>
        <a:p>
          <a:endParaRPr lang="en-US"/>
        </a:p>
      </dgm:t>
    </dgm:pt>
    <dgm:pt modelId="{58F33D3E-C6DE-0F4A-8168-4F7D9F982742}" type="sibTrans" cxnId="{1A71B790-6A34-EF49-AA12-1F1B119694CA}">
      <dgm:prSet/>
      <dgm:spPr/>
      <dgm:t>
        <a:bodyPr/>
        <a:lstStyle/>
        <a:p>
          <a:endParaRPr lang="en-US"/>
        </a:p>
      </dgm:t>
    </dgm:pt>
    <dgm:pt modelId="{7703F7B3-330C-CC4E-ABF1-737CA8A8DDEC}" type="pres">
      <dgm:prSet presAssocID="{7CAE4FAE-FC00-4EB0-BC6F-242874B24A95}" presName="linear" presStyleCnt="0">
        <dgm:presLayoutVars>
          <dgm:animLvl val="lvl"/>
          <dgm:resizeHandles val="exact"/>
        </dgm:presLayoutVars>
      </dgm:prSet>
      <dgm:spPr/>
    </dgm:pt>
    <dgm:pt modelId="{2D0374B0-C494-8440-88E8-67F4520527F7}" type="pres">
      <dgm:prSet presAssocID="{7580D3DA-C2CF-4069-B4A0-E0829CCC7FC7}" presName="parentText" presStyleLbl="node1" presStyleIdx="0" presStyleCnt="8" custLinFactNeighborX="-7537" custLinFactNeighborY="39295">
        <dgm:presLayoutVars>
          <dgm:chMax val="0"/>
          <dgm:bulletEnabled val="1"/>
        </dgm:presLayoutVars>
      </dgm:prSet>
      <dgm:spPr/>
    </dgm:pt>
    <dgm:pt modelId="{34DB7F71-8ABA-5847-AF0F-CF126F5C81CE}" type="pres">
      <dgm:prSet presAssocID="{0C426F35-3DF3-4E80-96F8-3F4767CF899F}" presName="spacer" presStyleCnt="0"/>
      <dgm:spPr/>
    </dgm:pt>
    <dgm:pt modelId="{55440235-5102-A647-B840-76A6FE265E04}" type="pres">
      <dgm:prSet presAssocID="{21FC33A9-E3AF-4E93-9AF4-DF60D1AE05B4}" presName="parentText" presStyleLbl="node1" presStyleIdx="1" presStyleCnt="8">
        <dgm:presLayoutVars>
          <dgm:chMax val="0"/>
          <dgm:bulletEnabled val="1"/>
        </dgm:presLayoutVars>
      </dgm:prSet>
      <dgm:spPr/>
    </dgm:pt>
    <dgm:pt modelId="{15F5121A-E855-904D-8179-A16CF81DB522}" type="pres">
      <dgm:prSet presAssocID="{A0BCBC19-F305-4261-AF6F-3D50FC547ECB}" presName="spacer" presStyleCnt="0"/>
      <dgm:spPr/>
    </dgm:pt>
    <dgm:pt modelId="{1C5A1FC1-B56E-B145-B54D-AEEF9622FCE3}" type="pres">
      <dgm:prSet presAssocID="{3BF7A4A8-82F2-A04D-8B36-044290AA49A5}" presName="parentText" presStyleLbl="node1" presStyleIdx="2" presStyleCnt="8">
        <dgm:presLayoutVars>
          <dgm:chMax val="0"/>
          <dgm:bulletEnabled val="1"/>
        </dgm:presLayoutVars>
      </dgm:prSet>
      <dgm:spPr/>
    </dgm:pt>
    <dgm:pt modelId="{870D8A40-265B-E546-B0EB-BEE04F2E1457}" type="pres">
      <dgm:prSet presAssocID="{58F33D3E-C6DE-0F4A-8168-4F7D9F982742}" presName="spacer" presStyleCnt="0"/>
      <dgm:spPr/>
    </dgm:pt>
    <dgm:pt modelId="{AA73FAE6-AE40-4C4D-88AE-FF84A0FE3827}" type="pres">
      <dgm:prSet presAssocID="{92A43039-45B7-4C28-A99B-EE92A796E56B}" presName="parentText" presStyleLbl="node1" presStyleIdx="3" presStyleCnt="8">
        <dgm:presLayoutVars>
          <dgm:chMax val="0"/>
          <dgm:bulletEnabled val="1"/>
        </dgm:presLayoutVars>
      </dgm:prSet>
      <dgm:spPr/>
    </dgm:pt>
    <dgm:pt modelId="{66E98A9B-7F44-BB47-B9FB-AD4F054C4270}" type="pres">
      <dgm:prSet presAssocID="{3EF49942-AB3F-4015-ACFC-219F7BAD8570}" presName="spacer" presStyleCnt="0"/>
      <dgm:spPr/>
    </dgm:pt>
    <dgm:pt modelId="{EE834651-91CB-E64E-B23A-7A1D290C0E95}" type="pres">
      <dgm:prSet presAssocID="{8C8FF572-D483-428F-B9B8-61E2DC038557}" presName="parentText" presStyleLbl="node1" presStyleIdx="4" presStyleCnt="8">
        <dgm:presLayoutVars>
          <dgm:chMax val="0"/>
          <dgm:bulletEnabled val="1"/>
        </dgm:presLayoutVars>
      </dgm:prSet>
      <dgm:spPr/>
    </dgm:pt>
    <dgm:pt modelId="{09D3FA58-B6AE-434B-9923-0EAB8772A7A5}" type="pres">
      <dgm:prSet presAssocID="{1C7E150B-7427-47A9-A11F-AA1095A6339A}" presName="spacer" presStyleCnt="0"/>
      <dgm:spPr/>
    </dgm:pt>
    <dgm:pt modelId="{2A683C36-DC3E-CA4A-B5DC-2716D07CE74C}" type="pres">
      <dgm:prSet presAssocID="{2F9EF435-CF70-40B3-AC25-AE4D83A2CC10}" presName="parentText" presStyleLbl="node1" presStyleIdx="5" presStyleCnt="8">
        <dgm:presLayoutVars>
          <dgm:chMax val="0"/>
          <dgm:bulletEnabled val="1"/>
        </dgm:presLayoutVars>
      </dgm:prSet>
      <dgm:spPr/>
    </dgm:pt>
    <dgm:pt modelId="{BF0226DD-A90C-FF45-A643-0A69B27EE73D}" type="pres">
      <dgm:prSet presAssocID="{5D963A10-DE60-4EB4-92FC-4B12A2CED81E}" presName="spacer" presStyleCnt="0"/>
      <dgm:spPr/>
    </dgm:pt>
    <dgm:pt modelId="{168DC006-0F42-0746-A1E3-AF42CDABAF9E}" type="pres">
      <dgm:prSet presAssocID="{89930480-602F-43DA-A996-8402CE3F75B0}" presName="parentText" presStyleLbl="node1" presStyleIdx="6" presStyleCnt="8">
        <dgm:presLayoutVars>
          <dgm:chMax val="0"/>
          <dgm:bulletEnabled val="1"/>
        </dgm:presLayoutVars>
      </dgm:prSet>
      <dgm:spPr/>
    </dgm:pt>
    <dgm:pt modelId="{1A165DDE-690C-764F-96DC-018E59EE19E5}" type="pres">
      <dgm:prSet presAssocID="{21A3E326-CF37-42D4-9663-5E700DBA522F}" presName="spacer" presStyleCnt="0"/>
      <dgm:spPr/>
    </dgm:pt>
    <dgm:pt modelId="{EFF0323C-1D44-C34F-946F-B726C5F3CF14}" type="pres">
      <dgm:prSet presAssocID="{E8234D1E-B433-4BA5-8CD7-BD0821C9F26F}" presName="parentText" presStyleLbl="node1" presStyleIdx="7" presStyleCnt="8">
        <dgm:presLayoutVars>
          <dgm:chMax val="0"/>
          <dgm:bulletEnabled val="1"/>
        </dgm:presLayoutVars>
      </dgm:prSet>
      <dgm:spPr/>
    </dgm:pt>
  </dgm:ptLst>
  <dgm:cxnLst>
    <dgm:cxn modelId="{71059110-CCB3-7748-BE62-CD767364EAB4}" type="presOf" srcId="{7CAE4FAE-FC00-4EB0-BC6F-242874B24A95}" destId="{7703F7B3-330C-CC4E-ABF1-737CA8A8DDEC}" srcOrd="0" destOrd="0" presId="urn:microsoft.com/office/officeart/2005/8/layout/vList2"/>
    <dgm:cxn modelId="{00B84719-675D-48D2-8B4C-ECF5D48AE784}" srcId="{7CAE4FAE-FC00-4EB0-BC6F-242874B24A95}" destId="{7580D3DA-C2CF-4069-B4A0-E0829CCC7FC7}" srcOrd="0" destOrd="0" parTransId="{4E9EB7EA-C62F-44D4-88B9-49265617769D}" sibTransId="{0C426F35-3DF3-4E80-96F8-3F4767CF899F}"/>
    <dgm:cxn modelId="{5668782A-3463-43BA-8E09-9120D2122986}" srcId="{7CAE4FAE-FC00-4EB0-BC6F-242874B24A95}" destId="{2F9EF435-CF70-40B3-AC25-AE4D83A2CC10}" srcOrd="5" destOrd="0" parTransId="{8CAEF53E-67B3-4155-9853-FF4342C2F313}" sibTransId="{5D963A10-DE60-4EB4-92FC-4B12A2CED81E}"/>
    <dgm:cxn modelId="{511A5D35-CCA2-4579-81AD-F8B22C2F025A}" srcId="{7CAE4FAE-FC00-4EB0-BC6F-242874B24A95}" destId="{21FC33A9-E3AF-4E93-9AF4-DF60D1AE05B4}" srcOrd="1" destOrd="0" parTransId="{3E6CBCB5-06A4-4524-BFAC-67FBC3375922}" sibTransId="{A0BCBC19-F305-4261-AF6F-3D50FC547ECB}"/>
    <dgm:cxn modelId="{002EFD52-D03C-0E4A-8525-7E51D4319F3E}" type="presOf" srcId="{2F9EF435-CF70-40B3-AC25-AE4D83A2CC10}" destId="{2A683C36-DC3E-CA4A-B5DC-2716D07CE74C}" srcOrd="0" destOrd="0" presId="urn:microsoft.com/office/officeart/2005/8/layout/vList2"/>
    <dgm:cxn modelId="{FA1DE065-9846-5746-B918-4BE81879B71A}" type="presOf" srcId="{8C8FF572-D483-428F-B9B8-61E2DC038557}" destId="{EE834651-91CB-E64E-B23A-7A1D290C0E95}" srcOrd="0" destOrd="0" presId="urn:microsoft.com/office/officeart/2005/8/layout/vList2"/>
    <dgm:cxn modelId="{C16F3467-8AFB-D049-BB30-550F9CDF8817}" type="presOf" srcId="{E8234D1E-B433-4BA5-8CD7-BD0821C9F26F}" destId="{EFF0323C-1D44-C34F-946F-B726C5F3CF14}" srcOrd="0" destOrd="0" presId="urn:microsoft.com/office/officeart/2005/8/layout/vList2"/>
    <dgm:cxn modelId="{6605566F-911D-4EBE-BBA0-09372905E8A1}" srcId="{7CAE4FAE-FC00-4EB0-BC6F-242874B24A95}" destId="{8C8FF572-D483-428F-B9B8-61E2DC038557}" srcOrd="4" destOrd="0" parTransId="{06774C9D-BB41-40F8-9ECF-9C4AD17538F7}" sibTransId="{1C7E150B-7427-47A9-A11F-AA1095A6339A}"/>
    <dgm:cxn modelId="{BA2D2473-D31E-154C-8D5C-8A2621698CA9}" type="presOf" srcId="{92A43039-45B7-4C28-A99B-EE92A796E56B}" destId="{AA73FAE6-AE40-4C4D-88AE-FF84A0FE3827}" srcOrd="0" destOrd="0" presId="urn:microsoft.com/office/officeart/2005/8/layout/vList2"/>
    <dgm:cxn modelId="{3DC47C81-40D1-AA40-92D0-0E5413853EF4}" type="presOf" srcId="{3BF7A4A8-82F2-A04D-8B36-044290AA49A5}" destId="{1C5A1FC1-B56E-B145-B54D-AEEF9622FCE3}" srcOrd="0" destOrd="0" presId="urn:microsoft.com/office/officeart/2005/8/layout/vList2"/>
    <dgm:cxn modelId="{1D3C3483-2213-6245-8F6A-4664CCA68585}" type="presOf" srcId="{7580D3DA-C2CF-4069-B4A0-E0829CCC7FC7}" destId="{2D0374B0-C494-8440-88E8-67F4520527F7}" srcOrd="0" destOrd="0" presId="urn:microsoft.com/office/officeart/2005/8/layout/vList2"/>
    <dgm:cxn modelId="{1A71B790-6A34-EF49-AA12-1F1B119694CA}" srcId="{7CAE4FAE-FC00-4EB0-BC6F-242874B24A95}" destId="{3BF7A4A8-82F2-A04D-8B36-044290AA49A5}" srcOrd="2" destOrd="0" parTransId="{EA6FA496-E93B-2A4F-A4A8-CF4C385DEDC0}" sibTransId="{58F33D3E-C6DE-0F4A-8168-4F7D9F982742}"/>
    <dgm:cxn modelId="{DD6011A4-289E-9147-9B76-45B8A42B1FE0}" type="presOf" srcId="{89930480-602F-43DA-A996-8402CE3F75B0}" destId="{168DC006-0F42-0746-A1E3-AF42CDABAF9E}" srcOrd="0" destOrd="0" presId="urn:microsoft.com/office/officeart/2005/8/layout/vList2"/>
    <dgm:cxn modelId="{0AB144B9-0F7C-4A60-AB52-CEF7BDCEB6A8}" srcId="{7CAE4FAE-FC00-4EB0-BC6F-242874B24A95}" destId="{92A43039-45B7-4C28-A99B-EE92A796E56B}" srcOrd="3" destOrd="0" parTransId="{2AEC10AC-FB3D-4657-A4DF-9A19B4B2885D}" sibTransId="{3EF49942-AB3F-4015-ACFC-219F7BAD8570}"/>
    <dgm:cxn modelId="{6B4BAFC0-E8D8-4546-BC94-D8B177B10D66}" type="presOf" srcId="{21FC33A9-E3AF-4E93-9AF4-DF60D1AE05B4}" destId="{55440235-5102-A647-B840-76A6FE265E04}" srcOrd="0" destOrd="0" presId="urn:microsoft.com/office/officeart/2005/8/layout/vList2"/>
    <dgm:cxn modelId="{725E4CCC-14EC-4F97-B466-FB05965B2367}" srcId="{7CAE4FAE-FC00-4EB0-BC6F-242874B24A95}" destId="{89930480-602F-43DA-A996-8402CE3F75B0}" srcOrd="6" destOrd="0" parTransId="{E24DB92E-EAA1-4DC5-8C58-8B1275E10EC6}" sibTransId="{21A3E326-CF37-42D4-9663-5E700DBA522F}"/>
    <dgm:cxn modelId="{5730C2FC-040D-412A-84D4-5342C75F5E91}" srcId="{7CAE4FAE-FC00-4EB0-BC6F-242874B24A95}" destId="{E8234D1E-B433-4BA5-8CD7-BD0821C9F26F}" srcOrd="7" destOrd="0" parTransId="{97F15419-12A1-411D-8936-3BBF1C7E0262}" sibTransId="{46BFB7FF-6D60-4F26-9945-9E07B65A4F51}"/>
    <dgm:cxn modelId="{EACAF32E-E803-9442-8635-A20905D28833}" type="presParOf" srcId="{7703F7B3-330C-CC4E-ABF1-737CA8A8DDEC}" destId="{2D0374B0-C494-8440-88E8-67F4520527F7}" srcOrd="0" destOrd="0" presId="urn:microsoft.com/office/officeart/2005/8/layout/vList2"/>
    <dgm:cxn modelId="{FFCEB70D-5010-AB40-94B7-C6059D4565D1}" type="presParOf" srcId="{7703F7B3-330C-CC4E-ABF1-737CA8A8DDEC}" destId="{34DB7F71-8ABA-5847-AF0F-CF126F5C81CE}" srcOrd="1" destOrd="0" presId="urn:microsoft.com/office/officeart/2005/8/layout/vList2"/>
    <dgm:cxn modelId="{BDAB5798-1E16-F348-82D9-AADC23F72119}" type="presParOf" srcId="{7703F7B3-330C-CC4E-ABF1-737CA8A8DDEC}" destId="{55440235-5102-A647-B840-76A6FE265E04}" srcOrd="2" destOrd="0" presId="urn:microsoft.com/office/officeart/2005/8/layout/vList2"/>
    <dgm:cxn modelId="{E6DE5857-AA66-614F-8E80-A68E303EBCEF}" type="presParOf" srcId="{7703F7B3-330C-CC4E-ABF1-737CA8A8DDEC}" destId="{15F5121A-E855-904D-8179-A16CF81DB522}" srcOrd="3" destOrd="0" presId="urn:microsoft.com/office/officeart/2005/8/layout/vList2"/>
    <dgm:cxn modelId="{1708E3AC-2619-A74D-98A0-4A3D3AD2C4C5}" type="presParOf" srcId="{7703F7B3-330C-CC4E-ABF1-737CA8A8DDEC}" destId="{1C5A1FC1-B56E-B145-B54D-AEEF9622FCE3}" srcOrd="4" destOrd="0" presId="urn:microsoft.com/office/officeart/2005/8/layout/vList2"/>
    <dgm:cxn modelId="{1C846379-4456-3C43-B447-5D54D5E2749E}" type="presParOf" srcId="{7703F7B3-330C-CC4E-ABF1-737CA8A8DDEC}" destId="{870D8A40-265B-E546-B0EB-BEE04F2E1457}" srcOrd="5" destOrd="0" presId="urn:microsoft.com/office/officeart/2005/8/layout/vList2"/>
    <dgm:cxn modelId="{8BFC62E3-46E7-604A-A1DB-4FAF78852A12}" type="presParOf" srcId="{7703F7B3-330C-CC4E-ABF1-737CA8A8DDEC}" destId="{AA73FAE6-AE40-4C4D-88AE-FF84A0FE3827}" srcOrd="6" destOrd="0" presId="urn:microsoft.com/office/officeart/2005/8/layout/vList2"/>
    <dgm:cxn modelId="{D620B113-9BDC-DD4F-B9F4-6EBE207DCE94}" type="presParOf" srcId="{7703F7B3-330C-CC4E-ABF1-737CA8A8DDEC}" destId="{66E98A9B-7F44-BB47-B9FB-AD4F054C4270}" srcOrd="7" destOrd="0" presId="urn:microsoft.com/office/officeart/2005/8/layout/vList2"/>
    <dgm:cxn modelId="{B4D15E26-DE68-D548-BE03-3E42B1706850}" type="presParOf" srcId="{7703F7B3-330C-CC4E-ABF1-737CA8A8DDEC}" destId="{EE834651-91CB-E64E-B23A-7A1D290C0E95}" srcOrd="8" destOrd="0" presId="urn:microsoft.com/office/officeart/2005/8/layout/vList2"/>
    <dgm:cxn modelId="{63BEBADE-B92A-6548-B67B-5BB6B00BFA3B}" type="presParOf" srcId="{7703F7B3-330C-CC4E-ABF1-737CA8A8DDEC}" destId="{09D3FA58-B6AE-434B-9923-0EAB8772A7A5}" srcOrd="9" destOrd="0" presId="urn:microsoft.com/office/officeart/2005/8/layout/vList2"/>
    <dgm:cxn modelId="{8B82B1CA-ED94-D44B-8EAC-445A447F9B71}" type="presParOf" srcId="{7703F7B3-330C-CC4E-ABF1-737CA8A8DDEC}" destId="{2A683C36-DC3E-CA4A-B5DC-2716D07CE74C}" srcOrd="10" destOrd="0" presId="urn:microsoft.com/office/officeart/2005/8/layout/vList2"/>
    <dgm:cxn modelId="{46798C3C-7FFE-C948-9F93-C9FA1A8661DF}" type="presParOf" srcId="{7703F7B3-330C-CC4E-ABF1-737CA8A8DDEC}" destId="{BF0226DD-A90C-FF45-A643-0A69B27EE73D}" srcOrd="11" destOrd="0" presId="urn:microsoft.com/office/officeart/2005/8/layout/vList2"/>
    <dgm:cxn modelId="{450EAE37-A604-2D4D-8DDB-7F5992350300}" type="presParOf" srcId="{7703F7B3-330C-CC4E-ABF1-737CA8A8DDEC}" destId="{168DC006-0F42-0746-A1E3-AF42CDABAF9E}" srcOrd="12" destOrd="0" presId="urn:microsoft.com/office/officeart/2005/8/layout/vList2"/>
    <dgm:cxn modelId="{32ED2CAF-F503-8148-BA43-A064DADC8B66}" type="presParOf" srcId="{7703F7B3-330C-CC4E-ABF1-737CA8A8DDEC}" destId="{1A165DDE-690C-764F-96DC-018E59EE19E5}" srcOrd="13" destOrd="0" presId="urn:microsoft.com/office/officeart/2005/8/layout/vList2"/>
    <dgm:cxn modelId="{D2AAD870-5692-7A4D-9C22-393AD909AA3D}" type="presParOf" srcId="{7703F7B3-330C-CC4E-ABF1-737CA8A8DDEC}" destId="{EFF0323C-1D44-C34F-946F-B726C5F3CF14}" srcOrd="1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4E159F2-8CF6-489F-ADA6-D0DFD7FEB09B}">
      <dsp:nvSpPr>
        <dsp:cNvPr id="0" name=""/>
        <dsp:cNvSpPr/>
      </dsp:nvSpPr>
      <dsp:spPr>
        <a:xfrm>
          <a:off x="738793" y="734492"/>
          <a:ext cx="792914" cy="79291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173C4B8-825C-4EBD-B77F-50FE3A4E585E}">
      <dsp:nvSpPr>
        <dsp:cNvPr id="0" name=""/>
        <dsp:cNvSpPr/>
      </dsp:nvSpPr>
      <dsp:spPr>
        <a:xfrm>
          <a:off x="2516" y="1623013"/>
          <a:ext cx="2265468" cy="6530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/>
            <a:t>Validate the platform choice incrementally.</a:t>
          </a:r>
        </a:p>
      </dsp:txBody>
      <dsp:txXfrm>
        <a:off x="2516" y="1623013"/>
        <a:ext cx="2265468" cy="653092"/>
      </dsp:txXfrm>
    </dsp:sp>
    <dsp:sp modelId="{397AA66B-5AD9-4FAD-84E3-1B8463411C25}">
      <dsp:nvSpPr>
        <dsp:cNvPr id="0" name=""/>
        <dsp:cNvSpPr/>
      </dsp:nvSpPr>
      <dsp:spPr>
        <a:xfrm>
          <a:off x="2516" y="2320573"/>
          <a:ext cx="2265468" cy="6373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Information gathering from team(s)</a:t>
          </a:r>
        </a:p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Birddog integration experiments</a:t>
          </a:r>
        </a:p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Identify and flesh out roles and views</a:t>
          </a:r>
        </a:p>
      </dsp:txBody>
      <dsp:txXfrm>
        <a:off x="2516" y="2320573"/>
        <a:ext cx="2265468" cy="637339"/>
      </dsp:txXfrm>
    </dsp:sp>
    <dsp:sp modelId="{58880F47-E6BC-44B3-8A1B-5637FC8FB6B6}">
      <dsp:nvSpPr>
        <dsp:cNvPr id="0" name=""/>
        <dsp:cNvSpPr/>
      </dsp:nvSpPr>
      <dsp:spPr>
        <a:xfrm>
          <a:off x="3400719" y="734492"/>
          <a:ext cx="792914" cy="79291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AE415BC-0F60-4B01-9D4C-56BD08C71CF1}">
      <dsp:nvSpPr>
        <dsp:cNvPr id="0" name=""/>
        <dsp:cNvSpPr/>
      </dsp:nvSpPr>
      <dsp:spPr>
        <a:xfrm>
          <a:off x="2664442" y="1623013"/>
          <a:ext cx="2265468" cy="6530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 dirty="0"/>
            <a:t>Develop in parallel with ongoing Google Drive-based workflows.</a:t>
          </a:r>
        </a:p>
      </dsp:txBody>
      <dsp:txXfrm>
        <a:off x="2664442" y="1623013"/>
        <a:ext cx="2265468" cy="653092"/>
      </dsp:txXfrm>
    </dsp:sp>
    <dsp:sp modelId="{F900913E-19F8-4ED5-A394-03F039018FD9}">
      <dsp:nvSpPr>
        <dsp:cNvPr id="0" name=""/>
        <dsp:cNvSpPr/>
      </dsp:nvSpPr>
      <dsp:spPr>
        <a:xfrm>
          <a:off x="2664442" y="2320573"/>
          <a:ext cx="2265468" cy="6373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64DF7AD-8B67-4159-AB86-144C59B9448B}">
      <dsp:nvSpPr>
        <dsp:cNvPr id="0" name=""/>
        <dsp:cNvSpPr/>
      </dsp:nvSpPr>
      <dsp:spPr>
        <a:xfrm>
          <a:off x="6062645" y="734492"/>
          <a:ext cx="792914" cy="79291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542BC11-AD73-4F04-8F19-9EF68BA72DC2}">
      <dsp:nvSpPr>
        <dsp:cNvPr id="0" name=""/>
        <dsp:cNvSpPr/>
      </dsp:nvSpPr>
      <dsp:spPr>
        <a:xfrm>
          <a:off x="5326367" y="1623013"/>
          <a:ext cx="2265468" cy="6530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/>
            <a:t>Transition when we’re ready.</a:t>
          </a:r>
        </a:p>
      </dsp:txBody>
      <dsp:txXfrm>
        <a:off x="5326367" y="1623013"/>
        <a:ext cx="2265468" cy="653092"/>
      </dsp:txXfrm>
    </dsp:sp>
    <dsp:sp modelId="{2FDCAC75-18FA-48CB-A90E-703C0C3C90BB}">
      <dsp:nvSpPr>
        <dsp:cNvPr id="0" name=""/>
        <dsp:cNvSpPr/>
      </dsp:nvSpPr>
      <dsp:spPr>
        <a:xfrm>
          <a:off x="5326367" y="2320573"/>
          <a:ext cx="2265468" cy="6373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D0374B0-C494-8440-88E8-67F4520527F7}">
      <dsp:nvSpPr>
        <dsp:cNvPr id="0" name=""/>
        <dsp:cNvSpPr/>
      </dsp:nvSpPr>
      <dsp:spPr>
        <a:xfrm>
          <a:off x="0" y="260709"/>
          <a:ext cx="6666833" cy="56511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Low cost</a:t>
          </a:r>
        </a:p>
      </dsp:txBody>
      <dsp:txXfrm>
        <a:off x="27586" y="288295"/>
        <a:ext cx="6611661" cy="509938"/>
      </dsp:txXfrm>
    </dsp:sp>
    <dsp:sp modelId="{55440235-5102-A647-B840-76A6FE265E04}">
      <dsp:nvSpPr>
        <dsp:cNvPr id="0" name=""/>
        <dsp:cNvSpPr/>
      </dsp:nvSpPr>
      <dsp:spPr>
        <a:xfrm>
          <a:off x="0" y="866029"/>
          <a:ext cx="6666833" cy="565110"/>
        </a:xfrm>
        <a:prstGeom prst="roundRect">
          <a:avLst/>
        </a:prstGeom>
        <a:gradFill rotWithShape="0">
          <a:gsLst>
            <a:gs pos="0">
              <a:schemeClr val="accent5">
                <a:hueOff val="-1736021"/>
                <a:satOff val="-118"/>
                <a:lumOff val="28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736021"/>
                <a:satOff val="-118"/>
                <a:lumOff val="28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736021"/>
                <a:satOff val="-118"/>
                <a:lumOff val="28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Multi-user</a:t>
          </a:r>
        </a:p>
      </dsp:txBody>
      <dsp:txXfrm>
        <a:off x="27586" y="893615"/>
        <a:ext cx="6611661" cy="509938"/>
      </dsp:txXfrm>
    </dsp:sp>
    <dsp:sp modelId="{1C5A1FC1-B56E-B145-B54D-AEEF9622FCE3}">
      <dsp:nvSpPr>
        <dsp:cNvPr id="0" name=""/>
        <dsp:cNvSpPr/>
      </dsp:nvSpPr>
      <dsp:spPr>
        <a:xfrm>
          <a:off x="0" y="1497379"/>
          <a:ext cx="6666833" cy="565110"/>
        </a:xfrm>
        <a:prstGeom prst="roundRect">
          <a:avLst/>
        </a:prstGeom>
        <a:gradFill rotWithShape="0">
          <a:gsLst>
            <a:gs pos="0">
              <a:schemeClr val="accent5">
                <a:hueOff val="-3472043"/>
                <a:satOff val="-236"/>
                <a:lumOff val="56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3472043"/>
                <a:satOff val="-236"/>
                <a:lumOff val="56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3472043"/>
                <a:satOff val="-236"/>
                <a:lumOff val="56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Role-based access rights</a:t>
          </a:r>
        </a:p>
      </dsp:txBody>
      <dsp:txXfrm>
        <a:off x="27586" y="1524965"/>
        <a:ext cx="6611661" cy="509938"/>
      </dsp:txXfrm>
    </dsp:sp>
    <dsp:sp modelId="{AA73FAE6-AE40-4C4D-88AE-FF84A0FE3827}">
      <dsp:nvSpPr>
        <dsp:cNvPr id="0" name=""/>
        <dsp:cNvSpPr/>
      </dsp:nvSpPr>
      <dsp:spPr>
        <a:xfrm>
          <a:off x="0" y="2128729"/>
          <a:ext cx="6666833" cy="565110"/>
        </a:xfrm>
        <a:prstGeom prst="roundRect">
          <a:avLst/>
        </a:prstGeom>
        <a:gradFill rotWithShape="0">
          <a:gsLst>
            <a:gs pos="0">
              <a:schemeClr val="accent5">
                <a:hueOff val="-5208064"/>
                <a:satOff val="-354"/>
                <a:lumOff val="84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5208064"/>
                <a:satOff val="-354"/>
                <a:lumOff val="84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5208064"/>
                <a:satOff val="-354"/>
                <a:lumOff val="84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Easy learning curve</a:t>
          </a:r>
        </a:p>
      </dsp:txBody>
      <dsp:txXfrm>
        <a:off x="27586" y="2156315"/>
        <a:ext cx="6611661" cy="509938"/>
      </dsp:txXfrm>
    </dsp:sp>
    <dsp:sp modelId="{EE834651-91CB-E64E-B23A-7A1D290C0E95}">
      <dsp:nvSpPr>
        <dsp:cNvPr id="0" name=""/>
        <dsp:cNvSpPr/>
      </dsp:nvSpPr>
      <dsp:spPr>
        <a:xfrm>
          <a:off x="0" y="2760079"/>
          <a:ext cx="6666833" cy="565110"/>
        </a:xfrm>
        <a:prstGeom prst="roundRect">
          <a:avLst/>
        </a:prstGeom>
        <a:gradFill rotWithShape="0">
          <a:gsLst>
            <a:gs pos="0">
              <a:schemeClr val="accent5">
                <a:hueOff val="-6944086"/>
                <a:satOff val="-472"/>
                <a:lumOff val="112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6944086"/>
                <a:satOff val="-472"/>
                <a:lumOff val="112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6944086"/>
                <a:satOff val="-472"/>
                <a:lumOff val="112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Sufficient variety of views</a:t>
          </a:r>
        </a:p>
      </dsp:txBody>
      <dsp:txXfrm>
        <a:off x="27586" y="2787665"/>
        <a:ext cx="6611661" cy="509938"/>
      </dsp:txXfrm>
    </dsp:sp>
    <dsp:sp modelId="{2A683C36-DC3E-CA4A-B5DC-2716D07CE74C}">
      <dsp:nvSpPr>
        <dsp:cNvPr id="0" name=""/>
        <dsp:cNvSpPr/>
      </dsp:nvSpPr>
      <dsp:spPr>
        <a:xfrm>
          <a:off x="0" y="3391430"/>
          <a:ext cx="6666833" cy="565110"/>
        </a:xfrm>
        <a:prstGeom prst="roundRect">
          <a:avLst/>
        </a:prstGeom>
        <a:gradFill rotWithShape="0">
          <a:gsLst>
            <a:gs pos="0">
              <a:schemeClr val="accent5">
                <a:hueOff val="-8680107"/>
                <a:satOff val="-590"/>
                <a:lumOff val="140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8680107"/>
                <a:satOff val="-590"/>
                <a:lumOff val="140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8680107"/>
                <a:satOff val="-590"/>
                <a:lumOff val="140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Coexists with Birddog and Google Drive</a:t>
          </a:r>
        </a:p>
      </dsp:txBody>
      <dsp:txXfrm>
        <a:off x="27586" y="3419016"/>
        <a:ext cx="6611661" cy="509938"/>
      </dsp:txXfrm>
    </dsp:sp>
    <dsp:sp modelId="{168DC006-0F42-0746-A1E3-AF42CDABAF9E}">
      <dsp:nvSpPr>
        <dsp:cNvPr id="0" name=""/>
        <dsp:cNvSpPr/>
      </dsp:nvSpPr>
      <dsp:spPr>
        <a:xfrm>
          <a:off x="0" y="4022780"/>
          <a:ext cx="6666833" cy="565110"/>
        </a:xfrm>
        <a:prstGeom prst="roundRect">
          <a:avLst/>
        </a:prstGeom>
        <a:gradFill rotWithShape="0">
          <a:gsLst>
            <a:gs pos="0">
              <a:schemeClr val="accent5">
                <a:hueOff val="-10416129"/>
                <a:satOff val="-708"/>
                <a:lumOff val="168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0416129"/>
                <a:satOff val="-708"/>
                <a:lumOff val="168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0416129"/>
                <a:satOff val="-708"/>
                <a:lumOff val="168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Easily grow and transform with evolving needs</a:t>
          </a:r>
        </a:p>
      </dsp:txBody>
      <dsp:txXfrm>
        <a:off x="27586" y="4050366"/>
        <a:ext cx="6611661" cy="509938"/>
      </dsp:txXfrm>
    </dsp:sp>
    <dsp:sp modelId="{EFF0323C-1D44-C34F-946F-B726C5F3CF14}">
      <dsp:nvSpPr>
        <dsp:cNvPr id="0" name=""/>
        <dsp:cNvSpPr/>
      </dsp:nvSpPr>
      <dsp:spPr>
        <a:xfrm>
          <a:off x="0" y="4654130"/>
          <a:ext cx="6666833" cy="565110"/>
        </a:xfrm>
        <a:prstGeom prst="roundRect">
          <a:avLst/>
        </a:prstGeom>
        <a:gradFill rotWithShape="0">
          <a:gsLst>
            <a:gs pos="0">
              <a:schemeClr val="accent5">
                <a:hueOff val="-12152150"/>
                <a:satOff val="-826"/>
                <a:lumOff val="196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2152150"/>
                <a:satOff val="-826"/>
                <a:lumOff val="196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2152150"/>
                <a:satOff val="-826"/>
                <a:lumOff val="196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No lock-in: possible to migrate out down the road</a:t>
          </a:r>
        </a:p>
      </dsp:txBody>
      <dsp:txXfrm>
        <a:off x="27586" y="4681716"/>
        <a:ext cx="6611661" cy="50993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824592-18D4-1E40-83A5-612DC83F068C}" type="datetimeFigureOut">
              <a:rPr lang="en-US" smtClean="0"/>
              <a:t>4/3/26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1122F6B-794B-FB47-A697-4796376EE9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21683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122F6B-794B-FB47-A697-4796376EE9B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48682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122F6B-794B-FB47-A697-4796376EE9BF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47616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9C451-E130-F795-F360-4A2DF96834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806226-9F54-415E-7A95-1B908D383C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BC75C7-3BEB-9ECB-2F00-0F82F16A88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6B8F1D-DD19-6141-88EB-5503D68369BF}" type="datetimeFigureOut">
              <a:rPr lang="en-US" smtClean="0"/>
              <a:t>4/3/26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4195B4-490A-42F6-F2CA-898163E164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5FD4BC-A6A2-9DFA-8A5B-E575B4A0C2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37294-7B99-CE49-99F8-A3A878B2FB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04677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C6C3F0-A82B-BE87-4224-6559FDD8A3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613B6A-47B7-FD4D-0B6B-D1946881DC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568513-410D-5C52-86FC-4A0A0D31E4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6B8F1D-DD19-6141-88EB-5503D68369BF}" type="datetimeFigureOut">
              <a:rPr lang="en-US" smtClean="0"/>
              <a:t>4/3/26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C4412E-0EB1-FA7E-8864-A371D5ABED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D4FDBE-1437-1D93-0695-31DAFB00B7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37294-7B99-CE49-99F8-A3A878B2FB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23824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C60406-A648-96CF-E16B-3C1782FEDD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8EB216-0BAF-A0EA-CC45-B15B4FECAA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B274F6-6338-9158-5AB1-40FC466230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6B8F1D-DD19-6141-88EB-5503D68369BF}" type="datetimeFigureOut">
              <a:rPr lang="en-US" smtClean="0"/>
              <a:t>4/3/26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B039D0-45ED-3ED9-ADA3-2FCCA6F55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B75588-0B19-84FF-C670-DA64C03CE4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37294-7B99-CE49-99F8-A3A878B2FB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89103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21C023-7737-59F7-4A2A-4DCDAD9CF7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4192D3-7CD0-F163-A348-A0A9BFD770E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F70A68-4BB0-7679-C97E-83A8DAD372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58ED4B-4F03-03AA-7C20-8D2AFE5409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6B8F1D-DD19-6141-88EB-5503D68369BF}" type="datetimeFigureOut">
              <a:rPr lang="en-US" smtClean="0"/>
              <a:t>4/3/26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3EC6F2-894E-E031-3191-C4373C6397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12FD71-B51A-22CF-2853-496FB1EE13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37294-7B99-CE49-99F8-A3A878B2FB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73772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739D36-6872-B233-6D53-785F79E629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F843D9-7B6C-CDC1-7672-B806321516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F7A8B4-7F17-4F3F-016E-F25D5A968B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EF64A36-C85D-4FB1-0C83-11DB3953506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C8B4ABA-8CB6-9FEA-EE5B-DDA28B04E9F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5172189-7CCC-B7C5-37DF-C81446C9CD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6B8F1D-DD19-6141-88EB-5503D68369BF}" type="datetimeFigureOut">
              <a:rPr lang="en-US" smtClean="0"/>
              <a:t>4/3/26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A4A1169-A036-D242-3F50-12705C634F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CE28561-DEFD-0598-4A59-D08503A181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37294-7B99-CE49-99F8-A3A878B2FB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54964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D76B1E-2478-CF1C-EA63-E77C973ECF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ADC5498-97BB-6487-F2A6-B271C85A5D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6B8F1D-DD19-6141-88EB-5503D68369BF}" type="datetimeFigureOut">
              <a:rPr lang="en-US" smtClean="0"/>
              <a:t>4/3/26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5FBB946-243E-65CF-C437-4B28ED1A5B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297B63-90DD-80F4-14F1-80E0CDBD1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37294-7B99-CE49-99F8-A3A878B2FB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86759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7869ED7-6909-2A07-9759-4161232D73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6B8F1D-DD19-6141-88EB-5503D68369BF}" type="datetimeFigureOut">
              <a:rPr lang="en-US" smtClean="0"/>
              <a:t>4/3/26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4992CA8-4580-0EA6-0549-0BFA10E161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E1FE23-1C72-70E3-9BAD-06892D8D5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37294-7B99-CE49-99F8-A3A878B2FB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10458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AA3C22-97DD-79BF-11EE-08327EEB63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5C071D-CABD-62EF-7580-8D20D4C4A8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C84A57-487B-1A9F-AB05-5D471A4059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463006-06A2-DF55-00F7-B0F5829A45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6B8F1D-DD19-6141-88EB-5503D68369BF}" type="datetimeFigureOut">
              <a:rPr lang="en-US" smtClean="0"/>
              <a:t>4/3/26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350BF2-8EBD-28A2-ECBA-A7AB796BB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BAC47C-7006-0F47-F739-252E95B02B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37294-7B99-CE49-99F8-A3A878B2FB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33242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4D42CD-7CE1-CA2D-D03B-1DF123D813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6D1F329-71F0-0347-3AED-349D2E506A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7A3FCC-C614-1E47-F50B-910CB4C637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0C24FC-DF9E-1531-5659-2C60A8864F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6B8F1D-DD19-6141-88EB-5503D68369BF}" type="datetimeFigureOut">
              <a:rPr lang="en-US" smtClean="0"/>
              <a:t>4/3/26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AAABAD-1115-1971-FE97-5D0C12BFDC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135FA0-2B64-D346-A484-45AC5BEE2B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37294-7B99-CE49-99F8-A3A878B2FB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81336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F1C9A9-D86F-8C94-E988-6CA20A7F1D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4181A7D-5769-AEAC-A08D-A80F5C54C2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09B7EF-E212-1FC3-D119-4E8F28612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6B8F1D-DD19-6141-88EB-5503D68369BF}" type="datetimeFigureOut">
              <a:rPr lang="en-US" smtClean="0"/>
              <a:t>4/3/26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8A401F-9BF7-26BA-E336-20D1C52E06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19BCCF-0C08-8C48-9298-6CB1B4FD6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37294-7B99-CE49-99F8-A3A878B2FB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55733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B4EA036-C597-DA22-045A-C300AAFEBFF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7D0C75-A66E-4E8E-829B-D533A99189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542942-A67E-9413-ED3A-B5D6134DB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6B8F1D-DD19-6141-88EB-5503D68369BF}" type="datetimeFigureOut">
              <a:rPr lang="en-US" smtClean="0"/>
              <a:t>4/3/26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C9E362-12F4-3C53-803C-40A08DF65F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95246E-C416-B91A-78BE-54EE6A80CC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37294-7B99-CE49-99F8-A3A878B2FB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91123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50B139-5D97-E4D8-57EC-88A0F5BCC7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17F61F-EC13-6DBC-F7E7-7BC1092B69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DF983E-D44D-E8D6-E70F-2C742CA30C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66B8F1D-DD19-6141-88EB-5503D68369BF}" type="datetimeFigureOut">
              <a:rPr lang="en-US" smtClean="0"/>
              <a:t>4/3/26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7737BD-B89C-A95E-63CC-42D223C0E4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7A61A4-4296-D76E-AD9A-957350309F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237294-7B99-CE49-99F8-A3A878B2FB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663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16.png"/><Relationship Id="rId7" Type="http://schemas.openxmlformats.org/officeDocument/2006/relationships/diagramColors" Target="../diagrams/colors1.xm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10" Type="http://schemas.openxmlformats.org/officeDocument/2006/relationships/image" Target="../media/image21.png"/><Relationship Id="rId4" Type="http://schemas.openxmlformats.org/officeDocument/2006/relationships/diagramData" Target="../diagrams/data1.xml"/><Relationship Id="rId9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1695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0F2432-E36D-E2DB-B99C-FF9BCF3860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90662" y="4267832"/>
            <a:ext cx="5062622" cy="1297115"/>
          </a:xfrm>
        </p:spPr>
        <p:txBody>
          <a:bodyPr anchor="t">
            <a:normAutofit/>
          </a:bodyPr>
          <a:lstStyle/>
          <a:p>
            <a:pPr algn="l"/>
            <a:r>
              <a:rPr lang="en-US" sz="4000" dirty="0">
                <a:solidFill>
                  <a:schemeClr val="tx2"/>
                </a:solidFill>
              </a:rPr>
              <a:t>URD Database Update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3FE28C4-1B4D-D171-0105-9A8A309177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90966" y="3428999"/>
            <a:ext cx="4805691" cy="838831"/>
          </a:xfrm>
        </p:spPr>
        <p:txBody>
          <a:bodyPr anchor="b">
            <a:normAutofit/>
          </a:bodyPr>
          <a:lstStyle/>
          <a:p>
            <a:pPr algn="l"/>
            <a:r>
              <a:rPr lang="en-US" sz="2000" dirty="0">
                <a:solidFill>
                  <a:schemeClr val="tx2"/>
                </a:solidFill>
              </a:rPr>
              <a:t>April 4, 2026</a:t>
            </a:r>
          </a:p>
        </p:txBody>
      </p:sp>
      <p:pic>
        <p:nvPicPr>
          <p:cNvPr id="7" name="Graphic 6" descr="Database">
            <a:extLst>
              <a:ext uri="{FF2B5EF4-FFF2-40B4-BE49-F238E27FC236}">
                <a16:creationId xmlns:a16="http://schemas.microsoft.com/office/drawing/2014/main" id="{1F2B7498-209B-7502-FB1E-32F3750DD6B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40470" y="1815320"/>
            <a:ext cx="4141760" cy="4141760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253" y="-5977"/>
            <a:ext cx="6238675" cy="6863979"/>
            <a:chOff x="305" y="-5977"/>
            <a:chExt cx="6238675" cy="6863979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464450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B50FF-40A1-891E-5FEF-077F08F6D6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Goals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48E220-C7F5-A4A9-E392-7D80628ADE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200000"/>
              </a:lnSpc>
              <a:buNone/>
            </a:pPr>
            <a:r>
              <a:rPr lang="en-US" dirty="0"/>
              <a:t>1. Increase Efficiency Through Technology and Workflow Design</a:t>
            </a:r>
          </a:p>
          <a:p>
            <a:pPr marL="0" indent="0">
              <a:lnSpc>
                <a:spcPct val="200000"/>
              </a:lnSpc>
              <a:buNone/>
            </a:pPr>
            <a:r>
              <a:rPr lang="en-US" dirty="0"/>
              <a:t>2. Build a Structured and Scalable Acquisition Infrastructure</a:t>
            </a:r>
          </a:p>
          <a:p>
            <a:pPr marL="0" indent="0">
              <a:lnSpc>
                <a:spcPct val="200000"/>
              </a:lnSpc>
              <a:buNone/>
            </a:pPr>
            <a:r>
              <a:rPr lang="en-US" dirty="0"/>
              <a:t>3. Strengthen Organizational Capacity and Volunteer Infrastructure</a:t>
            </a:r>
          </a:p>
          <a:p>
            <a:pPr marL="0" indent="0">
              <a:lnSpc>
                <a:spcPct val="200000"/>
              </a:lnSpc>
              <a:buNone/>
            </a:pPr>
            <a:r>
              <a:rPr lang="en-US" dirty="0"/>
              <a:t>4. Ensure Data Integrity and Quality Standards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16123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3B70F1-AF25-38CC-FFC1-DAD8405D7E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URD Data Problem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BC5F6F-8FF7-6B39-D41A-FAFAC934643F}"/>
              </a:ext>
            </a:extLst>
          </p:cNvPr>
          <p:cNvSpPr txBox="1"/>
          <p:nvPr/>
        </p:nvSpPr>
        <p:spPr>
          <a:xfrm>
            <a:off x="292231" y="2599509"/>
            <a:ext cx="5619302" cy="363945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400" dirty="0"/>
              <a:t>With Google Drive spreadsheets, 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400" dirty="0"/>
              <a:t>	</a:t>
            </a:r>
            <a:r>
              <a:rPr lang="en-US" sz="2400" b="1" dirty="0">
                <a:solidFill>
                  <a:srgbClr val="C00000"/>
                </a:solidFill>
              </a:rPr>
              <a:t>View</a:t>
            </a:r>
            <a:r>
              <a:rPr lang="en-US" sz="2400" dirty="0"/>
              <a:t> and </a:t>
            </a:r>
            <a:r>
              <a:rPr lang="en-US" sz="2400" b="1" dirty="0">
                <a:solidFill>
                  <a:srgbClr val="C00000"/>
                </a:solidFill>
              </a:rPr>
              <a:t>Data</a:t>
            </a:r>
            <a:r>
              <a:rPr lang="en-US" sz="2400" dirty="0"/>
              <a:t> are not separated</a:t>
            </a:r>
          </a:p>
          <a:p>
            <a:pPr marL="571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/>
          </a:p>
          <a:p>
            <a:pPr marL="571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5143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Labor intensive to maintain</a:t>
            </a:r>
          </a:p>
          <a:p>
            <a:pPr marL="5143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Fragile multi-tab relationship structure</a:t>
            </a:r>
          </a:p>
          <a:p>
            <a:pPr marL="5143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Not amenable to multi-person access</a:t>
            </a:r>
          </a:p>
          <a:p>
            <a:pPr marL="5143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Hard to revise sheet structure</a:t>
            </a:r>
          </a:p>
          <a:p>
            <a:pPr marL="5143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Hard to scale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0FE355E-5CA5-7435-D557-FFDF19203C73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513968" y="2984778"/>
            <a:ext cx="3868831" cy="2743886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60584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ight Triangle 28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C8037A7-AA00-8647-F45E-984DD03201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7760" y="4212709"/>
            <a:ext cx="8232296" cy="133769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The Solution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89E39B0-22F9-0748-9E12-85DD06BCA5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60" y="2248166"/>
            <a:ext cx="1410402" cy="13377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C30F781-42C4-8AC5-F9B5-AFB4F7807C48}"/>
              </a:ext>
            </a:extLst>
          </p:cNvPr>
          <p:cNvSpPr txBox="1"/>
          <p:nvPr/>
        </p:nvSpPr>
        <p:spPr>
          <a:xfrm>
            <a:off x="2910690" y="1051582"/>
            <a:ext cx="8315250" cy="33952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/>
          <a:p>
            <a:pPr marL="57150">
              <a:lnSpc>
                <a:spcPct val="90000"/>
              </a:lnSpc>
              <a:spcAft>
                <a:spcPts val="600"/>
              </a:spcAft>
            </a:pPr>
            <a:r>
              <a:rPr lang="en-US" sz="3000" b="1" dirty="0"/>
              <a:t>Replace </a:t>
            </a:r>
            <a:r>
              <a:rPr lang="en-US" sz="3000" b="1" dirty="0">
                <a:solidFill>
                  <a:srgbClr val="C00000"/>
                </a:solidFill>
              </a:rPr>
              <a:t>Google Drive</a:t>
            </a:r>
            <a:r>
              <a:rPr lang="en-US" sz="3000" b="1" dirty="0"/>
              <a:t> with a </a:t>
            </a:r>
            <a:r>
              <a:rPr lang="en-US" sz="3000" b="1" dirty="0">
                <a:solidFill>
                  <a:srgbClr val="C00000"/>
                </a:solidFill>
              </a:rPr>
              <a:t>Database</a:t>
            </a:r>
            <a:r>
              <a:rPr lang="en-US" sz="3000" b="1" dirty="0"/>
              <a:t> that</a:t>
            </a:r>
          </a:p>
          <a:p>
            <a:pPr marL="400050" indent="-3429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/>
          </a:p>
          <a:p>
            <a:pPr marL="400050" indent="-3429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100" dirty="0"/>
              <a:t>Separates data from view</a:t>
            </a:r>
          </a:p>
          <a:p>
            <a:pPr marL="400050" indent="-3429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100" dirty="0"/>
              <a:t>Is easy to maintain and evolve</a:t>
            </a:r>
          </a:p>
          <a:p>
            <a:pPr marL="400050" indent="-3429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100" dirty="0"/>
              <a:t>Can scale</a:t>
            </a:r>
          </a:p>
          <a:p>
            <a:pPr marL="400050" indent="-3429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100" dirty="0"/>
              <a:t>Allows multiple concurrent users</a:t>
            </a:r>
          </a:p>
          <a:p>
            <a:pPr marL="400050" indent="-3429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100" dirty="0"/>
              <a:t>Replaces multi-tab spreadsheets with evolvable, role-specific views</a:t>
            </a:r>
          </a:p>
          <a:p>
            <a:pPr marL="400050" indent="-3429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100" dirty="0"/>
              <a:t>Replaces cross-sheet process reporting formulas with automated roll-ups</a:t>
            </a:r>
          </a:p>
          <a:p>
            <a:pPr marL="400050" indent="-3429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100" dirty="0"/>
              <a:t>Provides built-in back-up, journaling of data changes, and commenting</a:t>
            </a:r>
          </a:p>
          <a:p>
            <a:pPr marL="400050" indent="-3429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100" dirty="0"/>
              <a:t>Facilitates further automation, such as AI-assisted triage, etc.</a:t>
            </a:r>
          </a:p>
        </p:txBody>
      </p:sp>
    </p:spTree>
    <p:extLst>
      <p:ext uri="{BB962C8B-B14F-4D97-AF65-F5344CB8AC3E}">
        <p14:creationId xmlns:p14="http://schemas.microsoft.com/office/powerpoint/2010/main" val="9431103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288C6B4-AFC3-407F-A595-EFFD38D4C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CF236821-17FE-429B-8D2C-08E13A64EA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455673" cy="6858000"/>
          </a:xfrm>
          <a:custGeom>
            <a:avLst/>
            <a:gdLst>
              <a:gd name="connsiteX0" fmla="*/ 0 w 4455673"/>
              <a:gd name="connsiteY0" fmla="*/ 0 h 6858000"/>
              <a:gd name="connsiteX1" fmla="*/ 3242695 w 4455673"/>
              <a:gd name="connsiteY1" fmla="*/ 0 h 6858000"/>
              <a:gd name="connsiteX2" fmla="*/ 3305678 w 4455673"/>
              <a:gd name="connsiteY2" fmla="*/ 69271 h 6858000"/>
              <a:gd name="connsiteX3" fmla="*/ 4455673 w 4455673"/>
              <a:gd name="connsiteY3" fmla="*/ 3429000 h 6858000"/>
              <a:gd name="connsiteX4" fmla="*/ 3305678 w 4455673"/>
              <a:gd name="connsiteY4" fmla="*/ 6788730 h 6858000"/>
              <a:gd name="connsiteX5" fmla="*/ 3242695 w 4455673"/>
              <a:gd name="connsiteY5" fmla="*/ 6858000 h 6858000"/>
              <a:gd name="connsiteX6" fmla="*/ 0 w 4455673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55673" h="6858000">
                <a:moveTo>
                  <a:pt x="0" y="0"/>
                </a:moveTo>
                <a:lnTo>
                  <a:pt x="3242695" y="0"/>
                </a:lnTo>
                <a:lnTo>
                  <a:pt x="3305678" y="69271"/>
                </a:lnTo>
                <a:cubicBezTo>
                  <a:pt x="4016204" y="929100"/>
                  <a:pt x="4455673" y="2116944"/>
                  <a:pt x="4455673" y="3429000"/>
                </a:cubicBezTo>
                <a:cubicBezTo>
                  <a:pt x="4455673" y="4741056"/>
                  <a:pt x="4016204" y="5928900"/>
                  <a:pt x="3305678" y="6788730"/>
                </a:cubicBezTo>
                <a:lnTo>
                  <a:pt x="3242695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5" name="Freeform: Shape 14">
            <a:extLst>
              <a:ext uri="{FF2B5EF4-FFF2-40B4-BE49-F238E27FC236}">
                <a16:creationId xmlns:a16="http://schemas.microsoft.com/office/drawing/2014/main" id="{C0BDBCD2-E081-43AB-9119-C55465E59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446529" cy="6858000"/>
          </a:xfrm>
          <a:custGeom>
            <a:avLst/>
            <a:gdLst>
              <a:gd name="connsiteX0" fmla="*/ 0 w 4446529"/>
              <a:gd name="connsiteY0" fmla="*/ 0 h 6858000"/>
              <a:gd name="connsiteX1" fmla="*/ 3233551 w 4446529"/>
              <a:gd name="connsiteY1" fmla="*/ 0 h 6858000"/>
              <a:gd name="connsiteX2" fmla="*/ 3296534 w 4446529"/>
              <a:gd name="connsiteY2" fmla="*/ 69271 h 6858000"/>
              <a:gd name="connsiteX3" fmla="*/ 4446529 w 4446529"/>
              <a:gd name="connsiteY3" fmla="*/ 3429000 h 6858000"/>
              <a:gd name="connsiteX4" fmla="*/ 3296534 w 4446529"/>
              <a:gd name="connsiteY4" fmla="*/ 6788730 h 6858000"/>
              <a:gd name="connsiteX5" fmla="*/ 3233551 w 4446529"/>
              <a:gd name="connsiteY5" fmla="*/ 6858000 h 6858000"/>
              <a:gd name="connsiteX6" fmla="*/ 0 w 444652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6529" h="6858000">
                <a:moveTo>
                  <a:pt x="0" y="0"/>
                </a:moveTo>
                <a:lnTo>
                  <a:pt x="3233551" y="0"/>
                </a:lnTo>
                <a:lnTo>
                  <a:pt x="3296534" y="69271"/>
                </a:lnTo>
                <a:cubicBezTo>
                  <a:pt x="4007060" y="929100"/>
                  <a:pt x="4446529" y="2116944"/>
                  <a:pt x="4446529" y="3429000"/>
                </a:cubicBezTo>
                <a:cubicBezTo>
                  <a:pt x="4446529" y="4741056"/>
                  <a:pt x="4007060" y="5928900"/>
                  <a:pt x="3296534" y="6788730"/>
                </a:cubicBezTo>
                <a:lnTo>
                  <a:pt x="3233551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BBF8283A-E5EE-9C28-74FF-F36CCC23C0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094" y="1161288"/>
            <a:ext cx="3438144" cy="123901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Candidate Database Platform: </a:t>
            </a:r>
            <a:r>
              <a:rPr lang="en-US" sz="2800" b="1" kern="1200" dirty="0" err="1">
                <a:solidFill>
                  <a:srgbClr val="383BCB"/>
                </a:solidFill>
                <a:latin typeface="+mj-lt"/>
                <a:ea typeface="+mj-ea"/>
                <a:cs typeface="+mj-cs"/>
              </a:rPr>
              <a:t>NocoDB</a:t>
            </a:r>
            <a:endParaRPr lang="en-US" sz="2800" b="1" kern="1200" dirty="0">
              <a:solidFill>
                <a:srgbClr val="383BCB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8E79BE4-34FE-485A-98A5-92CE8F7C47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426546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5893" y="2443480"/>
            <a:ext cx="338328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7AEE8B5-E666-0207-6437-0A5F23362B5E}"/>
              </a:ext>
            </a:extLst>
          </p:cNvPr>
          <p:cNvSpPr txBox="1"/>
          <p:nvPr/>
        </p:nvSpPr>
        <p:spPr>
          <a:xfrm>
            <a:off x="371094" y="2718054"/>
            <a:ext cx="3438906" cy="3207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/>
              <a:t>Low cost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/>
              <a:t>Easy to learn (like </a:t>
            </a:r>
            <a:r>
              <a:rPr lang="en-US" sz="1700" dirty="0" err="1"/>
              <a:t>AirTable</a:t>
            </a:r>
            <a:r>
              <a:rPr lang="en-US" sz="1700" dirty="0"/>
              <a:t>)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/>
              <a:t>Opensource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/>
              <a:t>Open database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/>
              <a:t>Available as hosted solution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/>
              <a:t>Can be self-hosted too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C8801B8-8BF9-C0FB-6FB8-E76DF44006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1184" y="1826663"/>
            <a:ext cx="6922008" cy="330525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3007A52-3A45-21E3-3235-724EF0EFFE87}"/>
              </a:ext>
            </a:extLst>
          </p:cNvPr>
          <p:cNvSpPr txBox="1"/>
          <p:nvPr/>
        </p:nvSpPr>
        <p:spPr>
          <a:xfrm>
            <a:off x="6653501" y="5512326"/>
            <a:ext cx="3417374" cy="4826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https://</a:t>
            </a:r>
            <a:r>
              <a:rPr lang="en-US" sz="28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nocodb.com</a:t>
            </a:r>
            <a:r>
              <a:rPr lang="en-US" sz="2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20259106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E7E859-35B6-60B2-D963-B8ED62B84C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NocoDB</a:t>
            </a:r>
            <a:r>
              <a:rPr lang="en-US" dirty="0"/>
              <a:t> Web App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D787083-CD46-8363-52C6-258AC86E18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3989" y="1577353"/>
            <a:ext cx="6904022" cy="4826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43723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97AED1-D5DA-9181-C2C3-26C524171F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Customizable Views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F69FB6C-9DFE-BF9A-F0A6-E1CA56BF7F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013" y="1488027"/>
            <a:ext cx="2868439" cy="92791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2936134-EE1D-390D-0DCC-914ED1051B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013" y="2584852"/>
            <a:ext cx="2740536" cy="88653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F5F93BC-763E-E53D-14AF-DA034DA088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1013" y="3640302"/>
            <a:ext cx="2740536" cy="88653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64B6174-A459-3F39-9BA3-8625BA830DC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1013" y="4695752"/>
            <a:ext cx="2740537" cy="88653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E3391F4-D018-5D14-E21B-CC07E6ADA4A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1013" y="5751203"/>
            <a:ext cx="2740537" cy="88653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AF7A08B-C682-DF2F-4ED9-21B14B18633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21767" y="1488027"/>
            <a:ext cx="3922501" cy="232864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1ABA8F4-AE90-611F-855C-243044F143D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22986" y="1488028"/>
            <a:ext cx="3922500" cy="232863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AF1A0AF-5266-BD12-C739-DBE1E906CC7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76903" y="3974700"/>
            <a:ext cx="3922500" cy="2328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28836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CA5582-DCE4-EDC4-CC3C-F312A34205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9652"/>
            <a:ext cx="10515600" cy="926347"/>
          </a:xfrm>
        </p:spPr>
        <p:txBody>
          <a:bodyPr>
            <a:normAutofit/>
          </a:bodyPr>
          <a:lstStyle/>
          <a:p>
            <a:r>
              <a:rPr lang="en-US" sz="4800" dirty="0"/>
              <a:t>Database Schema </a:t>
            </a:r>
            <a:endParaRPr lang="en-US" dirty="0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DAD74F5A-0DEA-0FD1-0717-F4542718DA3A}"/>
              </a:ext>
            </a:extLst>
          </p:cNvPr>
          <p:cNvSpPr/>
          <p:nvPr/>
        </p:nvSpPr>
        <p:spPr>
          <a:xfrm>
            <a:off x="682863" y="2666744"/>
            <a:ext cx="4846066" cy="3524693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“Page”</a:t>
            </a:r>
          </a:p>
          <a:p>
            <a:pPr algn="ctr"/>
            <a:r>
              <a:rPr lang="en-US" sz="2400" dirty="0"/>
              <a:t>A Wiki or Archive web page</a:t>
            </a:r>
          </a:p>
          <a:p>
            <a:endParaRPr lang="en-US" sz="2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Title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URL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Level (archive, fund, opus, case)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Availability (linked, unlinked)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Parent (page)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Children (pages)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Documents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B9DCFFB3-F838-AE64-B769-ACC9AD070601}"/>
              </a:ext>
            </a:extLst>
          </p:cNvPr>
          <p:cNvSpPr/>
          <p:nvPr/>
        </p:nvSpPr>
        <p:spPr>
          <a:xfrm>
            <a:off x="6170427" y="2666744"/>
            <a:ext cx="5487564" cy="3524693"/>
          </a:xfrm>
          <a:prstGeom prst="roundRect">
            <a:avLst/>
          </a:prstGeom>
          <a:ln w="19050">
            <a:solidFill>
              <a:schemeClr val="accent6">
                <a:lumMod val="50000"/>
              </a:schemeClr>
            </a:solidFill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“Document”</a:t>
            </a:r>
            <a:endParaRPr lang="en-US" sz="2400" dirty="0"/>
          </a:p>
          <a:p>
            <a:pPr algn="ctr"/>
            <a:r>
              <a:rPr lang="en-US" sz="2400" dirty="0"/>
              <a:t>An attached scanned document</a:t>
            </a:r>
          </a:p>
          <a:p>
            <a:endParaRPr lang="en-US" sz="2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Document link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Document type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Content code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Process code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Processor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Pages processed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Owning page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9D5D963-D30A-DC51-EBC2-B1976F7A3551}"/>
              </a:ext>
            </a:extLst>
          </p:cNvPr>
          <p:cNvSpPr txBox="1"/>
          <p:nvPr/>
        </p:nvSpPr>
        <p:spPr>
          <a:xfrm>
            <a:off x="0" y="1609776"/>
            <a:ext cx="1219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dirty="0"/>
              <a:t>Separate </a:t>
            </a:r>
            <a:r>
              <a:rPr lang="en-US" sz="3600" b="1" dirty="0">
                <a:solidFill>
                  <a:schemeClr val="accent4"/>
                </a:solidFill>
              </a:rPr>
              <a:t>Page</a:t>
            </a:r>
            <a:r>
              <a:rPr lang="en-US" sz="3600" dirty="0"/>
              <a:t> data from </a:t>
            </a:r>
            <a:r>
              <a:rPr lang="en-US" sz="3600" b="1" dirty="0">
                <a:solidFill>
                  <a:schemeClr val="accent6"/>
                </a:solidFill>
              </a:rPr>
              <a:t>Scanned Document</a:t>
            </a:r>
            <a:r>
              <a:rPr lang="en-US" sz="3600" dirty="0"/>
              <a:t> data</a:t>
            </a:r>
          </a:p>
        </p:txBody>
      </p:sp>
    </p:spTree>
    <p:extLst>
      <p:ext uri="{BB962C8B-B14F-4D97-AF65-F5344CB8AC3E}">
        <p14:creationId xmlns:p14="http://schemas.microsoft.com/office/powerpoint/2010/main" val="22987598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0A2D195-98A3-548D-4516-EE543E1118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287" y="2147308"/>
            <a:ext cx="10881207" cy="3996976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37A978B0-C862-9C80-7A7D-000669D2586E}"/>
              </a:ext>
            </a:extLst>
          </p:cNvPr>
          <p:cNvSpPr/>
          <p:nvPr/>
        </p:nvSpPr>
        <p:spPr>
          <a:xfrm>
            <a:off x="731520" y="3206012"/>
            <a:ext cx="3868760" cy="1746234"/>
          </a:xfrm>
          <a:prstGeom prst="rect">
            <a:avLst/>
          </a:prstGeom>
          <a:noFill/>
          <a:ln w="7620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3332795-8C08-F2D9-1514-D74C3D6FC3D0}"/>
              </a:ext>
            </a:extLst>
          </p:cNvPr>
          <p:cNvSpPr/>
          <p:nvPr/>
        </p:nvSpPr>
        <p:spPr>
          <a:xfrm>
            <a:off x="4698749" y="3206012"/>
            <a:ext cx="6716745" cy="1746234"/>
          </a:xfrm>
          <a:prstGeom prst="rect">
            <a:avLst/>
          </a:prstGeom>
          <a:noFill/>
          <a:ln w="762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DF09072-65B3-7E28-18EF-5419A2A70DC0}"/>
              </a:ext>
            </a:extLst>
          </p:cNvPr>
          <p:cNvSpPr txBox="1"/>
          <p:nvPr/>
        </p:nvSpPr>
        <p:spPr>
          <a:xfrm>
            <a:off x="1508289" y="1395009"/>
            <a:ext cx="18193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 i="1" dirty="0">
                <a:solidFill>
                  <a:schemeClr val="accent4"/>
                </a:solidFill>
              </a:rPr>
              <a:t>Page</a:t>
            </a:r>
            <a:r>
              <a:rPr lang="en-US" sz="2800" b="1" dirty="0">
                <a:solidFill>
                  <a:schemeClr val="accent4"/>
                </a:solidFill>
              </a:rPr>
              <a:t> </a:t>
            </a:r>
            <a:r>
              <a:rPr lang="en-US" sz="2800" b="1" dirty="0"/>
              <a:t>Data</a:t>
            </a:r>
          </a:p>
        </p:txBody>
      </p:sp>
      <p:sp>
        <p:nvSpPr>
          <p:cNvPr id="9" name="Down Arrow 8">
            <a:extLst>
              <a:ext uri="{FF2B5EF4-FFF2-40B4-BE49-F238E27FC236}">
                <a16:creationId xmlns:a16="http://schemas.microsoft.com/office/drawing/2014/main" id="{8B9FE2C6-9773-A1D6-C7F5-B79A7B272384}"/>
              </a:ext>
            </a:extLst>
          </p:cNvPr>
          <p:cNvSpPr/>
          <p:nvPr/>
        </p:nvSpPr>
        <p:spPr>
          <a:xfrm>
            <a:off x="2320839" y="1865792"/>
            <a:ext cx="194244" cy="697714"/>
          </a:xfrm>
          <a:prstGeom prst="downArrow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00C082E-BF14-3E11-4A28-773A865FF9E9}"/>
              </a:ext>
            </a:extLst>
          </p:cNvPr>
          <p:cNvSpPr txBox="1"/>
          <p:nvPr/>
        </p:nvSpPr>
        <p:spPr>
          <a:xfrm>
            <a:off x="6324865" y="1328773"/>
            <a:ext cx="275344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 i="1" dirty="0">
                <a:solidFill>
                  <a:schemeClr val="accent6"/>
                </a:solidFill>
              </a:rPr>
              <a:t>Document</a:t>
            </a:r>
            <a:r>
              <a:rPr lang="en-US" sz="2800" b="1" dirty="0">
                <a:solidFill>
                  <a:schemeClr val="accent6"/>
                </a:solidFill>
              </a:rPr>
              <a:t> </a:t>
            </a:r>
            <a:r>
              <a:rPr lang="en-US" sz="2800" b="1" dirty="0"/>
              <a:t>Data</a:t>
            </a:r>
          </a:p>
        </p:txBody>
      </p:sp>
      <p:sp>
        <p:nvSpPr>
          <p:cNvPr id="11" name="Down Arrow 10">
            <a:extLst>
              <a:ext uri="{FF2B5EF4-FFF2-40B4-BE49-F238E27FC236}">
                <a16:creationId xmlns:a16="http://schemas.microsoft.com/office/drawing/2014/main" id="{8EE5852E-3A9E-ACED-658A-5BDAB0404A06}"/>
              </a:ext>
            </a:extLst>
          </p:cNvPr>
          <p:cNvSpPr/>
          <p:nvPr/>
        </p:nvSpPr>
        <p:spPr>
          <a:xfrm>
            <a:off x="7604466" y="1814108"/>
            <a:ext cx="194244" cy="1065360"/>
          </a:xfrm>
          <a:prstGeom prst="downArrow">
            <a:avLst/>
          </a:prstGeom>
          <a:solidFill>
            <a:schemeClr val="accent6"/>
          </a:solidFill>
          <a:ln>
            <a:noFill/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6BB361-7CAD-C9C5-94D4-084393854A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20995"/>
          </a:xfrm>
        </p:spPr>
        <p:txBody>
          <a:bodyPr>
            <a:noAutofit/>
          </a:bodyPr>
          <a:lstStyle/>
          <a:p>
            <a:r>
              <a:rPr lang="en-US" sz="3600" dirty="0"/>
              <a:t>Mapping Spreadsheet Columns to Database Schema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70743D1-08C5-8C21-41B7-CF651505A2D1}"/>
              </a:ext>
            </a:extLst>
          </p:cNvPr>
          <p:cNvSpPr/>
          <p:nvPr/>
        </p:nvSpPr>
        <p:spPr>
          <a:xfrm>
            <a:off x="1398760" y="2933323"/>
            <a:ext cx="3508218" cy="158149"/>
          </a:xfrm>
          <a:prstGeom prst="rect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027C8B3-4A08-7881-3BD5-EF843F3A9E6C}"/>
              </a:ext>
            </a:extLst>
          </p:cNvPr>
          <p:cNvSpPr/>
          <p:nvPr/>
        </p:nvSpPr>
        <p:spPr>
          <a:xfrm>
            <a:off x="4600279" y="2778589"/>
            <a:ext cx="2321095" cy="158149"/>
          </a:xfrm>
          <a:prstGeom prst="rect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3D179E3-DB2C-E86C-310E-57227F55032E}"/>
              </a:ext>
            </a:extLst>
          </p:cNvPr>
          <p:cNvSpPr/>
          <p:nvPr/>
        </p:nvSpPr>
        <p:spPr>
          <a:xfrm>
            <a:off x="1436095" y="3564272"/>
            <a:ext cx="2348254" cy="1288385"/>
          </a:xfrm>
          <a:prstGeom prst="rect">
            <a:avLst/>
          </a:prstGeom>
          <a:noFill/>
          <a:ln w="38100">
            <a:solidFill>
              <a:schemeClr val="accent6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Down Arrow 12">
            <a:extLst>
              <a:ext uri="{FF2B5EF4-FFF2-40B4-BE49-F238E27FC236}">
                <a16:creationId xmlns:a16="http://schemas.microsoft.com/office/drawing/2014/main" id="{FC068975-19A4-A1F4-291A-D604A2BA8DE8}"/>
              </a:ext>
            </a:extLst>
          </p:cNvPr>
          <p:cNvSpPr/>
          <p:nvPr/>
        </p:nvSpPr>
        <p:spPr>
          <a:xfrm rot="8625628">
            <a:off x="3846565" y="4411262"/>
            <a:ext cx="194244" cy="2122915"/>
          </a:xfrm>
          <a:prstGeom prst="downArrow">
            <a:avLst>
              <a:gd name="adj1" fmla="val 30456"/>
              <a:gd name="adj2" fmla="val 75439"/>
            </a:avLst>
          </a:prstGeom>
          <a:solidFill>
            <a:schemeClr val="accent6"/>
          </a:solidFill>
          <a:ln>
            <a:noFill/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237070E-0EDC-0225-4E61-D405EA2EC096}"/>
              </a:ext>
            </a:extLst>
          </p:cNvPr>
          <p:cNvSpPr txBox="1"/>
          <p:nvPr/>
        </p:nvSpPr>
        <p:spPr>
          <a:xfrm>
            <a:off x="4450475" y="6231265"/>
            <a:ext cx="284161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 i="1" dirty="0">
                <a:solidFill>
                  <a:schemeClr val="accent6"/>
                </a:solidFill>
              </a:rPr>
              <a:t>Document</a:t>
            </a:r>
            <a:r>
              <a:rPr lang="en-US" sz="2800" b="1" dirty="0">
                <a:solidFill>
                  <a:schemeClr val="accent6"/>
                </a:solidFill>
              </a:rPr>
              <a:t> Links</a:t>
            </a:r>
          </a:p>
        </p:txBody>
      </p:sp>
    </p:spTree>
    <p:extLst>
      <p:ext uri="{BB962C8B-B14F-4D97-AF65-F5344CB8AC3E}">
        <p14:creationId xmlns:p14="http://schemas.microsoft.com/office/powerpoint/2010/main" val="25455922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/>
      <p:bldP spid="9" grpId="0" animBg="1"/>
      <p:bldP spid="10" grpId="0"/>
      <p:bldP spid="11" grpId="0" animBg="1"/>
      <p:bldP spid="3" grpId="0" animBg="1"/>
      <p:bldP spid="8" grpId="0" animBg="1"/>
      <p:bldP spid="12" grpId="0" animBg="1"/>
      <p:bldP spid="13" grpId="0" animBg="1"/>
      <p:bldP spid="1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7B91F0B0-144B-6B3A-6C5A-0F06BD276FCC}"/>
              </a:ext>
            </a:extLst>
          </p:cNvPr>
          <p:cNvSpPr/>
          <p:nvPr/>
        </p:nvSpPr>
        <p:spPr>
          <a:xfrm>
            <a:off x="7135660" y="444998"/>
            <a:ext cx="4739014" cy="2214695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FE3559F-AD00-F8AF-C6C4-93869A1AF4DA}"/>
              </a:ext>
            </a:extLst>
          </p:cNvPr>
          <p:cNvSpPr/>
          <p:nvPr/>
        </p:nvSpPr>
        <p:spPr>
          <a:xfrm>
            <a:off x="9540658" y="2659692"/>
            <a:ext cx="2334016" cy="207932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F204C1B8-FC0E-C74F-9B2D-DF4C9F3DEA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72954" y="1366757"/>
            <a:ext cx="615915" cy="486866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17FED33E-E45F-6715-C57D-5196DB268E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8146" y="1470351"/>
            <a:ext cx="917016" cy="35143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AC7284F-9EA7-49D7-8504-DA9FFD6353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Development Strategy</a:t>
            </a:r>
          </a:p>
        </p:txBody>
      </p:sp>
      <p:graphicFrame>
        <p:nvGraphicFramePr>
          <p:cNvPr id="14" name="Content Placeholder 2">
            <a:extLst>
              <a:ext uri="{FF2B5EF4-FFF2-40B4-BE49-F238E27FC236}">
                <a16:creationId xmlns:a16="http://schemas.microsoft.com/office/drawing/2014/main" id="{F7EDAECC-3188-1B55-D922-8682E5B8F08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51497071"/>
              </p:ext>
            </p:extLst>
          </p:nvPr>
        </p:nvGraphicFramePr>
        <p:xfrm>
          <a:off x="1054992" y="2800469"/>
          <a:ext cx="7594353" cy="369240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B10D4963-7766-60E4-8C02-014CFD68404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30083" y="1251751"/>
            <a:ext cx="643977" cy="71297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E2406C2-91B5-C3D4-741B-8CEA410A9A3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500588" y="3405443"/>
            <a:ext cx="482774" cy="479999"/>
          </a:xfrm>
          <a:prstGeom prst="rect">
            <a:avLst/>
          </a:prstGeom>
        </p:spPr>
      </p:pic>
      <p:cxnSp>
        <p:nvCxnSpPr>
          <p:cNvPr id="8" name="Curved Connector 7">
            <a:extLst>
              <a:ext uri="{FF2B5EF4-FFF2-40B4-BE49-F238E27FC236}">
                <a16:creationId xmlns:a16="http://schemas.microsoft.com/office/drawing/2014/main" id="{FB1EEFFB-B1A4-810B-A61E-DD09F5581ABA}"/>
              </a:ext>
            </a:extLst>
          </p:cNvPr>
          <p:cNvCxnSpPr>
            <a:cxnSpLocks/>
            <a:stCxn id="41" idx="3"/>
            <a:endCxn id="5" idx="1"/>
          </p:cNvCxnSpPr>
          <p:nvPr/>
        </p:nvCxnSpPr>
        <p:spPr>
          <a:xfrm>
            <a:off x="9596862" y="1610190"/>
            <a:ext cx="903726" cy="2035253"/>
          </a:xfrm>
          <a:prstGeom prst="curvedConnector3">
            <a:avLst/>
          </a:prstGeom>
          <a:ln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urved Connector 10">
            <a:extLst>
              <a:ext uri="{FF2B5EF4-FFF2-40B4-BE49-F238E27FC236}">
                <a16:creationId xmlns:a16="http://schemas.microsoft.com/office/drawing/2014/main" id="{E0C9F9E1-65F7-9930-30C4-7C3C56244E44}"/>
              </a:ext>
            </a:extLst>
          </p:cNvPr>
          <p:cNvCxnSpPr>
            <a:cxnSpLocks/>
            <a:stCxn id="3" idx="2"/>
            <a:endCxn id="5" idx="0"/>
          </p:cNvCxnSpPr>
          <p:nvPr/>
        </p:nvCxnSpPr>
        <p:spPr>
          <a:xfrm rot="5400000">
            <a:off x="10026666" y="2680036"/>
            <a:ext cx="1440717" cy="10097"/>
          </a:xfrm>
          <a:prstGeom prst="curvedConnector3">
            <a:avLst>
              <a:gd name="adj1" fmla="val 50000"/>
            </a:avLst>
          </a:prstGeom>
          <a:ln>
            <a:solidFill>
              <a:schemeClr val="accent2">
                <a:lumMod val="75000"/>
              </a:schemeClr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urved Connector 28">
            <a:extLst>
              <a:ext uri="{FF2B5EF4-FFF2-40B4-BE49-F238E27FC236}">
                <a16:creationId xmlns:a16="http://schemas.microsoft.com/office/drawing/2014/main" id="{E2E763CE-AA4E-54EF-A09D-A9F71C4D1D1D}"/>
              </a:ext>
            </a:extLst>
          </p:cNvPr>
          <p:cNvCxnSpPr>
            <a:cxnSpLocks/>
          </p:cNvCxnSpPr>
          <p:nvPr/>
        </p:nvCxnSpPr>
        <p:spPr>
          <a:xfrm flipV="1">
            <a:off x="8405162" y="1618519"/>
            <a:ext cx="559800" cy="4175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845933AD-E368-9FE4-EE10-F11EC4DB0D50}"/>
              </a:ext>
            </a:extLst>
          </p:cNvPr>
          <p:cNvSpPr txBox="1"/>
          <p:nvPr/>
        </p:nvSpPr>
        <p:spPr>
          <a:xfrm>
            <a:off x="7486282" y="1847012"/>
            <a:ext cx="9475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/>
              <a:t>Wikisource</a:t>
            </a:r>
            <a:endParaRPr lang="en-US" sz="12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3528A3E-55B2-2CED-D4E0-36B7EA772C8D}"/>
              </a:ext>
            </a:extLst>
          </p:cNvPr>
          <p:cNvSpPr txBox="1"/>
          <p:nvPr/>
        </p:nvSpPr>
        <p:spPr>
          <a:xfrm>
            <a:off x="8932355" y="1873668"/>
            <a:ext cx="6971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Birddog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0D1860B-9240-1F57-BD03-43C52ED1F7C8}"/>
              </a:ext>
            </a:extLst>
          </p:cNvPr>
          <p:cNvSpPr txBox="1"/>
          <p:nvPr/>
        </p:nvSpPr>
        <p:spPr>
          <a:xfrm>
            <a:off x="10203781" y="974367"/>
            <a:ext cx="10680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Google Drive 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3B43357-7B13-B95F-8461-5BE53F90648F}"/>
              </a:ext>
            </a:extLst>
          </p:cNvPr>
          <p:cNvSpPr txBox="1"/>
          <p:nvPr/>
        </p:nvSpPr>
        <p:spPr>
          <a:xfrm>
            <a:off x="10332727" y="3896729"/>
            <a:ext cx="82702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Database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B850928-B97A-5AAA-54F8-6C0F50BD8F24}"/>
              </a:ext>
            </a:extLst>
          </p:cNvPr>
          <p:cNvSpPr txBox="1"/>
          <p:nvPr/>
        </p:nvSpPr>
        <p:spPr>
          <a:xfrm>
            <a:off x="10356388" y="2699630"/>
            <a:ext cx="894219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txBody>
          <a:bodyPr wrap="none" rtlCol="0">
            <a:spAutoFit/>
          </a:bodyPr>
          <a:lstStyle/>
          <a:p>
            <a:r>
              <a:rPr lang="en-US" sz="1200" dirty="0"/>
              <a:t>Snapshots</a:t>
            </a:r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9F6BCB8F-4CA0-5434-A4F7-D050805FF53C}"/>
              </a:ext>
            </a:extLst>
          </p:cNvPr>
          <p:cNvSpPr/>
          <p:nvPr/>
        </p:nvSpPr>
        <p:spPr>
          <a:xfrm>
            <a:off x="7486282" y="1445120"/>
            <a:ext cx="929550" cy="401892"/>
          </a:xfrm>
          <a:prstGeom prst="roundRect">
            <a:avLst/>
          </a:prstGeom>
          <a:noFill/>
          <a:ln w="3810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DCCC27D8-537B-6E86-9577-89301709ABE5}"/>
              </a:ext>
            </a:extLst>
          </p:cNvPr>
          <p:cNvSpPr/>
          <p:nvPr/>
        </p:nvSpPr>
        <p:spPr>
          <a:xfrm>
            <a:off x="8964962" y="1366756"/>
            <a:ext cx="631900" cy="486867"/>
          </a:xfrm>
          <a:prstGeom prst="roundRect">
            <a:avLst/>
          </a:prstGeom>
          <a:noFill/>
          <a:ln w="3810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ED22CE2A-7A14-CFCF-2EA8-C834944A0119}"/>
              </a:ext>
            </a:extLst>
          </p:cNvPr>
          <p:cNvSpPr/>
          <p:nvPr/>
        </p:nvSpPr>
        <p:spPr>
          <a:xfrm>
            <a:off x="10506999" y="3421754"/>
            <a:ext cx="469951" cy="463688"/>
          </a:xfrm>
          <a:prstGeom prst="roundRect">
            <a:avLst/>
          </a:prstGeom>
          <a:noFill/>
          <a:ln w="3810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7F1005ED-02C5-BC94-866D-092F22BAF85C}"/>
              </a:ext>
            </a:extLst>
          </p:cNvPr>
          <p:cNvSpPr/>
          <p:nvPr/>
        </p:nvSpPr>
        <p:spPr>
          <a:xfrm>
            <a:off x="10424555" y="1245745"/>
            <a:ext cx="643977" cy="719366"/>
          </a:xfrm>
          <a:prstGeom prst="roundRect">
            <a:avLst/>
          </a:prstGeom>
          <a:noFill/>
          <a:ln w="3810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D189818-F438-866C-E3FF-B32A8E958546}"/>
              </a:ext>
            </a:extLst>
          </p:cNvPr>
          <p:cNvSpPr txBox="1"/>
          <p:nvPr/>
        </p:nvSpPr>
        <p:spPr>
          <a:xfrm>
            <a:off x="7132672" y="453651"/>
            <a:ext cx="15718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Ongoing Work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B66489B-5360-4BDF-EA70-CD2151A96B32}"/>
              </a:ext>
            </a:extLst>
          </p:cNvPr>
          <p:cNvSpPr txBox="1"/>
          <p:nvPr/>
        </p:nvSpPr>
        <p:spPr>
          <a:xfrm>
            <a:off x="9597084" y="4400461"/>
            <a:ext cx="22775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Database Development</a:t>
            </a:r>
          </a:p>
        </p:txBody>
      </p:sp>
      <p:cxnSp>
        <p:nvCxnSpPr>
          <p:cNvPr id="7" name="Curved Connector 6">
            <a:extLst>
              <a:ext uri="{FF2B5EF4-FFF2-40B4-BE49-F238E27FC236}">
                <a16:creationId xmlns:a16="http://schemas.microsoft.com/office/drawing/2014/main" id="{9AE5B74F-6781-BD43-36A4-056D0472C055}"/>
              </a:ext>
            </a:extLst>
          </p:cNvPr>
          <p:cNvCxnSpPr>
            <a:cxnSpLocks/>
            <a:stCxn id="41" idx="3"/>
            <a:endCxn id="3" idx="1"/>
          </p:cNvCxnSpPr>
          <p:nvPr/>
        </p:nvCxnSpPr>
        <p:spPr>
          <a:xfrm flipV="1">
            <a:off x="9596862" y="1608239"/>
            <a:ext cx="833221" cy="1951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36768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D406B0-4264-016B-C138-4CC8550E5F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DD25A624-5774-E5B9-A23D-6BEEC2E149C0}"/>
              </a:ext>
            </a:extLst>
          </p:cNvPr>
          <p:cNvSpPr/>
          <p:nvPr/>
        </p:nvSpPr>
        <p:spPr>
          <a:xfrm>
            <a:off x="7135660" y="444998"/>
            <a:ext cx="4739014" cy="2214695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8D1E399-DFC2-8F95-CE64-4A4FDD1A105F}"/>
              </a:ext>
            </a:extLst>
          </p:cNvPr>
          <p:cNvSpPr/>
          <p:nvPr/>
        </p:nvSpPr>
        <p:spPr>
          <a:xfrm>
            <a:off x="9540658" y="2659692"/>
            <a:ext cx="2334016" cy="207932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F7480B6F-F435-DC52-C61D-AE0AAF7740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72954" y="1366757"/>
            <a:ext cx="615915" cy="486866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C1E70BA2-4B3B-2BAB-9238-2D1EE8E86A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8146" y="1470351"/>
            <a:ext cx="917016" cy="35143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970CAD1-8F19-41DD-7271-E04C2B0E6B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Development Status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A4B00B3-2310-7E76-762F-042912F34E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30083" y="1251751"/>
            <a:ext cx="643977" cy="71297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D7EB1D6-C84B-3796-4E2D-FE7237A88C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00588" y="3405443"/>
            <a:ext cx="482774" cy="479999"/>
          </a:xfrm>
          <a:prstGeom prst="rect">
            <a:avLst/>
          </a:prstGeom>
        </p:spPr>
      </p:pic>
      <p:cxnSp>
        <p:nvCxnSpPr>
          <p:cNvPr id="8" name="Curved Connector 7">
            <a:extLst>
              <a:ext uri="{FF2B5EF4-FFF2-40B4-BE49-F238E27FC236}">
                <a16:creationId xmlns:a16="http://schemas.microsoft.com/office/drawing/2014/main" id="{5C3DD66D-C60C-B008-DFBB-F7CEA34B593B}"/>
              </a:ext>
            </a:extLst>
          </p:cNvPr>
          <p:cNvCxnSpPr>
            <a:cxnSpLocks/>
            <a:stCxn id="41" idx="3"/>
            <a:endCxn id="5" idx="1"/>
          </p:cNvCxnSpPr>
          <p:nvPr/>
        </p:nvCxnSpPr>
        <p:spPr>
          <a:xfrm>
            <a:off x="9596862" y="1610190"/>
            <a:ext cx="903726" cy="2035253"/>
          </a:xfrm>
          <a:prstGeom prst="curvedConnector3">
            <a:avLst/>
          </a:prstGeom>
          <a:ln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urved Connector 10">
            <a:extLst>
              <a:ext uri="{FF2B5EF4-FFF2-40B4-BE49-F238E27FC236}">
                <a16:creationId xmlns:a16="http://schemas.microsoft.com/office/drawing/2014/main" id="{ABDC8674-2DF1-1317-4050-AF765D978662}"/>
              </a:ext>
            </a:extLst>
          </p:cNvPr>
          <p:cNvCxnSpPr>
            <a:cxnSpLocks/>
            <a:stCxn id="3" idx="2"/>
            <a:endCxn id="5" idx="0"/>
          </p:cNvCxnSpPr>
          <p:nvPr/>
        </p:nvCxnSpPr>
        <p:spPr>
          <a:xfrm rot="5400000">
            <a:off x="10026666" y="2680036"/>
            <a:ext cx="1440717" cy="10097"/>
          </a:xfrm>
          <a:prstGeom prst="curvedConnector3">
            <a:avLst>
              <a:gd name="adj1" fmla="val 50000"/>
            </a:avLst>
          </a:prstGeom>
          <a:ln>
            <a:solidFill>
              <a:schemeClr val="accent2">
                <a:lumMod val="75000"/>
              </a:schemeClr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urved Connector 28">
            <a:extLst>
              <a:ext uri="{FF2B5EF4-FFF2-40B4-BE49-F238E27FC236}">
                <a16:creationId xmlns:a16="http://schemas.microsoft.com/office/drawing/2014/main" id="{6504EAFC-7499-2B4F-1279-72F01DD7D92D}"/>
              </a:ext>
            </a:extLst>
          </p:cNvPr>
          <p:cNvCxnSpPr>
            <a:cxnSpLocks/>
          </p:cNvCxnSpPr>
          <p:nvPr/>
        </p:nvCxnSpPr>
        <p:spPr>
          <a:xfrm flipV="1">
            <a:off x="8405162" y="1618519"/>
            <a:ext cx="559800" cy="4175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E4FC8E7F-DA1B-37D3-1F3E-82D4032D0766}"/>
              </a:ext>
            </a:extLst>
          </p:cNvPr>
          <p:cNvSpPr txBox="1"/>
          <p:nvPr/>
        </p:nvSpPr>
        <p:spPr>
          <a:xfrm>
            <a:off x="7486282" y="1847012"/>
            <a:ext cx="9475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/>
              <a:t>Wikisource</a:t>
            </a:r>
            <a:endParaRPr lang="en-US" sz="12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48AC49B-18BA-CCAB-DCB4-F7BCD31818DB}"/>
              </a:ext>
            </a:extLst>
          </p:cNvPr>
          <p:cNvSpPr txBox="1"/>
          <p:nvPr/>
        </p:nvSpPr>
        <p:spPr>
          <a:xfrm>
            <a:off x="8932355" y="1873668"/>
            <a:ext cx="6971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Birddog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F1B82CE-3A28-2A9F-70CC-86373E232397}"/>
              </a:ext>
            </a:extLst>
          </p:cNvPr>
          <p:cNvSpPr txBox="1"/>
          <p:nvPr/>
        </p:nvSpPr>
        <p:spPr>
          <a:xfrm>
            <a:off x="10203781" y="974367"/>
            <a:ext cx="10680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Google Drive 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19C8EA0-C31E-9A5E-35B7-7AC25113A5A2}"/>
              </a:ext>
            </a:extLst>
          </p:cNvPr>
          <p:cNvSpPr txBox="1"/>
          <p:nvPr/>
        </p:nvSpPr>
        <p:spPr>
          <a:xfrm>
            <a:off x="10332727" y="3896729"/>
            <a:ext cx="82702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Database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8A9B8ED-CD72-B2DF-F285-30D0618A5FC4}"/>
              </a:ext>
            </a:extLst>
          </p:cNvPr>
          <p:cNvSpPr txBox="1"/>
          <p:nvPr/>
        </p:nvSpPr>
        <p:spPr>
          <a:xfrm>
            <a:off x="10356388" y="2699630"/>
            <a:ext cx="894219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txBody>
          <a:bodyPr wrap="none" rtlCol="0">
            <a:spAutoFit/>
          </a:bodyPr>
          <a:lstStyle/>
          <a:p>
            <a:r>
              <a:rPr lang="en-US" sz="1200" dirty="0"/>
              <a:t>Snapshots</a:t>
            </a:r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46944114-6791-D214-4C23-CC171FCDD27D}"/>
              </a:ext>
            </a:extLst>
          </p:cNvPr>
          <p:cNvSpPr/>
          <p:nvPr/>
        </p:nvSpPr>
        <p:spPr>
          <a:xfrm>
            <a:off x="7486282" y="1445120"/>
            <a:ext cx="929550" cy="401892"/>
          </a:xfrm>
          <a:prstGeom prst="roundRect">
            <a:avLst/>
          </a:prstGeom>
          <a:noFill/>
          <a:ln w="3810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7CC25971-295E-095A-CC32-98EAAC45331D}"/>
              </a:ext>
            </a:extLst>
          </p:cNvPr>
          <p:cNvSpPr/>
          <p:nvPr/>
        </p:nvSpPr>
        <p:spPr>
          <a:xfrm>
            <a:off x="8964962" y="1366756"/>
            <a:ext cx="631900" cy="486867"/>
          </a:xfrm>
          <a:prstGeom prst="roundRect">
            <a:avLst/>
          </a:prstGeom>
          <a:noFill/>
          <a:ln w="3810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73613C19-51C7-081C-71EA-6FD9C546214C}"/>
              </a:ext>
            </a:extLst>
          </p:cNvPr>
          <p:cNvSpPr/>
          <p:nvPr/>
        </p:nvSpPr>
        <p:spPr>
          <a:xfrm>
            <a:off x="10506999" y="3421754"/>
            <a:ext cx="469951" cy="463688"/>
          </a:xfrm>
          <a:prstGeom prst="roundRect">
            <a:avLst/>
          </a:prstGeom>
          <a:noFill/>
          <a:ln w="3810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04E58E81-CB20-CD7D-7498-1FF2BA535CE9}"/>
              </a:ext>
            </a:extLst>
          </p:cNvPr>
          <p:cNvSpPr/>
          <p:nvPr/>
        </p:nvSpPr>
        <p:spPr>
          <a:xfrm>
            <a:off x="10424555" y="1245745"/>
            <a:ext cx="643977" cy="719366"/>
          </a:xfrm>
          <a:prstGeom prst="roundRect">
            <a:avLst/>
          </a:prstGeom>
          <a:noFill/>
          <a:ln w="3810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C30C465-A9C8-95E3-4F09-99AD8114718C}"/>
              </a:ext>
            </a:extLst>
          </p:cNvPr>
          <p:cNvSpPr txBox="1"/>
          <p:nvPr/>
        </p:nvSpPr>
        <p:spPr>
          <a:xfrm>
            <a:off x="7132672" y="453651"/>
            <a:ext cx="15718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Ongoing Work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27BC63C-6615-1B45-25D2-9600B9723004}"/>
              </a:ext>
            </a:extLst>
          </p:cNvPr>
          <p:cNvSpPr txBox="1"/>
          <p:nvPr/>
        </p:nvSpPr>
        <p:spPr>
          <a:xfrm>
            <a:off x="9597084" y="4400461"/>
            <a:ext cx="22775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Database Development</a:t>
            </a:r>
          </a:p>
        </p:txBody>
      </p:sp>
      <p:cxnSp>
        <p:nvCxnSpPr>
          <p:cNvPr id="7" name="Curved Connector 6">
            <a:extLst>
              <a:ext uri="{FF2B5EF4-FFF2-40B4-BE49-F238E27FC236}">
                <a16:creationId xmlns:a16="http://schemas.microsoft.com/office/drawing/2014/main" id="{B141C3B5-6520-77C0-6478-F5E2CD1DBD83}"/>
              </a:ext>
            </a:extLst>
          </p:cNvPr>
          <p:cNvCxnSpPr>
            <a:cxnSpLocks/>
            <a:stCxn id="41" idx="3"/>
            <a:endCxn id="3" idx="1"/>
          </p:cNvCxnSpPr>
          <p:nvPr/>
        </p:nvCxnSpPr>
        <p:spPr>
          <a:xfrm flipV="1">
            <a:off x="9596862" y="1608239"/>
            <a:ext cx="833221" cy="1951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9B301B7A-4C14-E82B-7831-6FA10CC6151A}"/>
              </a:ext>
            </a:extLst>
          </p:cNvPr>
          <p:cNvSpPr/>
          <p:nvPr/>
        </p:nvSpPr>
        <p:spPr>
          <a:xfrm>
            <a:off x="1208638" y="3075077"/>
            <a:ext cx="520313" cy="514895"/>
          </a:xfrm>
          <a:prstGeom prst="rect">
            <a:avLst/>
          </a:prstGeom>
          <a:noFill/>
          <a:ln w="5715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13E84B0-6953-FE3E-88E8-86002AEF9DEC}"/>
              </a:ext>
            </a:extLst>
          </p:cNvPr>
          <p:cNvSpPr/>
          <p:nvPr/>
        </p:nvSpPr>
        <p:spPr>
          <a:xfrm>
            <a:off x="1208638" y="3875685"/>
            <a:ext cx="520313" cy="514895"/>
          </a:xfrm>
          <a:prstGeom prst="rect">
            <a:avLst/>
          </a:prstGeom>
          <a:noFill/>
          <a:ln w="5715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CC9CC97-C8B9-7EDF-4363-DC710D068EA5}"/>
              </a:ext>
            </a:extLst>
          </p:cNvPr>
          <p:cNvSpPr/>
          <p:nvPr/>
        </p:nvSpPr>
        <p:spPr>
          <a:xfrm>
            <a:off x="1208638" y="4676294"/>
            <a:ext cx="520313" cy="514895"/>
          </a:xfrm>
          <a:prstGeom prst="rect">
            <a:avLst/>
          </a:prstGeom>
          <a:noFill/>
          <a:ln w="5715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FB24CCA-ADA5-8963-3B37-75C1B232DB9B}"/>
              </a:ext>
            </a:extLst>
          </p:cNvPr>
          <p:cNvSpPr txBox="1"/>
          <p:nvPr/>
        </p:nvSpPr>
        <p:spPr>
          <a:xfrm>
            <a:off x="1996401" y="3960476"/>
            <a:ext cx="363554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Data import from spreadsheets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A49B084-6858-D43A-D225-B6EF9C54C59A}"/>
              </a:ext>
            </a:extLst>
          </p:cNvPr>
          <p:cNvSpPr txBox="1"/>
          <p:nvPr/>
        </p:nvSpPr>
        <p:spPr>
          <a:xfrm>
            <a:off x="1996401" y="3121686"/>
            <a:ext cx="56673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Birddog Integration - automatic updates from Wiki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66DE1CA-1539-1120-5647-108503A343CE}"/>
              </a:ext>
            </a:extLst>
          </p:cNvPr>
          <p:cNvSpPr txBox="1"/>
          <p:nvPr/>
        </p:nvSpPr>
        <p:spPr>
          <a:xfrm>
            <a:off x="1996401" y="4725406"/>
            <a:ext cx="57334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Workflow development (views, roles, streamlining)</a:t>
            </a:r>
          </a:p>
        </p:txBody>
      </p:sp>
      <p:pic>
        <p:nvPicPr>
          <p:cNvPr id="23" name="Graphic 22" descr="Checkbox Checked with solid fill">
            <a:extLst>
              <a:ext uri="{FF2B5EF4-FFF2-40B4-BE49-F238E27FC236}">
                <a16:creationId xmlns:a16="http://schemas.microsoft.com/office/drawing/2014/main" id="{570121F7-C793-8292-5517-DA4C61D2599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1594" y="2872821"/>
            <a:ext cx="914400" cy="914400"/>
          </a:xfrm>
          <a:prstGeom prst="rect">
            <a:avLst/>
          </a:prstGeom>
        </p:spPr>
      </p:pic>
      <p:pic>
        <p:nvPicPr>
          <p:cNvPr id="24" name="Graphic 23" descr="Checkbox Checked with solid fill">
            <a:extLst>
              <a:ext uri="{FF2B5EF4-FFF2-40B4-BE49-F238E27FC236}">
                <a16:creationId xmlns:a16="http://schemas.microsoft.com/office/drawing/2014/main" id="{6CD02740-3125-9E41-6255-8E302506E85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8005" y="3675932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79596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16C3C5-46ED-EA9B-47C7-4CB7A922AF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0" y="762001"/>
            <a:ext cx="5334197" cy="1708242"/>
          </a:xfrm>
        </p:spPr>
        <p:txBody>
          <a:bodyPr anchor="ctr">
            <a:normAutofit/>
          </a:bodyPr>
          <a:lstStyle/>
          <a:p>
            <a:r>
              <a:rPr lang="en-US" sz="3200" dirty="0"/>
              <a:t>Transition Process</a:t>
            </a:r>
            <a:endParaRPr lang="en-US" sz="4000" dirty="0"/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80D2BEDE-B10F-A79E-2658-98DD3315B7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0" y="2470244"/>
            <a:ext cx="5334197" cy="3769835"/>
          </a:xfrm>
        </p:spPr>
        <p:txBody>
          <a:bodyPr anchor="ctr">
            <a:normAutofit/>
          </a:bodyPr>
          <a:lstStyle/>
          <a:p>
            <a:pPr marL="514350" indent="-514350">
              <a:spcAft>
                <a:spcPts val="600"/>
              </a:spcAft>
              <a:buFont typeface="+mj-lt"/>
              <a:buAutoNum type="arabicPeriod"/>
            </a:pPr>
            <a:r>
              <a:rPr lang="en-US" sz="2000" dirty="0"/>
              <a:t>Existing Google docs spreadsheet content is imported into the database to start.</a:t>
            </a:r>
          </a:p>
          <a:p>
            <a:pPr marL="514350" indent="-514350">
              <a:spcAft>
                <a:spcPts val="600"/>
              </a:spcAft>
              <a:buFont typeface="+mj-lt"/>
              <a:buAutoNum type="arabicPeriod"/>
            </a:pPr>
            <a:r>
              <a:rPr lang="en-US" sz="2000" dirty="0"/>
              <a:t>Google docs continues to be used during the transition period.</a:t>
            </a:r>
          </a:p>
          <a:p>
            <a:pPr marL="514350" indent="-514350">
              <a:spcAft>
                <a:spcPts val="600"/>
              </a:spcAft>
              <a:buFont typeface="+mj-lt"/>
              <a:buAutoNum type="arabicPeriod"/>
            </a:pPr>
            <a:r>
              <a:rPr lang="en-US" sz="2000" dirty="0"/>
              <a:t>Individual archive tracking is sequentially cut over to the database when ready.</a:t>
            </a:r>
          </a:p>
          <a:p>
            <a:pPr marL="514350" indent="-514350">
              <a:spcAft>
                <a:spcPts val="600"/>
              </a:spcAft>
              <a:buFont typeface="+mj-lt"/>
              <a:buAutoNum type="arabicPeriod"/>
            </a:pPr>
            <a:r>
              <a:rPr lang="en-US" sz="2000" dirty="0"/>
              <a:t>Birddog is integrated to insert database updates based on ongoing Wiki archive changes. </a:t>
            </a:r>
          </a:p>
          <a:p>
            <a:pPr marL="0" indent="0">
              <a:spcAft>
                <a:spcPts val="600"/>
              </a:spcAft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3C955983-3FC9-B51D-7CE3-5008174509E7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1"/>
          <a:stretch>
            <a:fillRect/>
          </a:stretch>
        </p:blipFill>
        <p:spPr>
          <a:xfrm>
            <a:off x="6857797" y="-10886"/>
            <a:ext cx="5334204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291468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Rectangle 66">
            <a:extLst>
              <a:ext uri="{FF2B5EF4-FFF2-40B4-BE49-F238E27FC236}">
                <a16:creationId xmlns:a16="http://schemas.microsoft.com/office/drawing/2014/main" id="{676993C8-24F1-8FBB-043D-D8BD390703C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157173" y="0"/>
            <a:ext cx="4034830" cy="68580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1FFE1F2F-275B-63C2-8982-A69899D25EE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3825089" cy="68580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Title 1">
            <a:extLst>
              <a:ext uri="{FF2B5EF4-FFF2-40B4-BE49-F238E27FC236}">
                <a16:creationId xmlns:a16="http://schemas.microsoft.com/office/drawing/2014/main" id="{8F411244-2EAC-5768-FF93-2188C0979D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25090" y="513975"/>
            <a:ext cx="4332084" cy="1079436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algn="ctr"/>
            <a:r>
              <a:rPr lang="en-US" sz="6700" dirty="0"/>
              <a:t>Key Concept</a:t>
            </a:r>
            <a:endParaRPr lang="en-US" sz="4800" dirty="0">
              <a:solidFill>
                <a:srgbClr val="C00000"/>
              </a:solidFill>
            </a:endParaRPr>
          </a:p>
        </p:txBody>
      </p:sp>
      <p:pic>
        <p:nvPicPr>
          <p:cNvPr id="58" name="Graphic 57" descr="Database">
            <a:extLst>
              <a:ext uri="{FF2B5EF4-FFF2-40B4-BE49-F238E27FC236}">
                <a16:creationId xmlns:a16="http://schemas.microsoft.com/office/drawing/2014/main" id="{B75DD4BF-C34E-28C6-D527-050EE7AD704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676" y="1459966"/>
            <a:ext cx="3875687" cy="3875687"/>
          </a:xfrm>
          <a:custGeom>
            <a:avLst/>
            <a:gdLst/>
            <a:ahLst/>
            <a:cxnLst/>
            <a:rect l="l" t="t" r="r" b="b"/>
            <a:pathLst>
              <a:path w="2598738" h="1860001">
                <a:moveTo>
                  <a:pt x="0" y="0"/>
                </a:moveTo>
                <a:lnTo>
                  <a:pt x="2598738" y="0"/>
                </a:lnTo>
                <a:lnTo>
                  <a:pt x="2598738" y="1860001"/>
                </a:lnTo>
                <a:lnTo>
                  <a:pt x="0" y="1860001"/>
                </a:lnTo>
                <a:close/>
              </a:path>
            </a:pathLst>
          </a:custGeom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29CCE443-31B7-937D-75CA-EF216A9526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20948" y="244512"/>
            <a:ext cx="2391925" cy="1674347"/>
          </a:xfrm>
          <a:custGeom>
            <a:avLst/>
            <a:gdLst/>
            <a:ahLst/>
            <a:cxnLst/>
            <a:rect l="l" t="t" r="r" b="b"/>
            <a:pathLst>
              <a:path w="2598738" h="1860001">
                <a:moveTo>
                  <a:pt x="0" y="0"/>
                </a:moveTo>
                <a:lnTo>
                  <a:pt x="2598738" y="0"/>
                </a:lnTo>
                <a:lnTo>
                  <a:pt x="2598738" y="1860001"/>
                </a:lnTo>
                <a:lnTo>
                  <a:pt x="0" y="1860001"/>
                </a:lnTo>
                <a:close/>
              </a:path>
            </a:pathLst>
          </a:custGeom>
        </p:spPr>
      </p:pic>
      <p:pic>
        <p:nvPicPr>
          <p:cNvPr id="60" name="Picture 59">
            <a:extLst>
              <a:ext uri="{FF2B5EF4-FFF2-40B4-BE49-F238E27FC236}">
                <a16:creationId xmlns:a16="http://schemas.microsoft.com/office/drawing/2014/main" id="{4CE9620B-E314-0B55-F85B-48D30175548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45013" y="2320582"/>
            <a:ext cx="2598738" cy="1539752"/>
          </a:xfrm>
          <a:custGeom>
            <a:avLst/>
            <a:gdLst/>
            <a:ahLst/>
            <a:cxnLst/>
            <a:rect l="l" t="t" r="r" b="b"/>
            <a:pathLst>
              <a:path w="2598738" h="1859999">
                <a:moveTo>
                  <a:pt x="0" y="0"/>
                </a:moveTo>
                <a:lnTo>
                  <a:pt x="2598738" y="0"/>
                </a:lnTo>
                <a:lnTo>
                  <a:pt x="2598738" y="1859999"/>
                </a:lnTo>
                <a:lnTo>
                  <a:pt x="0" y="1859999"/>
                </a:lnTo>
                <a:close/>
              </a:path>
            </a:pathLst>
          </a:custGeom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CB05723F-05BB-1493-5633-34DD5B579D9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82472" y="4231542"/>
            <a:ext cx="2230401" cy="1321512"/>
          </a:xfrm>
          <a:custGeom>
            <a:avLst/>
            <a:gdLst/>
            <a:ahLst/>
            <a:cxnLst/>
            <a:rect l="l" t="t" r="r" b="b"/>
            <a:pathLst>
              <a:path w="2598738" h="1859999">
                <a:moveTo>
                  <a:pt x="0" y="0"/>
                </a:moveTo>
                <a:lnTo>
                  <a:pt x="2598738" y="0"/>
                </a:lnTo>
                <a:lnTo>
                  <a:pt x="2598738" y="1859999"/>
                </a:lnTo>
                <a:lnTo>
                  <a:pt x="0" y="1859999"/>
                </a:lnTo>
                <a:close/>
              </a:path>
            </a:pathLst>
          </a:custGeom>
        </p:spPr>
      </p:pic>
      <p:sp>
        <p:nvSpPr>
          <p:cNvPr id="62" name="TextBox 61">
            <a:extLst>
              <a:ext uri="{FF2B5EF4-FFF2-40B4-BE49-F238E27FC236}">
                <a16:creationId xmlns:a16="http://schemas.microsoft.com/office/drawing/2014/main" id="{7FCAA583-C48E-71DE-FACC-DC8AE90D13A5}"/>
              </a:ext>
            </a:extLst>
          </p:cNvPr>
          <p:cNvSpPr txBox="1"/>
          <p:nvPr/>
        </p:nvSpPr>
        <p:spPr>
          <a:xfrm>
            <a:off x="1" y="5675094"/>
            <a:ext cx="382508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5400" dirty="0">
                <a:solidFill>
                  <a:schemeClr val="bg2"/>
                </a:solidFill>
              </a:rPr>
              <a:t>Data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12FDF777-02A6-4253-6BD1-B1314163C15F}"/>
              </a:ext>
            </a:extLst>
          </p:cNvPr>
          <p:cNvSpPr txBox="1"/>
          <p:nvPr/>
        </p:nvSpPr>
        <p:spPr>
          <a:xfrm>
            <a:off x="8157170" y="5675094"/>
            <a:ext cx="403483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5400" dirty="0">
                <a:solidFill>
                  <a:schemeClr val="bg2"/>
                </a:solidFill>
              </a:rPr>
              <a:t>Views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C8E30DC0-2F5F-5D52-51EF-0391D10BB16D}"/>
              </a:ext>
            </a:extLst>
          </p:cNvPr>
          <p:cNvSpPr txBox="1"/>
          <p:nvPr/>
        </p:nvSpPr>
        <p:spPr>
          <a:xfrm>
            <a:off x="3981363" y="4892298"/>
            <a:ext cx="395636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dirty="0"/>
              <a:t>Separation of </a:t>
            </a:r>
            <a:r>
              <a:rPr lang="en-US" sz="3600" dirty="0">
                <a:solidFill>
                  <a:srgbClr val="C00000"/>
                </a:solidFill>
              </a:rPr>
              <a:t>Views</a:t>
            </a:r>
            <a:r>
              <a:rPr lang="en-US" sz="3600" dirty="0"/>
              <a:t> from </a:t>
            </a:r>
            <a:r>
              <a:rPr lang="en-US" sz="3600" dirty="0">
                <a:solidFill>
                  <a:srgbClr val="C00000"/>
                </a:solidFill>
              </a:rPr>
              <a:t>Data</a:t>
            </a:r>
            <a:endParaRPr lang="en-US" sz="3600" dirty="0"/>
          </a:p>
        </p:txBody>
      </p: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3A962ACE-99A9-CF30-5626-FEDAA8C8AA17}"/>
              </a:ext>
            </a:extLst>
          </p:cNvPr>
          <p:cNvCxnSpPr>
            <a:cxnSpLocks/>
          </p:cNvCxnSpPr>
          <p:nvPr/>
        </p:nvCxnSpPr>
        <p:spPr>
          <a:xfrm flipV="1">
            <a:off x="2987644" y="1522347"/>
            <a:ext cx="6125351" cy="1952005"/>
          </a:xfrm>
          <a:prstGeom prst="straightConnector1">
            <a:avLst/>
          </a:prstGeom>
          <a:ln w="38100">
            <a:prstDash val="sysDot"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2C24BDB6-8048-34D0-C69F-B21A9990F7FA}"/>
              </a:ext>
            </a:extLst>
          </p:cNvPr>
          <p:cNvCxnSpPr>
            <a:cxnSpLocks/>
          </p:cNvCxnSpPr>
          <p:nvPr/>
        </p:nvCxnSpPr>
        <p:spPr>
          <a:xfrm flipV="1">
            <a:off x="2987644" y="3041467"/>
            <a:ext cx="5576934" cy="652347"/>
          </a:xfrm>
          <a:prstGeom prst="straightConnector1">
            <a:avLst/>
          </a:prstGeom>
          <a:ln w="38100">
            <a:prstDash val="sysDot"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98D5CAFC-B973-094C-7FFB-00474308F74D}"/>
              </a:ext>
            </a:extLst>
          </p:cNvPr>
          <p:cNvCxnSpPr>
            <a:cxnSpLocks/>
          </p:cNvCxnSpPr>
          <p:nvPr/>
        </p:nvCxnSpPr>
        <p:spPr>
          <a:xfrm>
            <a:off x="2955942" y="3879931"/>
            <a:ext cx="6309453" cy="977413"/>
          </a:xfrm>
          <a:prstGeom prst="straightConnector1">
            <a:avLst/>
          </a:prstGeom>
          <a:ln w="38100">
            <a:prstDash val="sysDot"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88" name="Table 87">
            <a:extLst>
              <a:ext uri="{FF2B5EF4-FFF2-40B4-BE49-F238E27FC236}">
                <a16:creationId xmlns:a16="http://schemas.microsoft.com/office/drawing/2014/main" id="{47D152C9-B062-F3F7-529C-A3362633ED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2044066"/>
              </p:ext>
            </p:extLst>
          </p:nvPr>
        </p:nvGraphicFramePr>
        <p:xfrm>
          <a:off x="1151398" y="3516280"/>
          <a:ext cx="559708" cy="461298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39927">
                  <a:extLst>
                    <a:ext uri="{9D8B030D-6E8A-4147-A177-3AD203B41FA5}">
                      <a16:colId xmlns:a16="http://schemas.microsoft.com/office/drawing/2014/main" val="2422719079"/>
                    </a:ext>
                  </a:extLst>
                </a:gridCol>
                <a:gridCol w="139927">
                  <a:extLst>
                    <a:ext uri="{9D8B030D-6E8A-4147-A177-3AD203B41FA5}">
                      <a16:colId xmlns:a16="http://schemas.microsoft.com/office/drawing/2014/main" val="1082313047"/>
                    </a:ext>
                  </a:extLst>
                </a:gridCol>
                <a:gridCol w="139927">
                  <a:extLst>
                    <a:ext uri="{9D8B030D-6E8A-4147-A177-3AD203B41FA5}">
                      <a16:colId xmlns:a16="http://schemas.microsoft.com/office/drawing/2014/main" val="778245871"/>
                    </a:ext>
                  </a:extLst>
                </a:gridCol>
                <a:gridCol w="139927">
                  <a:extLst>
                    <a:ext uri="{9D8B030D-6E8A-4147-A177-3AD203B41FA5}">
                      <a16:colId xmlns:a16="http://schemas.microsoft.com/office/drawing/2014/main" val="1411708811"/>
                    </a:ext>
                  </a:extLst>
                </a:gridCol>
              </a:tblGrid>
              <a:tr h="153766"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8441" marR="38441" marT="19221" marB="19221"/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8441" marR="38441" marT="19221" marB="19221"/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8441" marR="38441" marT="19221" marB="19221"/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8441" marR="38441" marT="19221" marB="19221"/>
                </a:tc>
                <a:extLst>
                  <a:ext uri="{0D108BD9-81ED-4DB2-BD59-A6C34878D82A}">
                    <a16:rowId xmlns:a16="http://schemas.microsoft.com/office/drawing/2014/main" val="2417800957"/>
                  </a:ext>
                </a:extLst>
              </a:tr>
              <a:tr h="153766"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8441" marR="38441" marT="19221" marB="19221"/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8441" marR="38441" marT="19221" marB="19221"/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8441" marR="38441" marT="19221" marB="19221"/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8441" marR="38441" marT="19221" marB="19221"/>
                </a:tc>
                <a:extLst>
                  <a:ext uri="{0D108BD9-81ED-4DB2-BD59-A6C34878D82A}">
                    <a16:rowId xmlns:a16="http://schemas.microsoft.com/office/drawing/2014/main" val="786624731"/>
                  </a:ext>
                </a:extLst>
              </a:tr>
              <a:tr h="153766"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8441" marR="38441" marT="19221" marB="19221"/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8441" marR="38441" marT="19221" marB="19221"/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8441" marR="38441" marT="19221" marB="19221"/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38441" marR="38441" marT="19221" marB="19221"/>
                </a:tc>
                <a:extLst>
                  <a:ext uri="{0D108BD9-81ED-4DB2-BD59-A6C34878D82A}">
                    <a16:rowId xmlns:a16="http://schemas.microsoft.com/office/drawing/2014/main" val="1149220276"/>
                  </a:ext>
                </a:extLst>
              </a:tr>
            </a:tbl>
          </a:graphicData>
        </a:graphic>
      </p:graphicFrame>
      <p:graphicFrame>
        <p:nvGraphicFramePr>
          <p:cNvPr id="89" name="Table 88">
            <a:extLst>
              <a:ext uri="{FF2B5EF4-FFF2-40B4-BE49-F238E27FC236}">
                <a16:creationId xmlns:a16="http://schemas.microsoft.com/office/drawing/2014/main" id="{72560C3D-D64C-809C-C3DA-BF51C79342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0804200"/>
              </p:ext>
            </p:extLst>
          </p:nvPr>
        </p:nvGraphicFramePr>
        <p:xfrm>
          <a:off x="1579684" y="3622524"/>
          <a:ext cx="559708" cy="461298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39927">
                  <a:extLst>
                    <a:ext uri="{9D8B030D-6E8A-4147-A177-3AD203B41FA5}">
                      <a16:colId xmlns:a16="http://schemas.microsoft.com/office/drawing/2014/main" val="2422719079"/>
                    </a:ext>
                  </a:extLst>
                </a:gridCol>
                <a:gridCol w="139927">
                  <a:extLst>
                    <a:ext uri="{9D8B030D-6E8A-4147-A177-3AD203B41FA5}">
                      <a16:colId xmlns:a16="http://schemas.microsoft.com/office/drawing/2014/main" val="1082313047"/>
                    </a:ext>
                  </a:extLst>
                </a:gridCol>
                <a:gridCol w="139927">
                  <a:extLst>
                    <a:ext uri="{9D8B030D-6E8A-4147-A177-3AD203B41FA5}">
                      <a16:colId xmlns:a16="http://schemas.microsoft.com/office/drawing/2014/main" val="778245871"/>
                    </a:ext>
                  </a:extLst>
                </a:gridCol>
                <a:gridCol w="139927">
                  <a:extLst>
                    <a:ext uri="{9D8B030D-6E8A-4147-A177-3AD203B41FA5}">
                      <a16:colId xmlns:a16="http://schemas.microsoft.com/office/drawing/2014/main" val="1411708811"/>
                    </a:ext>
                  </a:extLst>
                </a:gridCol>
              </a:tblGrid>
              <a:tr h="153766"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8441" marR="38441" marT="19221" marB="19221"/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8441" marR="38441" marT="19221" marB="19221"/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8441" marR="38441" marT="19221" marB="19221"/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8441" marR="38441" marT="19221" marB="19221"/>
                </a:tc>
                <a:extLst>
                  <a:ext uri="{0D108BD9-81ED-4DB2-BD59-A6C34878D82A}">
                    <a16:rowId xmlns:a16="http://schemas.microsoft.com/office/drawing/2014/main" val="2417800957"/>
                  </a:ext>
                </a:extLst>
              </a:tr>
              <a:tr h="153766"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8441" marR="38441" marT="19221" marB="19221"/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8441" marR="38441" marT="19221" marB="19221"/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8441" marR="38441" marT="19221" marB="19221"/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8441" marR="38441" marT="19221" marB="19221"/>
                </a:tc>
                <a:extLst>
                  <a:ext uri="{0D108BD9-81ED-4DB2-BD59-A6C34878D82A}">
                    <a16:rowId xmlns:a16="http://schemas.microsoft.com/office/drawing/2014/main" val="786624731"/>
                  </a:ext>
                </a:extLst>
              </a:tr>
              <a:tr h="153766"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8441" marR="38441" marT="19221" marB="19221"/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8441" marR="38441" marT="19221" marB="19221"/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8441" marR="38441" marT="19221" marB="19221"/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38441" marR="38441" marT="19221" marB="19221"/>
                </a:tc>
                <a:extLst>
                  <a:ext uri="{0D108BD9-81ED-4DB2-BD59-A6C34878D82A}">
                    <a16:rowId xmlns:a16="http://schemas.microsoft.com/office/drawing/2014/main" val="1149220276"/>
                  </a:ext>
                </a:extLst>
              </a:tr>
            </a:tbl>
          </a:graphicData>
        </a:graphic>
      </p:graphicFrame>
      <p:graphicFrame>
        <p:nvGraphicFramePr>
          <p:cNvPr id="90" name="Table 89">
            <a:extLst>
              <a:ext uri="{FF2B5EF4-FFF2-40B4-BE49-F238E27FC236}">
                <a16:creationId xmlns:a16="http://schemas.microsoft.com/office/drawing/2014/main" id="{168361E0-25E4-7FA1-0902-9CF0D39F12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2275928"/>
              </p:ext>
            </p:extLst>
          </p:nvPr>
        </p:nvGraphicFramePr>
        <p:xfrm>
          <a:off x="2038359" y="3563025"/>
          <a:ext cx="559708" cy="461298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39927">
                  <a:extLst>
                    <a:ext uri="{9D8B030D-6E8A-4147-A177-3AD203B41FA5}">
                      <a16:colId xmlns:a16="http://schemas.microsoft.com/office/drawing/2014/main" val="2422719079"/>
                    </a:ext>
                  </a:extLst>
                </a:gridCol>
                <a:gridCol w="139927">
                  <a:extLst>
                    <a:ext uri="{9D8B030D-6E8A-4147-A177-3AD203B41FA5}">
                      <a16:colId xmlns:a16="http://schemas.microsoft.com/office/drawing/2014/main" val="1082313047"/>
                    </a:ext>
                  </a:extLst>
                </a:gridCol>
                <a:gridCol w="139927">
                  <a:extLst>
                    <a:ext uri="{9D8B030D-6E8A-4147-A177-3AD203B41FA5}">
                      <a16:colId xmlns:a16="http://schemas.microsoft.com/office/drawing/2014/main" val="778245871"/>
                    </a:ext>
                  </a:extLst>
                </a:gridCol>
                <a:gridCol w="139927">
                  <a:extLst>
                    <a:ext uri="{9D8B030D-6E8A-4147-A177-3AD203B41FA5}">
                      <a16:colId xmlns:a16="http://schemas.microsoft.com/office/drawing/2014/main" val="1411708811"/>
                    </a:ext>
                  </a:extLst>
                </a:gridCol>
              </a:tblGrid>
              <a:tr h="153766"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8441" marR="38441" marT="19221" marB="19221"/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8441" marR="38441" marT="19221" marB="19221"/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8441" marR="38441" marT="19221" marB="19221"/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8441" marR="38441" marT="19221" marB="19221"/>
                </a:tc>
                <a:extLst>
                  <a:ext uri="{0D108BD9-81ED-4DB2-BD59-A6C34878D82A}">
                    <a16:rowId xmlns:a16="http://schemas.microsoft.com/office/drawing/2014/main" val="2417800957"/>
                  </a:ext>
                </a:extLst>
              </a:tr>
              <a:tr h="153766"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8441" marR="38441" marT="19221" marB="19221"/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8441" marR="38441" marT="19221" marB="19221"/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8441" marR="38441" marT="19221" marB="19221"/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8441" marR="38441" marT="19221" marB="19221"/>
                </a:tc>
                <a:extLst>
                  <a:ext uri="{0D108BD9-81ED-4DB2-BD59-A6C34878D82A}">
                    <a16:rowId xmlns:a16="http://schemas.microsoft.com/office/drawing/2014/main" val="786624731"/>
                  </a:ext>
                </a:extLst>
              </a:tr>
              <a:tr h="153766"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8441" marR="38441" marT="19221" marB="19221"/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8441" marR="38441" marT="19221" marB="19221"/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38441" marR="38441" marT="19221" marB="19221"/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38441" marR="38441" marT="19221" marB="19221"/>
                </a:tc>
                <a:extLst>
                  <a:ext uri="{0D108BD9-81ED-4DB2-BD59-A6C34878D82A}">
                    <a16:rowId xmlns:a16="http://schemas.microsoft.com/office/drawing/2014/main" val="1149220276"/>
                  </a:ext>
                </a:extLst>
              </a:tr>
            </a:tbl>
          </a:graphicData>
        </a:graphic>
      </p:graphicFrame>
      <p:graphicFrame>
        <p:nvGraphicFramePr>
          <p:cNvPr id="91" name="Table 90">
            <a:extLst>
              <a:ext uri="{FF2B5EF4-FFF2-40B4-BE49-F238E27FC236}">
                <a16:creationId xmlns:a16="http://schemas.microsoft.com/office/drawing/2014/main" id="{9BB66DB4-12EA-DE3E-E37B-6B008EF357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4505176"/>
              </p:ext>
            </p:extLst>
          </p:nvPr>
        </p:nvGraphicFramePr>
        <p:xfrm>
          <a:off x="1815953" y="4363764"/>
          <a:ext cx="559708" cy="461298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39927">
                  <a:extLst>
                    <a:ext uri="{9D8B030D-6E8A-4147-A177-3AD203B41FA5}">
                      <a16:colId xmlns:a16="http://schemas.microsoft.com/office/drawing/2014/main" val="2422719079"/>
                    </a:ext>
                  </a:extLst>
                </a:gridCol>
                <a:gridCol w="139927">
                  <a:extLst>
                    <a:ext uri="{9D8B030D-6E8A-4147-A177-3AD203B41FA5}">
                      <a16:colId xmlns:a16="http://schemas.microsoft.com/office/drawing/2014/main" val="1082313047"/>
                    </a:ext>
                  </a:extLst>
                </a:gridCol>
                <a:gridCol w="139927">
                  <a:extLst>
                    <a:ext uri="{9D8B030D-6E8A-4147-A177-3AD203B41FA5}">
                      <a16:colId xmlns:a16="http://schemas.microsoft.com/office/drawing/2014/main" val="778245871"/>
                    </a:ext>
                  </a:extLst>
                </a:gridCol>
                <a:gridCol w="139927">
                  <a:extLst>
                    <a:ext uri="{9D8B030D-6E8A-4147-A177-3AD203B41FA5}">
                      <a16:colId xmlns:a16="http://schemas.microsoft.com/office/drawing/2014/main" val="1411708811"/>
                    </a:ext>
                  </a:extLst>
                </a:gridCol>
              </a:tblGrid>
              <a:tr h="153766"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8441" marR="38441" marT="19221" marB="19221"/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8441" marR="38441" marT="19221" marB="19221"/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38441" marR="38441" marT="19221" marB="19221"/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8441" marR="38441" marT="19221" marB="19221"/>
                </a:tc>
                <a:extLst>
                  <a:ext uri="{0D108BD9-81ED-4DB2-BD59-A6C34878D82A}">
                    <a16:rowId xmlns:a16="http://schemas.microsoft.com/office/drawing/2014/main" val="2417800957"/>
                  </a:ext>
                </a:extLst>
              </a:tr>
              <a:tr h="153766"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38441" marR="38441" marT="19221" marB="19221"/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8441" marR="38441" marT="19221" marB="19221"/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8441" marR="38441" marT="19221" marB="19221"/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8441" marR="38441" marT="19221" marB="19221"/>
                </a:tc>
                <a:extLst>
                  <a:ext uri="{0D108BD9-81ED-4DB2-BD59-A6C34878D82A}">
                    <a16:rowId xmlns:a16="http://schemas.microsoft.com/office/drawing/2014/main" val="786624731"/>
                  </a:ext>
                </a:extLst>
              </a:tr>
              <a:tr h="153766"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8441" marR="38441" marT="19221" marB="19221"/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8441" marR="38441" marT="19221" marB="19221"/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8441" marR="38441" marT="19221" marB="19221"/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38441" marR="38441" marT="19221" marB="19221"/>
                </a:tc>
                <a:extLst>
                  <a:ext uri="{0D108BD9-81ED-4DB2-BD59-A6C34878D82A}">
                    <a16:rowId xmlns:a16="http://schemas.microsoft.com/office/drawing/2014/main" val="1149220276"/>
                  </a:ext>
                </a:extLst>
              </a:tr>
            </a:tbl>
          </a:graphicData>
        </a:graphic>
      </p:graphicFrame>
      <p:graphicFrame>
        <p:nvGraphicFramePr>
          <p:cNvPr id="92" name="Table 91">
            <a:extLst>
              <a:ext uri="{FF2B5EF4-FFF2-40B4-BE49-F238E27FC236}">
                <a16:creationId xmlns:a16="http://schemas.microsoft.com/office/drawing/2014/main" id="{74BA105A-6828-3D59-6935-9411839558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3632694"/>
              </p:ext>
            </p:extLst>
          </p:nvPr>
        </p:nvGraphicFramePr>
        <p:xfrm>
          <a:off x="1256245" y="2767805"/>
          <a:ext cx="559708" cy="461298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39927">
                  <a:extLst>
                    <a:ext uri="{9D8B030D-6E8A-4147-A177-3AD203B41FA5}">
                      <a16:colId xmlns:a16="http://schemas.microsoft.com/office/drawing/2014/main" val="2422719079"/>
                    </a:ext>
                  </a:extLst>
                </a:gridCol>
                <a:gridCol w="139927">
                  <a:extLst>
                    <a:ext uri="{9D8B030D-6E8A-4147-A177-3AD203B41FA5}">
                      <a16:colId xmlns:a16="http://schemas.microsoft.com/office/drawing/2014/main" val="1082313047"/>
                    </a:ext>
                  </a:extLst>
                </a:gridCol>
                <a:gridCol w="139927">
                  <a:extLst>
                    <a:ext uri="{9D8B030D-6E8A-4147-A177-3AD203B41FA5}">
                      <a16:colId xmlns:a16="http://schemas.microsoft.com/office/drawing/2014/main" val="778245871"/>
                    </a:ext>
                  </a:extLst>
                </a:gridCol>
                <a:gridCol w="139927">
                  <a:extLst>
                    <a:ext uri="{9D8B030D-6E8A-4147-A177-3AD203B41FA5}">
                      <a16:colId xmlns:a16="http://schemas.microsoft.com/office/drawing/2014/main" val="1411708811"/>
                    </a:ext>
                  </a:extLst>
                </a:gridCol>
              </a:tblGrid>
              <a:tr h="153766"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8441" marR="38441" marT="19221" marB="19221"/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8441" marR="38441" marT="19221" marB="19221"/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8441" marR="38441" marT="19221" marB="19221"/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8441" marR="38441" marT="19221" marB="19221"/>
                </a:tc>
                <a:extLst>
                  <a:ext uri="{0D108BD9-81ED-4DB2-BD59-A6C34878D82A}">
                    <a16:rowId xmlns:a16="http://schemas.microsoft.com/office/drawing/2014/main" val="2417800957"/>
                  </a:ext>
                </a:extLst>
              </a:tr>
              <a:tr h="153766"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8441" marR="38441" marT="19221" marB="19221"/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8441" marR="38441" marT="19221" marB="19221"/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8441" marR="38441" marT="19221" marB="19221"/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8441" marR="38441" marT="19221" marB="19221"/>
                </a:tc>
                <a:extLst>
                  <a:ext uri="{0D108BD9-81ED-4DB2-BD59-A6C34878D82A}">
                    <a16:rowId xmlns:a16="http://schemas.microsoft.com/office/drawing/2014/main" val="786624731"/>
                  </a:ext>
                </a:extLst>
              </a:tr>
              <a:tr h="153766"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8441" marR="38441" marT="19221" marB="19221"/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8441" marR="38441" marT="19221" marB="19221"/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8441" marR="38441" marT="19221" marB="19221"/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38441" marR="38441" marT="19221" marB="19221"/>
                </a:tc>
                <a:extLst>
                  <a:ext uri="{0D108BD9-81ED-4DB2-BD59-A6C34878D82A}">
                    <a16:rowId xmlns:a16="http://schemas.microsoft.com/office/drawing/2014/main" val="1149220276"/>
                  </a:ext>
                </a:extLst>
              </a:tr>
            </a:tbl>
          </a:graphicData>
        </a:graphic>
      </p:graphicFrame>
      <p:graphicFrame>
        <p:nvGraphicFramePr>
          <p:cNvPr id="93" name="Table 92">
            <a:extLst>
              <a:ext uri="{FF2B5EF4-FFF2-40B4-BE49-F238E27FC236}">
                <a16:creationId xmlns:a16="http://schemas.microsoft.com/office/drawing/2014/main" id="{AF8DD5A8-2DE0-29BD-023C-CDD469FFF6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1242029"/>
              </p:ext>
            </p:extLst>
          </p:nvPr>
        </p:nvGraphicFramePr>
        <p:xfrm>
          <a:off x="1099971" y="4277453"/>
          <a:ext cx="559708" cy="461298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39927">
                  <a:extLst>
                    <a:ext uri="{9D8B030D-6E8A-4147-A177-3AD203B41FA5}">
                      <a16:colId xmlns:a16="http://schemas.microsoft.com/office/drawing/2014/main" val="2422719079"/>
                    </a:ext>
                  </a:extLst>
                </a:gridCol>
                <a:gridCol w="139927">
                  <a:extLst>
                    <a:ext uri="{9D8B030D-6E8A-4147-A177-3AD203B41FA5}">
                      <a16:colId xmlns:a16="http://schemas.microsoft.com/office/drawing/2014/main" val="1082313047"/>
                    </a:ext>
                  </a:extLst>
                </a:gridCol>
                <a:gridCol w="139927">
                  <a:extLst>
                    <a:ext uri="{9D8B030D-6E8A-4147-A177-3AD203B41FA5}">
                      <a16:colId xmlns:a16="http://schemas.microsoft.com/office/drawing/2014/main" val="778245871"/>
                    </a:ext>
                  </a:extLst>
                </a:gridCol>
                <a:gridCol w="139927">
                  <a:extLst>
                    <a:ext uri="{9D8B030D-6E8A-4147-A177-3AD203B41FA5}">
                      <a16:colId xmlns:a16="http://schemas.microsoft.com/office/drawing/2014/main" val="1411708811"/>
                    </a:ext>
                  </a:extLst>
                </a:gridCol>
              </a:tblGrid>
              <a:tr h="153766"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8441" marR="38441" marT="19221" marB="19221"/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8441" marR="38441" marT="19221" marB="19221"/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8441" marR="38441" marT="19221" marB="19221"/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8441" marR="38441" marT="19221" marB="19221"/>
                </a:tc>
                <a:extLst>
                  <a:ext uri="{0D108BD9-81ED-4DB2-BD59-A6C34878D82A}">
                    <a16:rowId xmlns:a16="http://schemas.microsoft.com/office/drawing/2014/main" val="2417800957"/>
                  </a:ext>
                </a:extLst>
              </a:tr>
              <a:tr h="153766"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8441" marR="38441" marT="19221" marB="19221"/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8441" marR="38441" marT="19221" marB="19221"/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8441" marR="38441" marT="19221" marB="19221"/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8441" marR="38441" marT="19221" marB="19221"/>
                </a:tc>
                <a:extLst>
                  <a:ext uri="{0D108BD9-81ED-4DB2-BD59-A6C34878D82A}">
                    <a16:rowId xmlns:a16="http://schemas.microsoft.com/office/drawing/2014/main" val="786624731"/>
                  </a:ext>
                </a:extLst>
              </a:tr>
              <a:tr h="153766"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8441" marR="38441" marT="19221" marB="19221"/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8441" marR="38441" marT="19221" marB="19221"/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8441" marR="38441" marT="19221" marB="19221"/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38441" marR="38441" marT="19221" marB="19221"/>
                </a:tc>
                <a:extLst>
                  <a:ext uri="{0D108BD9-81ED-4DB2-BD59-A6C34878D82A}">
                    <a16:rowId xmlns:a16="http://schemas.microsoft.com/office/drawing/2014/main" val="1149220276"/>
                  </a:ext>
                </a:extLst>
              </a:tr>
            </a:tbl>
          </a:graphicData>
        </a:graphic>
      </p:graphicFrame>
      <p:graphicFrame>
        <p:nvGraphicFramePr>
          <p:cNvPr id="94" name="Table 93">
            <a:extLst>
              <a:ext uri="{FF2B5EF4-FFF2-40B4-BE49-F238E27FC236}">
                <a16:creationId xmlns:a16="http://schemas.microsoft.com/office/drawing/2014/main" id="{8B63712A-78E7-D607-AE37-2EFA59CA7B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0390502"/>
              </p:ext>
            </p:extLst>
          </p:nvPr>
        </p:nvGraphicFramePr>
        <p:xfrm>
          <a:off x="2134016" y="2674368"/>
          <a:ext cx="559708" cy="461298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39927">
                  <a:extLst>
                    <a:ext uri="{9D8B030D-6E8A-4147-A177-3AD203B41FA5}">
                      <a16:colId xmlns:a16="http://schemas.microsoft.com/office/drawing/2014/main" val="2422719079"/>
                    </a:ext>
                  </a:extLst>
                </a:gridCol>
                <a:gridCol w="139927">
                  <a:extLst>
                    <a:ext uri="{9D8B030D-6E8A-4147-A177-3AD203B41FA5}">
                      <a16:colId xmlns:a16="http://schemas.microsoft.com/office/drawing/2014/main" val="1082313047"/>
                    </a:ext>
                  </a:extLst>
                </a:gridCol>
                <a:gridCol w="139927">
                  <a:extLst>
                    <a:ext uri="{9D8B030D-6E8A-4147-A177-3AD203B41FA5}">
                      <a16:colId xmlns:a16="http://schemas.microsoft.com/office/drawing/2014/main" val="778245871"/>
                    </a:ext>
                  </a:extLst>
                </a:gridCol>
                <a:gridCol w="139927">
                  <a:extLst>
                    <a:ext uri="{9D8B030D-6E8A-4147-A177-3AD203B41FA5}">
                      <a16:colId xmlns:a16="http://schemas.microsoft.com/office/drawing/2014/main" val="1411708811"/>
                    </a:ext>
                  </a:extLst>
                </a:gridCol>
              </a:tblGrid>
              <a:tr h="153766"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8441" marR="38441" marT="19221" marB="19221"/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8441" marR="38441" marT="19221" marB="19221"/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8441" marR="38441" marT="19221" marB="19221"/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8441" marR="38441" marT="19221" marB="19221"/>
                </a:tc>
                <a:extLst>
                  <a:ext uri="{0D108BD9-81ED-4DB2-BD59-A6C34878D82A}">
                    <a16:rowId xmlns:a16="http://schemas.microsoft.com/office/drawing/2014/main" val="2417800957"/>
                  </a:ext>
                </a:extLst>
              </a:tr>
              <a:tr h="153766"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8441" marR="38441" marT="19221" marB="19221"/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8441" marR="38441" marT="19221" marB="19221"/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8441" marR="38441" marT="19221" marB="19221"/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8441" marR="38441" marT="19221" marB="19221"/>
                </a:tc>
                <a:extLst>
                  <a:ext uri="{0D108BD9-81ED-4DB2-BD59-A6C34878D82A}">
                    <a16:rowId xmlns:a16="http://schemas.microsoft.com/office/drawing/2014/main" val="786624731"/>
                  </a:ext>
                </a:extLst>
              </a:tr>
              <a:tr h="153766"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38441" marR="38441" marT="19221" marB="19221"/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8441" marR="38441" marT="19221" marB="19221"/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8441" marR="38441" marT="19221" marB="19221"/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38441" marR="38441" marT="19221" marB="19221"/>
                </a:tc>
                <a:extLst>
                  <a:ext uri="{0D108BD9-81ED-4DB2-BD59-A6C34878D82A}">
                    <a16:rowId xmlns:a16="http://schemas.microsoft.com/office/drawing/2014/main" val="11492202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281875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A3C7313-819F-1AF0-DC36-91C21D9C25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Database Requirements</a:t>
            </a:r>
          </a:p>
        </p:txBody>
      </p:sp>
      <p:graphicFrame>
        <p:nvGraphicFramePr>
          <p:cNvPr id="23" name="Content Placeholder 2">
            <a:extLst>
              <a:ext uri="{FF2B5EF4-FFF2-40B4-BE49-F238E27FC236}">
                <a16:creationId xmlns:a16="http://schemas.microsoft.com/office/drawing/2014/main" id="{940E469C-5270-449E-FACA-12C9A8A5E23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23161141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931703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E0E41306-E303-145D-95EE-1E2534530A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FC5158-9027-35B4-B562-22E904B33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NocoDB</a:t>
            </a:r>
            <a:r>
              <a:rPr lang="en-US" dirty="0"/>
              <a:t> Features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007EB1E-FBA7-2B9A-C96B-EF18BCC82F7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75487" y="1825625"/>
            <a:ext cx="9041025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21978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2D08F9-9E17-DFBB-761E-C2204C3F4C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Role-Based Data Access Permissions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902FE58-8739-E6A9-63AB-3272243D6EE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18739" y="2061880"/>
            <a:ext cx="4512097" cy="3600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11340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2F86CE-9D44-7622-1101-AEF9E67EAF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Revision History for All Data Changes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17FDA8A-76D2-DF14-F786-2BC5A81B649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64407" y="1825625"/>
            <a:ext cx="7263185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06977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B3ACB9-92FA-7D4C-097F-305009D549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Per-Record Commenting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AAD72BB-7FF8-F84F-AD49-ADAEC4E0685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64407" y="1825625"/>
            <a:ext cx="7263185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58821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EC4F63D-82C7-C095-A325-553B9382E693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03579" y="1690688"/>
            <a:ext cx="6796634" cy="343893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085664F-A443-AD42-AB8F-F4603E2402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Initial Experiment with DAHEO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560BA84-E42A-8322-0566-7FF35D95FC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257" y="2591354"/>
            <a:ext cx="3736167" cy="1675292"/>
          </a:xfrm>
          <a:prstGeom prst="rect">
            <a:avLst/>
          </a:prstGeom>
        </p:spPr>
      </p:pic>
      <p:sp>
        <p:nvSpPr>
          <p:cNvPr id="5" name="Chevron 4">
            <a:extLst>
              <a:ext uri="{FF2B5EF4-FFF2-40B4-BE49-F238E27FC236}">
                <a16:creationId xmlns:a16="http://schemas.microsoft.com/office/drawing/2014/main" id="{058B7773-D04F-BD47-D766-A272E60E5A56}"/>
              </a:ext>
            </a:extLst>
          </p:cNvPr>
          <p:cNvSpPr/>
          <p:nvPr/>
        </p:nvSpPr>
        <p:spPr>
          <a:xfrm>
            <a:off x="4221162" y="2748516"/>
            <a:ext cx="896679" cy="1360967"/>
          </a:xfrm>
          <a:prstGeom prst="chevr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7660704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2D9D94-BA1E-5B59-D36F-171B779CD9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Pages Table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3920D4F-9DDC-4EB1-814F-FEF9822CF00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9075" y="1998248"/>
            <a:ext cx="11433850" cy="432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30933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3253D778-625D-47D0-A107-76F7321A62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D3256E-055A-5CA7-3A7F-00AED3E41C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Documents Table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9108DB6E-D4E7-9CE8-5B6A-9DDE70B04B2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1751" y="1878643"/>
            <a:ext cx="11398213" cy="4205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711394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24EE1F-4F97-B282-9A5C-BA24076EA4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'Kanban” View of Pages table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B3228F2-8587-6B67-12B8-1F10FB2B17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769234"/>
            <a:ext cx="7772400" cy="4614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074877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007B9-FE7C-6E4C-DD71-DA7F7AA1C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Gallery View for Content Checkers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10D554A-09EF-63D8-9575-AFE8578A4C9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02615" y="1825625"/>
            <a:ext cx="738676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213345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BEDEDF9-7D07-165F-A2CD-05EBD37590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4538" y="1513264"/>
            <a:ext cx="7772400" cy="4758948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8C29223B-EC82-DBD3-E969-7069360D6E6E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Birddog Integration (NOT YET!)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16B1524-D0EB-6759-A43F-C3FDC61ED7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0041" y="2690958"/>
            <a:ext cx="609600" cy="584200"/>
          </a:xfrm>
          <a:prstGeom prst="rect">
            <a:avLst/>
          </a:prstGeom>
          <a:effectLst>
            <a:glow rad="231179">
              <a:srgbClr val="FF0000"/>
            </a:glow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92AA3E6-1169-AC22-159D-60FE89DA6A9B}"/>
              </a:ext>
            </a:extLst>
          </p:cNvPr>
          <p:cNvSpPr txBox="1"/>
          <p:nvPr/>
        </p:nvSpPr>
        <p:spPr>
          <a:xfrm>
            <a:off x="9226592" y="2785569"/>
            <a:ext cx="20880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“Update database”</a:t>
            </a:r>
          </a:p>
        </p:txBody>
      </p:sp>
    </p:spTree>
    <p:extLst>
      <p:ext uri="{BB962C8B-B14F-4D97-AF65-F5344CB8AC3E}">
        <p14:creationId xmlns:p14="http://schemas.microsoft.com/office/powerpoint/2010/main" val="336745264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56D7E57-E5CC-0733-C37A-A9B3201547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929" y="1690688"/>
            <a:ext cx="11075175" cy="4527692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B8A0E698-8401-EF05-101D-DA6F2AAC94C3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dirty="0"/>
              <a:t>Mock-Up View for Reviewing Birddog Updates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B2392C8-E20E-C069-F910-9F2739892098}"/>
              </a:ext>
            </a:extLst>
          </p:cNvPr>
          <p:cNvSpPr/>
          <p:nvPr/>
        </p:nvSpPr>
        <p:spPr>
          <a:xfrm>
            <a:off x="5261336" y="2495314"/>
            <a:ext cx="1230000" cy="3679149"/>
          </a:xfrm>
          <a:prstGeom prst="rect">
            <a:avLst/>
          </a:prstGeom>
          <a:noFill/>
          <a:ln w="762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13153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1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3981</TotalTime>
  <Words>487</Words>
  <Application>Microsoft Macintosh PowerPoint</Application>
  <PresentationFormat>Widescreen</PresentationFormat>
  <Paragraphs>121</Paragraphs>
  <Slides>25</Slides>
  <Notes>2</Notes>
  <HiddenSlides>14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Aptos</vt:lpstr>
      <vt:lpstr>Aptos Display</vt:lpstr>
      <vt:lpstr>Arial</vt:lpstr>
      <vt:lpstr>Calibri</vt:lpstr>
      <vt:lpstr>Office Theme</vt:lpstr>
      <vt:lpstr>URD Database Update</vt:lpstr>
      <vt:lpstr>Project Goals</vt:lpstr>
      <vt:lpstr>URD Data Problem</vt:lpstr>
      <vt:lpstr>The Solution</vt:lpstr>
      <vt:lpstr>Candidate Database Platform: NocoDB</vt:lpstr>
      <vt:lpstr>NocoDB Web App</vt:lpstr>
      <vt:lpstr>Customizable Views</vt:lpstr>
      <vt:lpstr>Database Schema </vt:lpstr>
      <vt:lpstr>Mapping Spreadsheet Columns to Database Schema</vt:lpstr>
      <vt:lpstr>Development Strategy</vt:lpstr>
      <vt:lpstr>Development Status</vt:lpstr>
      <vt:lpstr>Transition Process</vt:lpstr>
      <vt:lpstr>Key Concept</vt:lpstr>
      <vt:lpstr>Database Requirements</vt:lpstr>
      <vt:lpstr>NocoDB Features</vt:lpstr>
      <vt:lpstr>Role-Based Data Access Permissions</vt:lpstr>
      <vt:lpstr>Revision History for All Data Changes</vt:lpstr>
      <vt:lpstr>Per-Record Commenting</vt:lpstr>
      <vt:lpstr>Initial Experiment with DAHEO</vt:lpstr>
      <vt:lpstr>Pages Table</vt:lpstr>
      <vt:lpstr>Documents Table</vt:lpstr>
      <vt:lpstr>'Kanban” View of Pages table</vt:lpstr>
      <vt:lpstr>Gallery View for Content Checkers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Jon Brandt</dc:creator>
  <cp:lastModifiedBy>Jon Brandt</cp:lastModifiedBy>
  <cp:revision>32</cp:revision>
  <dcterms:created xsi:type="dcterms:W3CDTF">2025-09-28T01:29:04Z</dcterms:created>
  <dcterms:modified xsi:type="dcterms:W3CDTF">2026-04-04T13:56:16Z</dcterms:modified>
</cp:coreProperties>
</file>