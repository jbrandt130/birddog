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80" r:id="rId2"/>
    <p:sldId id="293" r:id="rId3"/>
    <p:sldId id="281" r:id="rId4"/>
    <p:sldId id="317" r:id="rId5"/>
    <p:sldId id="316" r:id="rId6"/>
    <p:sldId id="297" r:id="rId7"/>
    <p:sldId id="311" r:id="rId8"/>
    <p:sldId id="312" r:id="rId9"/>
    <p:sldId id="313" r:id="rId10"/>
    <p:sldId id="314" r:id="rId11"/>
    <p:sldId id="315" r:id="rId12"/>
    <p:sldId id="30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8E8"/>
    <a:srgbClr val="383B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55"/>
    <p:restoredTop sz="94375"/>
  </p:normalViewPr>
  <p:slideViewPr>
    <p:cSldViewPr snapToGrid="0">
      <p:cViewPr varScale="1">
        <p:scale>
          <a:sx n="148" d="100"/>
          <a:sy n="148" d="100"/>
        </p:scale>
        <p:origin x="208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F52770-A8DF-4191-9037-FC6DF55D155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77BDA43-DD43-498E-9402-A9AE8AFB4171}">
      <dgm:prSet/>
      <dgm:spPr/>
      <dgm:t>
        <a:bodyPr/>
        <a:lstStyle/>
        <a:p>
          <a:r>
            <a:rPr lang="en-US"/>
            <a:t>In August, JewishGen agreed to basic funding for the Database (~$5,000/year).</a:t>
          </a:r>
        </a:p>
      </dgm:t>
    </dgm:pt>
    <dgm:pt modelId="{784F5005-C426-471B-A893-239350CD8638}" type="parTrans" cxnId="{93160FD8-FBB1-4077-8996-22E23C2AE586}">
      <dgm:prSet/>
      <dgm:spPr/>
      <dgm:t>
        <a:bodyPr/>
        <a:lstStyle/>
        <a:p>
          <a:endParaRPr lang="en-US"/>
        </a:p>
      </dgm:t>
    </dgm:pt>
    <dgm:pt modelId="{95B219C1-BF9A-4EBB-95A9-ED58BEB04136}" type="sibTrans" cxnId="{93160FD8-FBB1-4077-8996-22E23C2AE586}">
      <dgm:prSet/>
      <dgm:spPr/>
      <dgm:t>
        <a:bodyPr/>
        <a:lstStyle/>
        <a:p>
          <a:endParaRPr lang="en-US"/>
        </a:p>
      </dgm:t>
    </dgm:pt>
    <dgm:pt modelId="{E93D4E2F-DF05-407F-9B93-567627AF6927}">
      <dgm:prSet/>
      <dgm:spPr/>
      <dgm:t>
        <a:bodyPr/>
        <a:lstStyle/>
        <a:p>
          <a:r>
            <a:rPr lang="en-US" dirty="0"/>
            <a:t>Up to 1 million records.</a:t>
          </a:r>
        </a:p>
      </dgm:t>
    </dgm:pt>
    <dgm:pt modelId="{D1086982-E5F8-444A-B2D6-94398664F2F3}" type="parTrans" cxnId="{7556D497-21E5-4D41-9D18-A5602ABAA45E}">
      <dgm:prSet/>
      <dgm:spPr/>
      <dgm:t>
        <a:bodyPr/>
        <a:lstStyle/>
        <a:p>
          <a:endParaRPr lang="en-US"/>
        </a:p>
      </dgm:t>
    </dgm:pt>
    <dgm:pt modelId="{6DE94388-7EAE-40F4-B248-3ABD4C868B38}" type="sibTrans" cxnId="{7556D497-21E5-4D41-9D18-A5602ABAA45E}">
      <dgm:prSet/>
      <dgm:spPr/>
      <dgm:t>
        <a:bodyPr/>
        <a:lstStyle/>
        <a:p>
          <a:endParaRPr lang="en-US"/>
        </a:p>
      </dgm:t>
    </dgm:pt>
    <dgm:pt modelId="{14ECE198-AF48-49E0-ADC4-A12A63DC7039}">
      <dgm:prSet/>
      <dgm:spPr/>
      <dgm:t>
        <a:bodyPr/>
        <a:lstStyle/>
        <a:p>
          <a:r>
            <a:rPr lang="en-US" b="1" u="none" dirty="0"/>
            <a:t>Four</a:t>
          </a:r>
          <a:r>
            <a:rPr lang="en-US" dirty="0"/>
            <a:t> paid “editing” licenses.</a:t>
          </a:r>
        </a:p>
      </dgm:t>
    </dgm:pt>
    <dgm:pt modelId="{48F85B1E-8EDB-4409-8675-7931AB793440}" type="parTrans" cxnId="{E44126FB-C060-40D0-8FB6-D9CB41DF36A0}">
      <dgm:prSet/>
      <dgm:spPr/>
      <dgm:t>
        <a:bodyPr/>
        <a:lstStyle/>
        <a:p>
          <a:endParaRPr lang="en-US"/>
        </a:p>
      </dgm:t>
    </dgm:pt>
    <dgm:pt modelId="{4568DE99-D6D3-41D8-9D7E-E7DDDD9348E8}" type="sibTrans" cxnId="{E44126FB-C060-40D0-8FB6-D9CB41DF36A0}">
      <dgm:prSet/>
      <dgm:spPr/>
      <dgm:t>
        <a:bodyPr/>
        <a:lstStyle/>
        <a:p>
          <a:endParaRPr lang="en-US"/>
        </a:p>
      </dgm:t>
    </dgm:pt>
    <dgm:pt modelId="{0E36DF30-233E-47D6-9935-1C319C6B6DCE}">
      <dgm:prSet/>
      <dgm:spPr/>
      <dgm:t>
        <a:bodyPr/>
        <a:lstStyle/>
        <a:p>
          <a:r>
            <a:rPr lang="en-US"/>
            <a:t>Unlimited “view-only” licenses.</a:t>
          </a:r>
        </a:p>
      </dgm:t>
    </dgm:pt>
    <dgm:pt modelId="{586BE2C8-A900-474B-8383-2B9FE2ACA9A3}" type="parTrans" cxnId="{690AE2DA-1E45-4E21-908F-142F54071B6A}">
      <dgm:prSet/>
      <dgm:spPr/>
      <dgm:t>
        <a:bodyPr/>
        <a:lstStyle/>
        <a:p>
          <a:endParaRPr lang="en-US"/>
        </a:p>
      </dgm:t>
    </dgm:pt>
    <dgm:pt modelId="{BF74A873-8BFF-443F-86CC-7A0D531EF550}" type="sibTrans" cxnId="{690AE2DA-1E45-4E21-908F-142F54071B6A}">
      <dgm:prSet/>
      <dgm:spPr/>
      <dgm:t>
        <a:bodyPr/>
        <a:lstStyle/>
        <a:p>
          <a:endParaRPr lang="en-US"/>
        </a:p>
      </dgm:t>
    </dgm:pt>
    <dgm:pt modelId="{A0804301-0336-B146-A788-F2DE18C62045}" type="pres">
      <dgm:prSet presAssocID="{FDF52770-A8DF-4191-9037-FC6DF55D155B}" presName="linear" presStyleCnt="0">
        <dgm:presLayoutVars>
          <dgm:animLvl val="lvl"/>
          <dgm:resizeHandles val="exact"/>
        </dgm:presLayoutVars>
      </dgm:prSet>
      <dgm:spPr/>
    </dgm:pt>
    <dgm:pt modelId="{98918C6E-CD63-8D46-AE0E-12190D2E2046}" type="pres">
      <dgm:prSet presAssocID="{A77BDA43-DD43-498E-9402-A9AE8AFB4171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40E304AF-6C5B-FC46-A0DD-A9E37E4736FA}" type="pres">
      <dgm:prSet presAssocID="{A77BDA43-DD43-498E-9402-A9AE8AFB4171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36056A1D-FFD2-2841-AE5E-1E33CA62EA37}" type="presOf" srcId="{FDF52770-A8DF-4191-9037-FC6DF55D155B}" destId="{A0804301-0336-B146-A788-F2DE18C62045}" srcOrd="0" destOrd="0" presId="urn:microsoft.com/office/officeart/2005/8/layout/vList2"/>
    <dgm:cxn modelId="{7556D497-21E5-4D41-9D18-A5602ABAA45E}" srcId="{A77BDA43-DD43-498E-9402-A9AE8AFB4171}" destId="{E93D4E2F-DF05-407F-9B93-567627AF6927}" srcOrd="0" destOrd="0" parTransId="{D1086982-E5F8-444A-B2D6-94398664F2F3}" sibTransId="{6DE94388-7EAE-40F4-B248-3ABD4C868B38}"/>
    <dgm:cxn modelId="{204B14A7-5AEA-F049-AF1C-22BE2B9D43FF}" type="presOf" srcId="{14ECE198-AF48-49E0-ADC4-A12A63DC7039}" destId="{40E304AF-6C5B-FC46-A0DD-A9E37E4736FA}" srcOrd="0" destOrd="1" presId="urn:microsoft.com/office/officeart/2005/8/layout/vList2"/>
    <dgm:cxn modelId="{6B59E7CD-B566-444C-8E74-08E463240C14}" type="presOf" srcId="{A77BDA43-DD43-498E-9402-A9AE8AFB4171}" destId="{98918C6E-CD63-8D46-AE0E-12190D2E2046}" srcOrd="0" destOrd="0" presId="urn:microsoft.com/office/officeart/2005/8/layout/vList2"/>
    <dgm:cxn modelId="{93160FD8-FBB1-4077-8996-22E23C2AE586}" srcId="{FDF52770-A8DF-4191-9037-FC6DF55D155B}" destId="{A77BDA43-DD43-498E-9402-A9AE8AFB4171}" srcOrd="0" destOrd="0" parTransId="{784F5005-C426-471B-A893-239350CD8638}" sibTransId="{95B219C1-BF9A-4EBB-95A9-ED58BEB04136}"/>
    <dgm:cxn modelId="{690AE2DA-1E45-4E21-908F-142F54071B6A}" srcId="{A77BDA43-DD43-498E-9402-A9AE8AFB4171}" destId="{0E36DF30-233E-47D6-9935-1C319C6B6DCE}" srcOrd="2" destOrd="0" parTransId="{586BE2C8-A900-474B-8383-2B9FE2ACA9A3}" sibTransId="{BF74A873-8BFF-443F-86CC-7A0D531EF550}"/>
    <dgm:cxn modelId="{B3380DF3-FA42-364F-91BB-D3016B5038EB}" type="presOf" srcId="{0E36DF30-233E-47D6-9935-1C319C6B6DCE}" destId="{40E304AF-6C5B-FC46-A0DD-A9E37E4736FA}" srcOrd="0" destOrd="2" presId="urn:microsoft.com/office/officeart/2005/8/layout/vList2"/>
    <dgm:cxn modelId="{3D2384F3-C6A3-DD4F-A074-284EFB8DFA25}" type="presOf" srcId="{E93D4E2F-DF05-407F-9B93-567627AF6927}" destId="{40E304AF-6C5B-FC46-A0DD-A9E37E4736FA}" srcOrd="0" destOrd="0" presId="urn:microsoft.com/office/officeart/2005/8/layout/vList2"/>
    <dgm:cxn modelId="{E44126FB-C060-40D0-8FB6-D9CB41DF36A0}" srcId="{A77BDA43-DD43-498E-9402-A9AE8AFB4171}" destId="{14ECE198-AF48-49E0-ADC4-A12A63DC7039}" srcOrd="1" destOrd="0" parTransId="{48F85B1E-8EDB-4409-8675-7931AB793440}" sibTransId="{4568DE99-D6D3-41D8-9D7E-E7DDDD9348E8}"/>
    <dgm:cxn modelId="{1A7C9109-4D21-6842-85D6-CF60B5D50B15}" type="presParOf" srcId="{A0804301-0336-B146-A788-F2DE18C62045}" destId="{98918C6E-CD63-8D46-AE0E-12190D2E2046}" srcOrd="0" destOrd="0" presId="urn:microsoft.com/office/officeart/2005/8/layout/vList2"/>
    <dgm:cxn modelId="{40406973-2FF0-D044-98E1-348201BA6562}" type="presParOf" srcId="{A0804301-0336-B146-A788-F2DE18C62045}" destId="{40E304AF-6C5B-FC46-A0DD-A9E37E4736FA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918C6E-CD63-8D46-AE0E-12190D2E2046}">
      <dsp:nvSpPr>
        <dsp:cNvPr id="0" name=""/>
        <dsp:cNvSpPr/>
      </dsp:nvSpPr>
      <dsp:spPr>
        <a:xfrm>
          <a:off x="0" y="177855"/>
          <a:ext cx="10479600" cy="5896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 August, JewishGen agreed to basic funding for the Database (~$5,000/year).</a:t>
          </a:r>
        </a:p>
      </dsp:txBody>
      <dsp:txXfrm>
        <a:off x="28786" y="206641"/>
        <a:ext cx="10422028" cy="532107"/>
      </dsp:txXfrm>
    </dsp:sp>
    <dsp:sp modelId="{40E304AF-6C5B-FC46-A0DD-A9E37E4736FA}">
      <dsp:nvSpPr>
        <dsp:cNvPr id="0" name=""/>
        <dsp:cNvSpPr/>
      </dsp:nvSpPr>
      <dsp:spPr>
        <a:xfrm>
          <a:off x="0" y="767535"/>
          <a:ext cx="10479600" cy="993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2727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Up to 1 million records.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1" u="none" kern="1200" dirty="0"/>
            <a:t>Four</a:t>
          </a:r>
          <a:r>
            <a:rPr lang="en-US" sz="1900" kern="1200" dirty="0"/>
            <a:t> paid “editing” licenses.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Unlimited “view-only” licenses.</a:t>
          </a:r>
        </a:p>
      </dsp:txBody>
      <dsp:txXfrm>
        <a:off x="0" y="767535"/>
        <a:ext cx="10479600" cy="9936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824592-18D4-1E40-83A5-612DC83F068C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122F6B-794B-FB47-A697-4796376EE9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168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9C451-E130-F795-F360-4A2DF96834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806226-9F54-415E-7A95-1B908D383C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C75C7-3BEB-9ECB-2F00-0F82F16A8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195B4-490A-42F6-F2CA-898163E16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FD4BC-A6A2-9DFA-8A5B-E575B4A0C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467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6C3F0-A82B-BE87-4224-6559FDD8A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13B6A-47B7-FD4D-0B6B-D1946881D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68513-410D-5C52-86FC-4A0A0D31E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4412E-0EB1-FA7E-8864-A371D5ABE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4FDBE-1437-1D93-0695-31DAFB00B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382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60406-A648-96CF-E16B-3C1782FED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EB216-0BAF-A0EA-CC45-B15B4FECA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274F6-6338-9158-5AB1-40FC46623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039D0-45ED-3ED9-ADA3-2FCCA6F55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75588-0B19-84FF-C670-DA64C03CE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910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1C023-7737-59F7-4A2A-4DCDAD9CF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192D3-7CD0-F163-A348-A0A9BFD770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F70A68-4BB0-7679-C97E-83A8DAD372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58ED4B-4F03-03AA-7C20-8D2AFE540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EC6F2-894E-E031-3191-C4373C639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12FD71-B51A-22CF-2853-496FB1EE1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377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39D36-6872-B233-6D53-785F79E62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F843D9-7B6C-CDC1-7672-B80632151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F7A8B4-7F17-4F3F-016E-F25D5A968B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F64A36-C85D-4FB1-0C83-11DB395350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8B4ABA-8CB6-9FEA-EE5B-DDA28B04E9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172189-7CCC-B7C5-37DF-C81446C9C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4A1169-A036-D242-3F50-12705C634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E28561-DEFD-0598-4A59-D08503A18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496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76B1E-2478-CF1C-EA63-E77C973EC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DC5498-97BB-6487-F2A6-B271C85A5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FBB946-243E-65CF-C437-4B28ED1A5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297B63-90DD-80F4-14F1-80E0CDBD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675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869ED7-6909-2A07-9759-4161232D7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992CA8-4580-0EA6-0549-0BFA10E16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1FE23-1C72-70E3-9BAD-06892D8D5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045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A3C22-97DD-79BF-11EE-08327EEB6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C071D-CABD-62EF-7580-8D20D4C4A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C84A57-487B-1A9F-AB05-5D471A4059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463006-06A2-DF55-00F7-B0F5829A4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350BF2-8EBD-28A2-ECBA-A7AB796BB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BAC47C-7006-0F47-F739-252E95B02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324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D42CD-7CE1-CA2D-D03B-1DF123D81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D1F329-71F0-0347-3AED-349D2E506A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7A3FCC-C614-1E47-F50B-910CB4C637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0C24FC-DF9E-1531-5659-2C60A8864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AAABAD-1115-1971-FE97-5D0C12BFD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5FA0-2B64-D346-A484-45AC5BEE2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133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1C9A9-D86F-8C94-E988-6CA20A7F1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181A7D-5769-AEAC-A08D-A80F5C54C2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9B7EF-E212-1FC3-D119-4E8F28612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A401F-9BF7-26BA-E336-20D1C52E0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9BCCF-0C08-8C48-9298-6CB1B4FD6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573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4EA036-C597-DA22-045A-C300AAFEBF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7D0C75-A66E-4E8E-829B-D533A9918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42942-A67E-9413-ED3A-B5D6134DB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9E362-12F4-3C53-803C-40A08DF6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5246E-C416-B91A-78BE-54EE6A80C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112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50B139-5D97-E4D8-57EC-88A0F5BCC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17F61F-EC13-6DBC-F7E7-7BC1092B6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F983E-D44D-E8D6-E70F-2C742CA30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6B8F1D-DD19-6141-88EB-5503D68369BF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737BD-B89C-A95E-63CC-42D223C0E4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A61A4-4296-D76E-AD9A-957350309F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6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F2432-E36D-E2DB-B99C-FF9BCF3860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5062622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 dirty="0">
                <a:solidFill>
                  <a:schemeClr val="tx2"/>
                </a:solidFill>
              </a:rPr>
              <a:t>URD Database Project</a:t>
            </a:r>
            <a:br>
              <a:rPr lang="en-US" sz="4000" dirty="0">
                <a:solidFill>
                  <a:schemeClr val="tx2"/>
                </a:solidFill>
              </a:rPr>
            </a:br>
            <a:r>
              <a:rPr lang="en-US" sz="4000" b="1" i="1" dirty="0">
                <a:solidFill>
                  <a:schemeClr val="accent2">
                    <a:lumMod val="75000"/>
                  </a:schemeClr>
                </a:solidFill>
              </a:rPr>
              <a:t>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FE28C4-1B4D-D171-0105-9A8A309177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October 11, 2026</a:t>
            </a:r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1F2B7498-209B-7502-FB1E-32F3750DD6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6445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FE98F6-2CCC-0493-5C86-A30EA0FCBC30}"/>
              </a:ext>
            </a:extLst>
          </p:cNvPr>
          <p:cNvSpPr txBox="1"/>
          <p:nvPr/>
        </p:nvSpPr>
        <p:spPr>
          <a:xfrm>
            <a:off x="0" y="123197"/>
            <a:ext cx="12191999" cy="1024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Goal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 Replace Spreadsheets with a </a:t>
            </a: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Unified Database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92C415-EEF8-E440-10F4-C34ECF6075F9}"/>
              </a:ext>
            </a:extLst>
          </p:cNvPr>
          <p:cNvSpPr txBox="1"/>
          <p:nvPr/>
        </p:nvSpPr>
        <p:spPr>
          <a:xfrm>
            <a:off x="232419" y="2567727"/>
            <a:ext cx="3384238" cy="271912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171450">
              <a:lnSpc>
                <a:spcPct val="170000"/>
              </a:lnSpc>
              <a:spcAft>
                <a:spcPts val="600"/>
              </a:spcAft>
            </a:pPr>
            <a:r>
              <a:rPr lang="en-US" sz="2400" b="1" dirty="0"/>
              <a:t>Scales with project needs</a:t>
            </a:r>
          </a:p>
          <a:p>
            <a:pPr marL="171450">
              <a:lnSpc>
                <a:spcPct val="170000"/>
              </a:lnSpc>
              <a:spcAft>
                <a:spcPts val="600"/>
              </a:spcAft>
            </a:pPr>
            <a:r>
              <a:rPr lang="en-US" sz="2400" b="1" dirty="0"/>
              <a:t>Resilient to errors</a:t>
            </a:r>
            <a:endParaRPr lang="en-US" sz="2400" dirty="0"/>
          </a:p>
          <a:p>
            <a:pPr marL="171450">
              <a:lnSpc>
                <a:spcPct val="170000"/>
              </a:lnSpc>
              <a:spcAft>
                <a:spcPts val="600"/>
              </a:spcAft>
            </a:pPr>
            <a:r>
              <a:rPr lang="en-US" sz="2400" b="1" dirty="0"/>
              <a:t>Streamline workflows</a:t>
            </a:r>
            <a:endParaRPr lang="en-US" sz="2400" dirty="0"/>
          </a:p>
          <a:p>
            <a:pPr marL="171450">
              <a:lnSpc>
                <a:spcPct val="170000"/>
              </a:lnSpc>
              <a:spcAft>
                <a:spcPts val="600"/>
              </a:spcAft>
            </a:pPr>
            <a:r>
              <a:rPr lang="en-US" sz="2400" b="1" dirty="0"/>
              <a:t>Enables automation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B06E576-070A-B9B0-3E36-684D0CB80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8128" y="1657338"/>
            <a:ext cx="7772400" cy="45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372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F8283A-E5EE-9C28-74FF-F36CCC23C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Candidate Database Platform: </a:t>
            </a:r>
            <a:r>
              <a:rPr lang="en-US" sz="2800" b="1" kern="1200" dirty="0" err="1">
                <a:solidFill>
                  <a:srgbClr val="383BCB"/>
                </a:solidFill>
                <a:latin typeface="+mj-lt"/>
                <a:ea typeface="+mj-ea"/>
                <a:cs typeface="+mj-cs"/>
              </a:rPr>
              <a:t>NocoDB</a:t>
            </a:r>
            <a:endParaRPr lang="en-US" sz="2800" b="1" kern="1200" dirty="0">
              <a:solidFill>
                <a:srgbClr val="383BCB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AEE8B5-E666-0207-6437-0A5F23362B5E}"/>
              </a:ext>
            </a:extLst>
          </p:cNvPr>
          <p:cNvSpPr txBox="1"/>
          <p:nvPr/>
        </p:nvSpPr>
        <p:spPr>
          <a:xfrm>
            <a:off x="371094" y="2718054"/>
            <a:ext cx="3438906" cy="3207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Low cost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Easy to learn (like </a:t>
            </a:r>
            <a:r>
              <a:rPr lang="en-US" sz="1700" dirty="0" err="1"/>
              <a:t>AirTable</a:t>
            </a:r>
            <a:r>
              <a:rPr lang="en-US" sz="1700" dirty="0"/>
              <a:t>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Opensource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Open database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Available as hosted solution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Can be self-hosted too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8801B8-8BF9-C0FB-6FB8-E76DF4400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1826663"/>
            <a:ext cx="6922008" cy="33052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3007A52-3A45-21E3-3235-724EF0EFFE87}"/>
              </a:ext>
            </a:extLst>
          </p:cNvPr>
          <p:cNvSpPr txBox="1"/>
          <p:nvPr/>
        </p:nvSpPr>
        <p:spPr>
          <a:xfrm>
            <a:off x="6653501" y="5512326"/>
            <a:ext cx="3417374" cy="482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https://</a:t>
            </a:r>
            <a:r>
              <a:rPr lang="en-US" sz="2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nocodb.com</a:t>
            </a:r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025910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974BAB-CD9C-F9E4-615F-647C6C2C6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EA6DBB4-C735-38A5-2B92-4C79A5B7EC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B28223-38EA-E514-575B-25D98E7A587A}"/>
              </a:ext>
            </a:extLst>
          </p:cNvPr>
          <p:cNvSpPr txBox="1"/>
          <p:nvPr/>
        </p:nvSpPr>
        <p:spPr>
          <a:xfrm>
            <a:off x="0" y="123197"/>
            <a:ext cx="12191999" cy="1024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latin typeface="+mj-lt"/>
                <a:ea typeface="+mj-ea"/>
                <a:cs typeface="+mj-cs"/>
              </a:rPr>
              <a:t>Birddog and the Database</a:t>
            </a: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2F1747-9C65-93E5-646E-B0AFCF4E0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1049" y="1804728"/>
            <a:ext cx="2054803" cy="16242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B91F3D8-1652-192F-464A-71BEA0A48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1448" y="3953847"/>
            <a:ext cx="1633662" cy="1624272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99FC4B8-7754-F316-629C-A0F5E62F34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837" y="3953847"/>
            <a:ext cx="3047754" cy="18204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278575-55A9-717A-CEB5-62B6A90D1823}"/>
              </a:ext>
            </a:extLst>
          </p:cNvPr>
          <p:cNvSpPr txBox="1"/>
          <p:nvPr/>
        </p:nvSpPr>
        <p:spPr>
          <a:xfrm>
            <a:off x="1101945" y="5835189"/>
            <a:ext cx="2038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uk.wikisource.org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1D6D7F-577E-2CC6-C899-DB2F72173E95}"/>
              </a:ext>
            </a:extLst>
          </p:cNvPr>
          <p:cNvSpPr txBox="1"/>
          <p:nvPr/>
        </p:nvSpPr>
        <p:spPr>
          <a:xfrm>
            <a:off x="5298894" y="1373428"/>
            <a:ext cx="1919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Birddog web app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447D9B-3A4C-3B7E-4206-58D5500E7E72}"/>
              </a:ext>
            </a:extLst>
          </p:cNvPr>
          <p:cNvSpPr txBox="1"/>
          <p:nvPr/>
        </p:nvSpPr>
        <p:spPr>
          <a:xfrm>
            <a:off x="8807622" y="5699010"/>
            <a:ext cx="2064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Nocodb</a:t>
            </a:r>
            <a:r>
              <a:rPr lang="en-US" b="1" dirty="0"/>
              <a:t> Database</a:t>
            </a:r>
          </a:p>
        </p:txBody>
      </p:sp>
      <p:sp>
        <p:nvSpPr>
          <p:cNvPr id="10" name="Left-Right Arrow 9">
            <a:extLst>
              <a:ext uri="{FF2B5EF4-FFF2-40B4-BE49-F238E27FC236}">
                <a16:creationId xmlns:a16="http://schemas.microsoft.com/office/drawing/2014/main" id="{78AEA63F-72EE-4C82-90E2-23CCF5ED3DAE}"/>
              </a:ext>
            </a:extLst>
          </p:cNvPr>
          <p:cNvSpPr/>
          <p:nvPr/>
        </p:nvSpPr>
        <p:spPr>
          <a:xfrm rot="8838321">
            <a:off x="3970424" y="3394712"/>
            <a:ext cx="990600" cy="504825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Left-Right Arrow 12">
            <a:extLst>
              <a:ext uri="{FF2B5EF4-FFF2-40B4-BE49-F238E27FC236}">
                <a16:creationId xmlns:a16="http://schemas.microsoft.com/office/drawing/2014/main" id="{A55D3731-1AA9-E9F5-B911-F690D2EF3D94}"/>
              </a:ext>
            </a:extLst>
          </p:cNvPr>
          <p:cNvSpPr/>
          <p:nvPr/>
        </p:nvSpPr>
        <p:spPr>
          <a:xfrm rot="1714166">
            <a:off x="7558410" y="3429007"/>
            <a:ext cx="990600" cy="504825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059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68C13-595E-E976-D2FC-820EF0706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57297A2-2069-BF47-66DE-A055672BE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Funding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8C0F80-283D-D8A9-89FE-9F3FB4048DE0}"/>
              </a:ext>
            </a:extLst>
          </p:cNvPr>
          <p:cNvSpPr txBox="1"/>
          <p:nvPr/>
        </p:nvSpPr>
        <p:spPr>
          <a:xfrm>
            <a:off x="2035007" y="5180113"/>
            <a:ext cx="82388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sym typeface="Wingdings" pitchFamily="2" charset="2"/>
              </a:rPr>
              <a:t> This will require creating custom screens in Birddog to enable the URD workflow.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66B90E-047E-A3C1-46F5-AAFB6AAD7B43}"/>
              </a:ext>
            </a:extLst>
          </p:cNvPr>
          <p:cNvSpPr txBox="1"/>
          <p:nvPr/>
        </p:nvSpPr>
        <p:spPr>
          <a:xfrm>
            <a:off x="2035006" y="4642403"/>
            <a:ext cx="70318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Limited feature access due to limited funding.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B78998-81D6-814B-28C6-792E37E805C1}"/>
              </a:ext>
            </a:extLst>
          </p:cNvPr>
          <p:cNvSpPr/>
          <p:nvPr/>
        </p:nvSpPr>
        <p:spPr>
          <a:xfrm>
            <a:off x="1797400" y="4452927"/>
            <a:ext cx="8842248" cy="180105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TextBox 5">
            <a:extLst>
              <a:ext uri="{FF2B5EF4-FFF2-40B4-BE49-F238E27FC236}">
                <a16:creationId xmlns:a16="http://schemas.microsoft.com/office/drawing/2014/main" id="{3368B95D-BFCC-BF36-AECF-841BAF0B5C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7376551"/>
              </p:ext>
            </p:extLst>
          </p:nvPr>
        </p:nvGraphicFramePr>
        <p:xfrm>
          <a:off x="1206871" y="1806102"/>
          <a:ext cx="10479600" cy="19389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98120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406B0-4264-016B-C138-4CC8550E5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D25A624-5774-E5B9-A23D-6BEEC2E149C0}"/>
              </a:ext>
            </a:extLst>
          </p:cNvPr>
          <p:cNvSpPr/>
          <p:nvPr/>
        </p:nvSpPr>
        <p:spPr>
          <a:xfrm>
            <a:off x="7135660" y="444998"/>
            <a:ext cx="4739014" cy="221469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D1E399-DFC2-8F95-CE64-4A4FDD1A105F}"/>
              </a:ext>
            </a:extLst>
          </p:cNvPr>
          <p:cNvSpPr/>
          <p:nvPr/>
        </p:nvSpPr>
        <p:spPr>
          <a:xfrm>
            <a:off x="9540658" y="2659692"/>
            <a:ext cx="2334016" cy="20793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F7480B6F-F435-DC52-C61D-AE0AAF774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2954" y="1366757"/>
            <a:ext cx="615915" cy="486866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C1E70BA2-4B3B-2BAB-9238-2D1EE8E86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146" y="1470351"/>
            <a:ext cx="917016" cy="3514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70CAD1-8F19-41DD-7271-E04C2B0E6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 Status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4B00B3-2310-7E76-762F-042912F34E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0083" y="1251751"/>
            <a:ext cx="643977" cy="7129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7EB1D6-C84B-3796-4E2D-FE7237A88C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0588" y="3405443"/>
            <a:ext cx="482774" cy="479999"/>
          </a:xfrm>
          <a:prstGeom prst="rect">
            <a:avLst/>
          </a:prstGeom>
        </p:spPr>
      </p:pic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5C3DD66D-C60C-B008-DFBB-F7CEA34B593B}"/>
              </a:ext>
            </a:extLst>
          </p:cNvPr>
          <p:cNvCxnSpPr>
            <a:cxnSpLocks/>
            <a:stCxn id="41" idx="3"/>
            <a:endCxn id="5" idx="1"/>
          </p:cNvCxnSpPr>
          <p:nvPr/>
        </p:nvCxnSpPr>
        <p:spPr>
          <a:xfrm>
            <a:off x="9596862" y="1610190"/>
            <a:ext cx="903726" cy="2035253"/>
          </a:xfrm>
          <a:prstGeom prst="curvedConnector3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ABDC8674-2DF1-1317-4050-AF765D978662}"/>
              </a:ext>
            </a:extLst>
          </p:cNvPr>
          <p:cNvCxnSpPr>
            <a:cxnSpLocks/>
            <a:stCxn id="3" idx="2"/>
            <a:endCxn id="5" idx="0"/>
          </p:cNvCxnSpPr>
          <p:nvPr/>
        </p:nvCxnSpPr>
        <p:spPr>
          <a:xfrm rot="5400000">
            <a:off x="10026666" y="2680036"/>
            <a:ext cx="1440717" cy="10097"/>
          </a:xfrm>
          <a:prstGeom prst="curvedConnector3">
            <a:avLst>
              <a:gd name="adj1" fmla="val 50000"/>
            </a:avLst>
          </a:prstGeom>
          <a:ln>
            <a:solidFill>
              <a:schemeClr val="accent2">
                <a:lumMod val="7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6504EAFC-7499-2B4F-1279-72F01DD7D92D}"/>
              </a:ext>
            </a:extLst>
          </p:cNvPr>
          <p:cNvCxnSpPr>
            <a:cxnSpLocks/>
          </p:cNvCxnSpPr>
          <p:nvPr/>
        </p:nvCxnSpPr>
        <p:spPr>
          <a:xfrm flipV="1">
            <a:off x="8405162" y="1618519"/>
            <a:ext cx="559800" cy="4175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4FC8E7F-DA1B-37D3-1F3E-82D4032D0766}"/>
              </a:ext>
            </a:extLst>
          </p:cNvPr>
          <p:cNvSpPr txBox="1"/>
          <p:nvPr/>
        </p:nvSpPr>
        <p:spPr>
          <a:xfrm>
            <a:off x="7486282" y="1847012"/>
            <a:ext cx="9475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Wikisource</a:t>
            </a:r>
            <a:endParaRPr lang="en-US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48AC49B-18BA-CCAB-DCB4-F7BCD31818DB}"/>
              </a:ext>
            </a:extLst>
          </p:cNvPr>
          <p:cNvSpPr txBox="1"/>
          <p:nvPr/>
        </p:nvSpPr>
        <p:spPr>
          <a:xfrm>
            <a:off x="8932355" y="1873668"/>
            <a:ext cx="6971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Birddog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F1B82CE-3A28-2A9F-70CC-86373E232397}"/>
              </a:ext>
            </a:extLst>
          </p:cNvPr>
          <p:cNvSpPr txBox="1"/>
          <p:nvPr/>
        </p:nvSpPr>
        <p:spPr>
          <a:xfrm>
            <a:off x="10203781" y="974367"/>
            <a:ext cx="10680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Google Drive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19C8EA0-C31E-9A5E-35B7-7AC25113A5A2}"/>
              </a:ext>
            </a:extLst>
          </p:cNvPr>
          <p:cNvSpPr txBox="1"/>
          <p:nvPr/>
        </p:nvSpPr>
        <p:spPr>
          <a:xfrm>
            <a:off x="10332727" y="3896729"/>
            <a:ext cx="8270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Database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8A9B8ED-CD72-B2DF-F285-30D0618A5FC4}"/>
              </a:ext>
            </a:extLst>
          </p:cNvPr>
          <p:cNvSpPr txBox="1"/>
          <p:nvPr/>
        </p:nvSpPr>
        <p:spPr>
          <a:xfrm>
            <a:off x="10356388" y="2699630"/>
            <a:ext cx="894219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Snapshots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46944114-6791-D214-4C23-CC171FCDD27D}"/>
              </a:ext>
            </a:extLst>
          </p:cNvPr>
          <p:cNvSpPr/>
          <p:nvPr/>
        </p:nvSpPr>
        <p:spPr>
          <a:xfrm>
            <a:off x="7486282" y="1445120"/>
            <a:ext cx="929550" cy="401892"/>
          </a:xfrm>
          <a:prstGeom prst="roundRect">
            <a:avLst/>
          </a:prstGeom>
          <a:noFill/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7CC25971-295E-095A-CC32-98EAAC45331D}"/>
              </a:ext>
            </a:extLst>
          </p:cNvPr>
          <p:cNvSpPr/>
          <p:nvPr/>
        </p:nvSpPr>
        <p:spPr>
          <a:xfrm>
            <a:off x="8964962" y="1366756"/>
            <a:ext cx="631900" cy="486867"/>
          </a:xfrm>
          <a:prstGeom prst="roundRect">
            <a:avLst/>
          </a:prstGeom>
          <a:noFill/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73613C19-51C7-081C-71EA-6FD9C546214C}"/>
              </a:ext>
            </a:extLst>
          </p:cNvPr>
          <p:cNvSpPr/>
          <p:nvPr/>
        </p:nvSpPr>
        <p:spPr>
          <a:xfrm>
            <a:off x="10506999" y="3421754"/>
            <a:ext cx="469951" cy="463688"/>
          </a:xfrm>
          <a:prstGeom prst="roundRect">
            <a:avLst/>
          </a:prstGeom>
          <a:noFill/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04E58E81-CB20-CD7D-7498-1FF2BA535CE9}"/>
              </a:ext>
            </a:extLst>
          </p:cNvPr>
          <p:cNvSpPr/>
          <p:nvPr/>
        </p:nvSpPr>
        <p:spPr>
          <a:xfrm>
            <a:off x="10424555" y="1245745"/>
            <a:ext cx="643977" cy="719366"/>
          </a:xfrm>
          <a:prstGeom prst="roundRect">
            <a:avLst/>
          </a:prstGeom>
          <a:noFill/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30C465-A9C8-95E3-4F09-99AD8114718C}"/>
              </a:ext>
            </a:extLst>
          </p:cNvPr>
          <p:cNvSpPr txBox="1"/>
          <p:nvPr/>
        </p:nvSpPr>
        <p:spPr>
          <a:xfrm>
            <a:off x="7132672" y="453651"/>
            <a:ext cx="1571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Ongoing Work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7BC63C-6615-1B45-25D2-9600B9723004}"/>
              </a:ext>
            </a:extLst>
          </p:cNvPr>
          <p:cNvSpPr txBox="1"/>
          <p:nvPr/>
        </p:nvSpPr>
        <p:spPr>
          <a:xfrm>
            <a:off x="9597084" y="4400461"/>
            <a:ext cx="22775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Database Development</a:t>
            </a:r>
          </a:p>
        </p:txBody>
      </p:sp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B141C3B5-6520-77C0-6478-F5E2CD1DBD83}"/>
              </a:ext>
            </a:extLst>
          </p:cNvPr>
          <p:cNvCxnSpPr>
            <a:cxnSpLocks/>
            <a:stCxn id="41" idx="3"/>
            <a:endCxn id="3" idx="1"/>
          </p:cNvCxnSpPr>
          <p:nvPr/>
        </p:nvCxnSpPr>
        <p:spPr>
          <a:xfrm flipV="1">
            <a:off x="9596862" y="1608239"/>
            <a:ext cx="833221" cy="195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B301B7A-4C14-E82B-7831-6FA10CC6151A}"/>
              </a:ext>
            </a:extLst>
          </p:cNvPr>
          <p:cNvSpPr/>
          <p:nvPr/>
        </p:nvSpPr>
        <p:spPr>
          <a:xfrm>
            <a:off x="1208638" y="3075077"/>
            <a:ext cx="520313" cy="514895"/>
          </a:xfrm>
          <a:prstGeom prst="rect">
            <a:avLst/>
          </a:prstGeom>
          <a:noFill/>
          <a:ln w="571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3E84B0-6953-FE3E-88E8-86002AEF9DEC}"/>
              </a:ext>
            </a:extLst>
          </p:cNvPr>
          <p:cNvSpPr/>
          <p:nvPr/>
        </p:nvSpPr>
        <p:spPr>
          <a:xfrm>
            <a:off x="1208638" y="3875685"/>
            <a:ext cx="520313" cy="514895"/>
          </a:xfrm>
          <a:prstGeom prst="rect">
            <a:avLst/>
          </a:prstGeom>
          <a:noFill/>
          <a:ln w="571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C9CC97-C8B9-7EDF-4363-DC710D068EA5}"/>
              </a:ext>
            </a:extLst>
          </p:cNvPr>
          <p:cNvSpPr/>
          <p:nvPr/>
        </p:nvSpPr>
        <p:spPr>
          <a:xfrm>
            <a:off x="1208638" y="4676294"/>
            <a:ext cx="520313" cy="514895"/>
          </a:xfrm>
          <a:prstGeom prst="rect">
            <a:avLst/>
          </a:prstGeom>
          <a:noFill/>
          <a:ln w="571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B24CCA-ADA5-8963-3B37-75C1B232DB9B}"/>
              </a:ext>
            </a:extLst>
          </p:cNvPr>
          <p:cNvSpPr txBox="1"/>
          <p:nvPr/>
        </p:nvSpPr>
        <p:spPr>
          <a:xfrm>
            <a:off x="1996401" y="3960476"/>
            <a:ext cx="36355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Data import from spreadsheets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49B084-6858-D43A-D225-B6EF9C54C59A}"/>
              </a:ext>
            </a:extLst>
          </p:cNvPr>
          <p:cNvSpPr txBox="1"/>
          <p:nvPr/>
        </p:nvSpPr>
        <p:spPr>
          <a:xfrm>
            <a:off x="1996401" y="3121686"/>
            <a:ext cx="56673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Birddog Integration - automatic updates from Wiki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6DE1CA-1539-1120-5647-108503A343CE}"/>
              </a:ext>
            </a:extLst>
          </p:cNvPr>
          <p:cNvSpPr txBox="1"/>
          <p:nvPr/>
        </p:nvSpPr>
        <p:spPr>
          <a:xfrm>
            <a:off x="1996401" y="4725406"/>
            <a:ext cx="57334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Workflow development (views, roles, streamlining)</a:t>
            </a:r>
          </a:p>
        </p:txBody>
      </p:sp>
      <p:pic>
        <p:nvPicPr>
          <p:cNvPr id="23" name="Graphic 22" descr="Checkbox Checked with solid fill">
            <a:extLst>
              <a:ext uri="{FF2B5EF4-FFF2-40B4-BE49-F238E27FC236}">
                <a16:creationId xmlns:a16="http://schemas.microsoft.com/office/drawing/2014/main" id="{570121F7-C793-8292-5517-DA4C61D259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7241" y="2943157"/>
            <a:ext cx="777972" cy="777972"/>
          </a:xfrm>
          <a:prstGeom prst="rect">
            <a:avLst/>
          </a:prstGeom>
        </p:spPr>
      </p:pic>
      <p:pic>
        <p:nvPicPr>
          <p:cNvPr id="24" name="Graphic 23" descr="Checkbox Checked with solid fill">
            <a:extLst>
              <a:ext uri="{FF2B5EF4-FFF2-40B4-BE49-F238E27FC236}">
                <a16:creationId xmlns:a16="http://schemas.microsoft.com/office/drawing/2014/main" id="{6CD02740-3125-9E41-6255-8E302506E8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8963" y="3741579"/>
            <a:ext cx="777972" cy="77797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E953FA5-9C5E-15D4-49F7-9F6E51DD3465}"/>
              </a:ext>
            </a:extLst>
          </p:cNvPr>
          <p:cNvSpPr/>
          <p:nvPr/>
        </p:nvSpPr>
        <p:spPr>
          <a:xfrm>
            <a:off x="1208638" y="5387649"/>
            <a:ext cx="520313" cy="514895"/>
          </a:xfrm>
          <a:prstGeom prst="rect">
            <a:avLst/>
          </a:prstGeom>
          <a:noFill/>
          <a:ln w="571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21B2AE-652D-8B27-4C26-904CAA0BDFCB}"/>
              </a:ext>
            </a:extLst>
          </p:cNvPr>
          <p:cNvSpPr txBox="1"/>
          <p:nvPr/>
        </p:nvSpPr>
        <p:spPr>
          <a:xfrm>
            <a:off x="1996401" y="5436761"/>
            <a:ext cx="6017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Transition the URD process to the database platform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27EE90-A648-B738-B150-72930BACE5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0017" y="4717289"/>
            <a:ext cx="435446" cy="435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959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A44A9-05A1-D731-12FD-ED3D2E2B4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1AEA09D-9A81-D023-D949-15A4CAB73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Peek into the Database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7E5DCD-4673-3EB6-0E18-07489C5E2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0650" y="1838100"/>
            <a:ext cx="4330700" cy="3860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4F97F4A-F8AE-9E49-5781-D3BC7BA53B09}"/>
              </a:ext>
            </a:extLst>
          </p:cNvPr>
          <p:cNvSpPr/>
          <p:nvPr/>
        </p:nvSpPr>
        <p:spPr>
          <a:xfrm>
            <a:off x="4489938" y="3768500"/>
            <a:ext cx="1781908" cy="178823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299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541E4-ED85-213C-0478-7FEDF4EAF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377D651-1BCB-445B-638B-F2E1C581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Peek into the Database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234B76-19A8-DAA9-8923-B0437091C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191" y="1591212"/>
            <a:ext cx="3015359" cy="268818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3B4AD63-927F-9671-18FF-73A721011097}"/>
              </a:ext>
            </a:extLst>
          </p:cNvPr>
          <p:cNvSpPr/>
          <p:nvPr/>
        </p:nvSpPr>
        <p:spPr>
          <a:xfrm>
            <a:off x="1452528" y="2938169"/>
            <a:ext cx="1781908" cy="34465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FAC546-3377-8F1D-C6CB-3C839AD41D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1924" y="3429000"/>
            <a:ext cx="8750728" cy="3063875"/>
          </a:xfrm>
          <a:prstGeom prst="rect">
            <a:avLst/>
          </a:prstGeom>
          <a:ln w="28575">
            <a:solidFill>
              <a:srgbClr val="C00000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23AC51-A854-2A2A-AAA4-C7625382C796}"/>
              </a:ext>
            </a:extLst>
          </p:cNvPr>
          <p:cNvSpPr txBox="1"/>
          <p:nvPr/>
        </p:nvSpPr>
        <p:spPr>
          <a:xfrm>
            <a:off x="6787718" y="1591212"/>
            <a:ext cx="435409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Each row represents information from a wiki page.</a:t>
            </a:r>
          </a:p>
          <a:p>
            <a:pPr algn="ctr"/>
            <a:endParaRPr lang="en-US" sz="2400" b="1" dirty="0">
              <a:solidFill>
                <a:srgbClr val="C00000"/>
              </a:solidFill>
            </a:endParaRPr>
          </a:p>
          <a:p>
            <a:pPr algn="ctr"/>
            <a:r>
              <a:rPr lang="en-US" sz="2400" b="1" dirty="0">
                <a:solidFill>
                  <a:srgbClr val="C00000"/>
                </a:solidFill>
              </a:rPr>
              <a:t>~400,000 page records</a:t>
            </a:r>
          </a:p>
        </p:txBody>
      </p:sp>
    </p:spTree>
    <p:extLst>
      <p:ext uri="{BB962C8B-B14F-4D97-AF65-F5344CB8AC3E}">
        <p14:creationId xmlns:p14="http://schemas.microsoft.com/office/powerpoint/2010/main" val="2325740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5B1A2-5353-F0B4-9B74-E75EA7826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153E9D0-B047-2D77-BBDC-6E359540D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Peek into the Database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F1D8CC-567A-B0A8-ABC7-25F792BD5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191" y="1591212"/>
            <a:ext cx="3015359" cy="268818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80B9928-5EF5-8ABC-482E-09F0AD5687E4}"/>
              </a:ext>
            </a:extLst>
          </p:cNvPr>
          <p:cNvSpPr/>
          <p:nvPr/>
        </p:nvSpPr>
        <p:spPr>
          <a:xfrm>
            <a:off x="1461728" y="3229239"/>
            <a:ext cx="1781908" cy="34465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ADC403-0016-1743-3DCD-6AED86DDEC26}"/>
              </a:ext>
            </a:extLst>
          </p:cNvPr>
          <p:cNvSpPr txBox="1"/>
          <p:nvPr/>
        </p:nvSpPr>
        <p:spPr>
          <a:xfrm>
            <a:off x="6463439" y="1210344"/>
            <a:ext cx="504580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Each row represents information about a document (usually PDF).</a:t>
            </a:r>
          </a:p>
          <a:p>
            <a:pPr algn="ctr"/>
            <a:endParaRPr lang="en-US" sz="2400" b="1" dirty="0">
              <a:solidFill>
                <a:srgbClr val="C00000"/>
              </a:solidFill>
            </a:endParaRPr>
          </a:p>
          <a:p>
            <a:pPr algn="ctr"/>
            <a:r>
              <a:rPr lang="en-US" sz="2400" b="1" dirty="0">
                <a:solidFill>
                  <a:srgbClr val="C00000"/>
                </a:solidFill>
              </a:rPr>
              <a:t>~175,000 document records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F45806-2B10-A98E-5477-3A567CA16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3024729"/>
            <a:ext cx="7165848" cy="3468146"/>
          </a:xfrm>
          <a:prstGeom prst="rect">
            <a:avLst/>
          </a:prstGeom>
          <a:ln w="28575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2952729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29B8D-3D4D-6D43-51DB-4FE69F9A3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9E3DAFF-88D7-C6BC-D55E-06594D3E4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Peek into the Database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E41CB3-904D-B6FE-D3D6-257FC8D4F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191" y="1591212"/>
            <a:ext cx="3015359" cy="268818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8C2344A-60C5-2C92-D5EA-72EA5FAC2F96}"/>
              </a:ext>
            </a:extLst>
          </p:cNvPr>
          <p:cNvSpPr/>
          <p:nvPr/>
        </p:nvSpPr>
        <p:spPr>
          <a:xfrm>
            <a:off x="1461728" y="3530991"/>
            <a:ext cx="1781908" cy="34465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DAF58D-20E5-0BB2-48F7-01C1DCBA0813}"/>
              </a:ext>
            </a:extLst>
          </p:cNvPr>
          <p:cNvSpPr txBox="1"/>
          <p:nvPr/>
        </p:nvSpPr>
        <p:spPr>
          <a:xfrm>
            <a:off x="6096000" y="1591212"/>
            <a:ext cx="50458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Each row represents an uploaded documented on the FTP site.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A3BA1D-81F3-6CAB-AD49-AEDCEF3C2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550" y="2708422"/>
            <a:ext cx="7772400" cy="3866749"/>
          </a:xfrm>
          <a:prstGeom prst="rect">
            <a:avLst/>
          </a:prstGeom>
          <a:ln w="28575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1486685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AF60D-34A1-AE8E-F44E-2CF9F4083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F90F0DB-1EF3-080F-AC6C-27C53A127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Peek into the Database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119D2F-6E9B-B365-57BD-BB07F8934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191" y="1591212"/>
            <a:ext cx="3015359" cy="268818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81FBC28-ED24-A60C-3E8A-9F52E29720B5}"/>
              </a:ext>
            </a:extLst>
          </p:cNvPr>
          <p:cNvSpPr/>
          <p:nvPr/>
        </p:nvSpPr>
        <p:spPr>
          <a:xfrm>
            <a:off x="1452584" y="3796167"/>
            <a:ext cx="1781908" cy="34465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BF8C23-CD41-D082-C896-F54E0788A4EB}"/>
              </a:ext>
            </a:extLst>
          </p:cNvPr>
          <p:cNvSpPr txBox="1"/>
          <p:nvPr/>
        </p:nvSpPr>
        <p:spPr>
          <a:xfrm>
            <a:off x="5221224" y="1591212"/>
            <a:ext cx="59205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Each row represents a location in the </a:t>
            </a:r>
            <a:r>
              <a:rPr lang="en-US" sz="2400" b="1" dirty="0" err="1">
                <a:solidFill>
                  <a:srgbClr val="C00000"/>
                </a:solidFill>
              </a:rPr>
              <a:t>JewishGen</a:t>
            </a:r>
            <a:r>
              <a:rPr lang="en-US" sz="2400" b="1" dirty="0">
                <a:solidFill>
                  <a:srgbClr val="C00000"/>
                </a:solidFill>
              </a:rPr>
              <a:t> Communities database.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70ABF0-6D83-E4BF-4D7A-9906A8F1B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6885" y="3475586"/>
            <a:ext cx="8071017" cy="2688179"/>
          </a:xfrm>
          <a:prstGeom prst="rect">
            <a:avLst/>
          </a:prstGeom>
          <a:ln w="28575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1230420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87421-07B4-5258-9D9C-310A1DB7C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6AF6D76-EFD0-2DA4-6A44-523F8429A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BBDE7E-0C57-71E1-FC67-F6AC5C1A26E4}"/>
              </a:ext>
            </a:extLst>
          </p:cNvPr>
          <p:cNvSpPr txBox="1"/>
          <p:nvPr/>
        </p:nvSpPr>
        <p:spPr>
          <a:xfrm>
            <a:off x="1216015" y="2162718"/>
            <a:ext cx="39095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October-November: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1ABC05-A276-2FA4-A4F0-6A0EA3FA29E7}"/>
              </a:ext>
            </a:extLst>
          </p:cNvPr>
          <p:cNvSpPr txBox="1"/>
          <p:nvPr/>
        </p:nvSpPr>
        <p:spPr>
          <a:xfrm>
            <a:off x="1216014" y="3811533"/>
            <a:ext cx="38382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December-January: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4DCA38-0AEB-FA08-0A05-469762AC48FF}"/>
              </a:ext>
            </a:extLst>
          </p:cNvPr>
          <p:cNvSpPr txBox="1"/>
          <p:nvPr/>
        </p:nvSpPr>
        <p:spPr>
          <a:xfrm>
            <a:off x="2411896" y="2713419"/>
            <a:ext cx="47082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Adjustments and improvements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Workflow development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D08227-2DA8-B448-3F49-1D9D0888586B}"/>
              </a:ext>
            </a:extLst>
          </p:cNvPr>
          <p:cNvSpPr txBox="1"/>
          <p:nvPr/>
        </p:nvSpPr>
        <p:spPr>
          <a:xfrm>
            <a:off x="2411896" y="4373670"/>
            <a:ext cx="607967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Team transition to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Final import and freeze of all spreadsheets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94330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6859</TotalTime>
  <Words>264</Words>
  <Application>Microsoft Macintosh PowerPoint</Application>
  <PresentationFormat>Widescreen</PresentationFormat>
  <Paragraphs>58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Wingdings</vt:lpstr>
      <vt:lpstr>Office Theme</vt:lpstr>
      <vt:lpstr>URD Database Project Update</vt:lpstr>
      <vt:lpstr>PowerPoint Presentation</vt:lpstr>
      <vt:lpstr>Candidate Database Platform: NocoDB</vt:lpstr>
      <vt:lpstr>PowerPoint Presentation</vt:lpstr>
      <vt:lpstr>Funding</vt:lpstr>
      <vt:lpstr>Development Status</vt:lpstr>
      <vt:lpstr>Peek into the Database</vt:lpstr>
      <vt:lpstr>Peek into the Database</vt:lpstr>
      <vt:lpstr>Peek into the Database</vt:lpstr>
      <vt:lpstr>Peek into the Database</vt:lpstr>
      <vt:lpstr>Peek into the Database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 Brandt</dc:creator>
  <cp:lastModifiedBy>Jon Brandt</cp:lastModifiedBy>
  <cp:revision>67</cp:revision>
  <dcterms:created xsi:type="dcterms:W3CDTF">2025-09-28T01:29:04Z</dcterms:created>
  <dcterms:modified xsi:type="dcterms:W3CDTF">2026-10-11T13:53:30Z</dcterms:modified>
</cp:coreProperties>
</file>