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80" r:id="rId2"/>
    <p:sldId id="291" r:id="rId3"/>
    <p:sldId id="289" r:id="rId4"/>
    <p:sldId id="290" r:id="rId5"/>
    <p:sldId id="283" r:id="rId6"/>
    <p:sldId id="285" r:id="rId7"/>
    <p:sldId id="284" r:id="rId8"/>
    <p:sldId id="286" r:id="rId9"/>
    <p:sldId id="297" r:id="rId10"/>
    <p:sldId id="298" r:id="rId11"/>
    <p:sldId id="292" r:id="rId12"/>
    <p:sldId id="258" r:id="rId13"/>
    <p:sldId id="259" r:id="rId14"/>
    <p:sldId id="260" r:id="rId15"/>
    <p:sldId id="281" r:id="rId16"/>
    <p:sldId id="293" r:id="rId17"/>
    <p:sldId id="294" r:id="rId18"/>
    <p:sldId id="269" r:id="rId19"/>
    <p:sldId id="272" r:id="rId20"/>
    <p:sldId id="273" r:id="rId21"/>
    <p:sldId id="274" r:id="rId22"/>
    <p:sldId id="265" r:id="rId23"/>
    <p:sldId id="262" r:id="rId24"/>
    <p:sldId id="271" r:id="rId25"/>
    <p:sldId id="278" r:id="rId26"/>
    <p:sldId id="279" r:id="rId27"/>
    <p:sldId id="277" r:id="rId28"/>
    <p:sldId id="270" r:id="rId29"/>
    <p:sldId id="257" r:id="rId30"/>
    <p:sldId id="267" r:id="rId31"/>
    <p:sldId id="266" r:id="rId32"/>
    <p:sldId id="268" r:id="rId33"/>
    <p:sldId id="29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383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3"/>
    <p:restoredTop sz="94669"/>
  </p:normalViewPr>
  <p:slideViewPr>
    <p:cSldViewPr snapToGrid="0">
      <p:cViewPr varScale="1">
        <p:scale>
          <a:sx n="294" d="100"/>
          <a:sy n="294" d="100"/>
        </p:scale>
        <p:origin x="22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AE4FAE-FC00-4EB0-BC6F-242874B24A9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580D3DA-C2CF-4069-B4A0-E0829CCC7FC7}">
      <dgm:prSet/>
      <dgm:spPr/>
      <dgm:t>
        <a:bodyPr/>
        <a:lstStyle/>
        <a:p>
          <a:r>
            <a:rPr lang="en-US" dirty="0"/>
            <a:t>Low cost</a:t>
          </a:r>
        </a:p>
      </dgm:t>
    </dgm:pt>
    <dgm:pt modelId="{4E9EB7EA-C62F-44D4-88B9-49265617769D}" type="parTrans" cxnId="{00B84719-675D-48D2-8B4C-ECF5D48AE784}">
      <dgm:prSet/>
      <dgm:spPr/>
      <dgm:t>
        <a:bodyPr/>
        <a:lstStyle/>
        <a:p>
          <a:endParaRPr lang="en-US"/>
        </a:p>
      </dgm:t>
    </dgm:pt>
    <dgm:pt modelId="{0C426F35-3DF3-4E80-96F8-3F4767CF899F}" type="sibTrans" cxnId="{00B84719-675D-48D2-8B4C-ECF5D48AE784}">
      <dgm:prSet/>
      <dgm:spPr/>
      <dgm:t>
        <a:bodyPr/>
        <a:lstStyle/>
        <a:p>
          <a:endParaRPr lang="en-US"/>
        </a:p>
      </dgm:t>
    </dgm:pt>
    <dgm:pt modelId="{21FC33A9-E3AF-4E93-9AF4-DF60D1AE05B4}">
      <dgm:prSet/>
      <dgm:spPr/>
      <dgm:t>
        <a:bodyPr/>
        <a:lstStyle/>
        <a:p>
          <a:r>
            <a:rPr lang="en-US" dirty="0"/>
            <a:t>Multi-user</a:t>
          </a:r>
        </a:p>
      </dgm:t>
    </dgm:pt>
    <dgm:pt modelId="{3E6CBCB5-06A4-4524-BFAC-67FBC3375922}" type="parTrans" cxnId="{511A5D35-CCA2-4579-81AD-F8B22C2F025A}">
      <dgm:prSet/>
      <dgm:spPr/>
      <dgm:t>
        <a:bodyPr/>
        <a:lstStyle/>
        <a:p>
          <a:endParaRPr lang="en-US"/>
        </a:p>
      </dgm:t>
    </dgm:pt>
    <dgm:pt modelId="{A0BCBC19-F305-4261-AF6F-3D50FC547ECB}" type="sibTrans" cxnId="{511A5D35-CCA2-4579-81AD-F8B22C2F025A}">
      <dgm:prSet/>
      <dgm:spPr/>
      <dgm:t>
        <a:bodyPr/>
        <a:lstStyle/>
        <a:p>
          <a:endParaRPr lang="en-US"/>
        </a:p>
      </dgm:t>
    </dgm:pt>
    <dgm:pt modelId="{92A43039-45B7-4C28-A99B-EE92A796E56B}">
      <dgm:prSet/>
      <dgm:spPr/>
      <dgm:t>
        <a:bodyPr/>
        <a:lstStyle/>
        <a:p>
          <a:r>
            <a:rPr lang="en-US" dirty="0"/>
            <a:t>Easy learning curve</a:t>
          </a:r>
        </a:p>
      </dgm:t>
    </dgm:pt>
    <dgm:pt modelId="{2AEC10AC-FB3D-4657-A4DF-9A19B4B2885D}" type="parTrans" cxnId="{0AB144B9-0F7C-4A60-AB52-CEF7BDCEB6A8}">
      <dgm:prSet/>
      <dgm:spPr/>
      <dgm:t>
        <a:bodyPr/>
        <a:lstStyle/>
        <a:p>
          <a:endParaRPr lang="en-US"/>
        </a:p>
      </dgm:t>
    </dgm:pt>
    <dgm:pt modelId="{3EF49942-AB3F-4015-ACFC-219F7BAD8570}" type="sibTrans" cxnId="{0AB144B9-0F7C-4A60-AB52-CEF7BDCEB6A8}">
      <dgm:prSet/>
      <dgm:spPr/>
      <dgm:t>
        <a:bodyPr/>
        <a:lstStyle/>
        <a:p>
          <a:endParaRPr lang="en-US"/>
        </a:p>
      </dgm:t>
    </dgm:pt>
    <dgm:pt modelId="{8C8FF572-D483-428F-B9B8-61E2DC038557}">
      <dgm:prSet/>
      <dgm:spPr/>
      <dgm:t>
        <a:bodyPr/>
        <a:lstStyle/>
        <a:p>
          <a:r>
            <a:rPr lang="en-US" dirty="0"/>
            <a:t>Sufficient variety of views</a:t>
          </a:r>
        </a:p>
      </dgm:t>
    </dgm:pt>
    <dgm:pt modelId="{06774C9D-BB41-40F8-9ECF-9C4AD17538F7}" type="parTrans" cxnId="{6605566F-911D-4EBE-BBA0-09372905E8A1}">
      <dgm:prSet/>
      <dgm:spPr/>
      <dgm:t>
        <a:bodyPr/>
        <a:lstStyle/>
        <a:p>
          <a:endParaRPr lang="en-US"/>
        </a:p>
      </dgm:t>
    </dgm:pt>
    <dgm:pt modelId="{1C7E150B-7427-47A9-A11F-AA1095A6339A}" type="sibTrans" cxnId="{6605566F-911D-4EBE-BBA0-09372905E8A1}">
      <dgm:prSet/>
      <dgm:spPr/>
      <dgm:t>
        <a:bodyPr/>
        <a:lstStyle/>
        <a:p>
          <a:endParaRPr lang="en-US"/>
        </a:p>
      </dgm:t>
    </dgm:pt>
    <dgm:pt modelId="{2F9EF435-CF70-40B3-AC25-AE4D83A2CC10}">
      <dgm:prSet/>
      <dgm:spPr/>
      <dgm:t>
        <a:bodyPr/>
        <a:lstStyle/>
        <a:p>
          <a:r>
            <a:rPr lang="en-US" dirty="0"/>
            <a:t>Coexists with Birddog and Google Drive</a:t>
          </a:r>
        </a:p>
      </dgm:t>
    </dgm:pt>
    <dgm:pt modelId="{8CAEF53E-67B3-4155-9853-FF4342C2F313}" type="parTrans" cxnId="{5668782A-3463-43BA-8E09-9120D2122986}">
      <dgm:prSet/>
      <dgm:spPr/>
      <dgm:t>
        <a:bodyPr/>
        <a:lstStyle/>
        <a:p>
          <a:endParaRPr lang="en-US"/>
        </a:p>
      </dgm:t>
    </dgm:pt>
    <dgm:pt modelId="{5D963A10-DE60-4EB4-92FC-4B12A2CED81E}" type="sibTrans" cxnId="{5668782A-3463-43BA-8E09-9120D2122986}">
      <dgm:prSet/>
      <dgm:spPr/>
      <dgm:t>
        <a:bodyPr/>
        <a:lstStyle/>
        <a:p>
          <a:endParaRPr lang="en-US"/>
        </a:p>
      </dgm:t>
    </dgm:pt>
    <dgm:pt modelId="{89930480-602F-43DA-A996-8402CE3F75B0}">
      <dgm:prSet/>
      <dgm:spPr/>
      <dgm:t>
        <a:bodyPr/>
        <a:lstStyle/>
        <a:p>
          <a:r>
            <a:rPr lang="en-US" dirty="0"/>
            <a:t>Easily grow and transform with evolving needs</a:t>
          </a:r>
        </a:p>
      </dgm:t>
    </dgm:pt>
    <dgm:pt modelId="{E24DB92E-EAA1-4DC5-8C58-8B1275E10EC6}" type="parTrans" cxnId="{725E4CCC-14EC-4F97-B466-FB05965B2367}">
      <dgm:prSet/>
      <dgm:spPr/>
      <dgm:t>
        <a:bodyPr/>
        <a:lstStyle/>
        <a:p>
          <a:endParaRPr lang="en-US"/>
        </a:p>
      </dgm:t>
    </dgm:pt>
    <dgm:pt modelId="{21A3E326-CF37-42D4-9663-5E700DBA522F}" type="sibTrans" cxnId="{725E4CCC-14EC-4F97-B466-FB05965B2367}">
      <dgm:prSet/>
      <dgm:spPr/>
      <dgm:t>
        <a:bodyPr/>
        <a:lstStyle/>
        <a:p>
          <a:endParaRPr lang="en-US"/>
        </a:p>
      </dgm:t>
    </dgm:pt>
    <dgm:pt modelId="{E8234D1E-B433-4BA5-8CD7-BD0821C9F26F}">
      <dgm:prSet/>
      <dgm:spPr/>
      <dgm:t>
        <a:bodyPr/>
        <a:lstStyle/>
        <a:p>
          <a:r>
            <a:rPr lang="en-US" dirty="0"/>
            <a:t>No lock-in: possible to migrate out down the road</a:t>
          </a:r>
        </a:p>
      </dgm:t>
    </dgm:pt>
    <dgm:pt modelId="{97F15419-12A1-411D-8936-3BBF1C7E0262}" type="parTrans" cxnId="{5730C2FC-040D-412A-84D4-5342C75F5E91}">
      <dgm:prSet/>
      <dgm:spPr/>
      <dgm:t>
        <a:bodyPr/>
        <a:lstStyle/>
        <a:p>
          <a:endParaRPr lang="en-US"/>
        </a:p>
      </dgm:t>
    </dgm:pt>
    <dgm:pt modelId="{46BFB7FF-6D60-4F26-9945-9E07B65A4F51}" type="sibTrans" cxnId="{5730C2FC-040D-412A-84D4-5342C75F5E91}">
      <dgm:prSet/>
      <dgm:spPr/>
      <dgm:t>
        <a:bodyPr/>
        <a:lstStyle/>
        <a:p>
          <a:endParaRPr lang="en-US"/>
        </a:p>
      </dgm:t>
    </dgm:pt>
    <dgm:pt modelId="{3BF7A4A8-82F2-A04D-8B36-044290AA49A5}">
      <dgm:prSet/>
      <dgm:spPr/>
      <dgm:t>
        <a:bodyPr/>
        <a:lstStyle/>
        <a:p>
          <a:r>
            <a:rPr lang="en-US"/>
            <a:t>Role-based access rights</a:t>
          </a:r>
        </a:p>
      </dgm:t>
    </dgm:pt>
    <dgm:pt modelId="{EA6FA496-E93B-2A4F-A4A8-CF4C385DEDC0}" type="parTrans" cxnId="{1A71B790-6A34-EF49-AA12-1F1B119694CA}">
      <dgm:prSet/>
      <dgm:spPr/>
      <dgm:t>
        <a:bodyPr/>
        <a:lstStyle/>
        <a:p>
          <a:endParaRPr lang="en-US"/>
        </a:p>
      </dgm:t>
    </dgm:pt>
    <dgm:pt modelId="{58F33D3E-C6DE-0F4A-8168-4F7D9F982742}" type="sibTrans" cxnId="{1A71B790-6A34-EF49-AA12-1F1B119694CA}">
      <dgm:prSet/>
      <dgm:spPr/>
      <dgm:t>
        <a:bodyPr/>
        <a:lstStyle/>
        <a:p>
          <a:endParaRPr lang="en-US"/>
        </a:p>
      </dgm:t>
    </dgm:pt>
    <dgm:pt modelId="{7703F7B3-330C-CC4E-ABF1-737CA8A8DDEC}" type="pres">
      <dgm:prSet presAssocID="{7CAE4FAE-FC00-4EB0-BC6F-242874B24A95}" presName="linear" presStyleCnt="0">
        <dgm:presLayoutVars>
          <dgm:animLvl val="lvl"/>
          <dgm:resizeHandles val="exact"/>
        </dgm:presLayoutVars>
      </dgm:prSet>
      <dgm:spPr/>
    </dgm:pt>
    <dgm:pt modelId="{2D0374B0-C494-8440-88E8-67F4520527F7}" type="pres">
      <dgm:prSet presAssocID="{7580D3DA-C2CF-4069-B4A0-E0829CCC7FC7}" presName="parentText" presStyleLbl="node1" presStyleIdx="0" presStyleCnt="8" custLinFactNeighborX="-7537" custLinFactNeighborY="39295">
        <dgm:presLayoutVars>
          <dgm:chMax val="0"/>
          <dgm:bulletEnabled val="1"/>
        </dgm:presLayoutVars>
      </dgm:prSet>
      <dgm:spPr/>
    </dgm:pt>
    <dgm:pt modelId="{34DB7F71-8ABA-5847-AF0F-CF126F5C81CE}" type="pres">
      <dgm:prSet presAssocID="{0C426F35-3DF3-4E80-96F8-3F4767CF899F}" presName="spacer" presStyleCnt="0"/>
      <dgm:spPr/>
    </dgm:pt>
    <dgm:pt modelId="{55440235-5102-A647-B840-76A6FE265E04}" type="pres">
      <dgm:prSet presAssocID="{21FC33A9-E3AF-4E93-9AF4-DF60D1AE05B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5F5121A-E855-904D-8179-A16CF81DB522}" type="pres">
      <dgm:prSet presAssocID="{A0BCBC19-F305-4261-AF6F-3D50FC547ECB}" presName="spacer" presStyleCnt="0"/>
      <dgm:spPr/>
    </dgm:pt>
    <dgm:pt modelId="{1C5A1FC1-B56E-B145-B54D-AEEF9622FCE3}" type="pres">
      <dgm:prSet presAssocID="{3BF7A4A8-82F2-A04D-8B36-044290AA49A5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70D8A40-265B-E546-B0EB-BEE04F2E1457}" type="pres">
      <dgm:prSet presAssocID="{58F33D3E-C6DE-0F4A-8168-4F7D9F982742}" presName="spacer" presStyleCnt="0"/>
      <dgm:spPr/>
    </dgm:pt>
    <dgm:pt modelId="{AA73FAE6-AE40-4C4D-88AE-FF84A0FE3827}" type="pres">
      <dgm:prSet presAssocID="{92A43039-45B7-4C28-A99B-EE92A796E56B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66E98A9B-7F44-BB47-B9FB-AD4F054C4270}" type="pres">
      <dgm:prSet presAssocID="{3EF49942-AB3F-4015-ACFC-219F7BAD8570}" presName="spacer" presStyleCnt="0"/>
      <dgm:spPr/>
    </dgm:pt>
    <dgm:pt modelId="{EE834651-91CB-E64E-B23A-7A1D290C0E95}" type="pres">
      <dgm:prSet presAssocID="{8C8FF572-D483-428F-B9B8-61E2DC038557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09D3FA58-B6AE-434B-9923-0EAB8772A7A5}" type="pres">
      <dgm:prSet presAssocID="{1C7E150B-7427-47A9-A11F-AA1095A6339A}" presName="spacer" presStyleCnt="0"/>
      <dgm:spPr/>
    </dgm:pt>
    <dgm:pt modelId="{2A683C36-DC3E-CA4A-B5DC-2716D07CE74C}" type="pres">
      <dgm:prSet presAssocID="{2F9EF435-CF70-40B3-AC25-AE4D83A2CC10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BF0226DD-A90C-FF45-A643-0A69B27EE73D}" type="pres">
      <dgm:prSet presAssocID="{5D963A10-DE60-4EB4-92FC-4B12A2CED81E}" presName="spacer" presStyleCnt="0"/>
      <dgm:spPr/>
    </dgm:pt>
    <dgm:pt modelId="{168DC006-0F42-0746-A1E3-AF42CDABAF9E}" type="pres">
      <dgm:prSet presAssocID="{89930480-602F-43DA-A996-8402CE3F75B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1A165DDE-690C-764F-96DC-018E59EE19E5}" type="pres">
      <dgm:prSet presAssocID="{21A3E326-CF37-42D4-9663-5E700DBA522F}" presName="spacer" presStyleCnt="0"/>
      <dgm:spPr/>
    </dgm:pt>
    <dgm:pt modelId="{EFF0323C-1D44-C34F-946F-B726C5F3CF14}" type="pres">
      <dgm:prSet presAssocID="{E8234D1E-B433-4BA5-8CD7-BD0821C9F26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71059110-CCB3-7748-BE62-CD767364EAB4}" type="presOf" srcId="{7CAE4FAE-FC00-4EB0-BC6F-242874B24A95}" destId="{7703F7B3-330C-CC4E-ABF1-737CA8A8DDEC}" srcOrd="0" destOrd="0" presId="urn:microsoft.com/office/officeart/2005/8/layout/vList2"/>
    <dgm:cxn modelId="{00B84719-675D-48D2-8B4C-ECF5D48AE784}" srcId="{7CAE4FAE-FC00-4EB0-BC6F-242874B24A95}" destId="{7580D3DA-C2CF-4069-B4A0-E0829CCC7FC7}" srcOrd="0" destOrd="0" parTransId="{4E9EB7EA-C62F-44D4-88B9-49265617769D}" sibTransId="{0C426F35-3DF3-4E80-96F8-3F4767CF899F}"/>
    <dgm:cxn modelId="{5668782A-3463-43BA-8E09-9120D2122986}" srcId="{7CAE4FAE-FC00-4EB0-BC6F-242874B24A95}" destId="{2F9EF435-CF70-40B3-AC25-AE4D83A2CC10}" srcOrd="5" destOrd="0" parTransId="{8CAEF53E-67B3-4155-9853-FF4342C2F313}" sibTransId="{5D963A10-DE60-4EB4-92FC-4B12A2CED81E}"/>
    <dgm:cxn modelId="{511A5D35-CCA2-4579-81AD-F8B22C2F025A}" srcId="{7CAE4FAE-FC00-4EB0-BC6F-242874B24A95}" destId="{21FC33A9-E3AF-4E93-9AF4-DF60D1AE05B4}" srcOrd="1" destOrd="0" parTransId="{3E6CBCB5-06A4-4524-BFAC-67FBC3375922}" sibTransId="{A0BCBC19-F305-4261-AF6F-3D50FC547ECB}"/>
    <dgm:cxn modelId="{002EFD52-D03C-0E4A-8525-7E51D4319F3E}" type="presOf" srcId="{2F9EF435-CF70-40B3-AC25-AE4D83A2CC10}" destId="{2A683C36-DC3E-CA4A-B5DC-2716D07CE74C}" srcOrd="0" destOrd="0" presId="urn:microsoft.com/office/officeart/2005/8/layout/vList2"/>
    <dgm:cxn modelId="{FA1DE065-9846-5746-B918-4BE81879B71A}" type="presOf" srcId="{8C8FF572-D483-428F-B9B8-61E2DC038557}" destId="{EE834651-91CB-E64E-B23A-7A1D290C0E95}" srcOrd="0" destOrd="0" presId="urn:microsoft.com/office/officeart/2005/8/layout/vList2"/>
    <dgm:cxn modelId="{C16F3467-8AFB-D049-BB30-550F9CDF8817}" type="presOf" srcId="{E8234D1E-B433-4BA5-8CD7-BD0821C9F26F}" destId="{EFF0323C-1D44-C34F-946F-B726C5F3CF14}" srcOrd="0" destOrd="0" presId="urn:microsoft.com/office/officeart/2005/8/layout/vList2"/>
    <dgm:cxn modelId="{6605566F-911D-4EBE-BBA0-09372905E8A1}" srcId="{7CAE4FAE-FC00-4EB0-BC6F-242874B24A95}" destId="{8C8FF572-D483-428F-B9B8-61E2DC038557}" srcOrd="4" destOrd="0" parTransId="{06774C9D-BB41-40F8-9ECF-9C4AD17538F7}" sibTransId="{1C7E150B-7427-47A9-A11F-AA1095A6339A}"/>
    <dgm:cxn modelId="{BA2D2473-D31E-154C-8D5C-8A2621698CA9}" type="presOf" srcId="{92A43039-45B7-4C28-A99B-EE92A796E56B}" destId="{AA73FAE6-AE40-4C4D-88AE-FF84A0FE3827}" srcOrd="0" destOrd="0" presId="urn:microsoft.com/office/officeart/2005/8/layout/vList2"/>
    <dgm:cxn modelId="{3DC47C81-40D1-AA40-92D0-0E5413853EF4}" type="presOf" srcId="{3BF7A4A8-82F2-A04D-8B36-044290AA49A5}" destId="{1C5A1FC1-B56E-B145-B54D-AEEF9622FCE3}" srcOrd="0" destOrd="0" presId="urn:microsoft.com/office/officeart/2005/8/layout/vList2"/>
    <dgm:cxn modelId="{1D3C3483-2213-6245-8F6A-4664CCA68585}" type="presOf" srcId="{7580D3DA-C2CF-4069-B4A0-E0829CCC7FC7}" destId="{2D0374B0-C494-8440-88E8-67F4520527F7}" srcOrd="0" destOrd="0" presId="urn:microsoft.com/office/officeart/2005/8/layout/vList2"/>
    <dgm:cxn modelId="{1A71B790-6A34-EF49-AA12-1F1B119694CA}" srcId="{7CAE4FAE-FC00-4EB0-BC6F-242874B24A95}" destId="{3BF7A4A8-82F2-A04D-8B36-044290AA49A5}" srcOrd="2" destOrd="0" parTransId="{EA6FA496-E93B-2A4F-A4A8-CF4C385DEDC0}" sibTransId="{58F33D3E-C6DE-0F4A-8168-4F7D9F982742}"/>
    <dgm:cxn modelId="{DD6011A4-289E-9147-9B76-45B8A42B1FE0}" type="presOf" srcId="{89930480-602F-43DA-A996-8402CE3F75B0}" destId="{168DC006-0F42-0746-A1E3-AF42CDABAF9E}" srcOrd="0" destOrd="0" presId="urn:microsoft.com/office/officeart/2005/8/layout/vList2"/>
    <dgm:cxn modelId="{0AB144B9-0F7C-4A60-AB52-CEF7BDCEB6A8}" srcId="{7CAE4FAE-FC00-4EB0-BC6F-242874B24A95}" destId="{92A43039-45B7-4C28-A99B-EE92A796E56B}" srcOrd="3" destOrd="0" parTransId="{2AEC10AC-FB3D-4657-A4DF-9A19B4B2885D}" sibTransId="{3EF49942-AB3F-4015-ACFC-219F7BAD8570}"/>
    <dgm:cxn modelId="{6B4BAFC0-E8D8-4546-BC94-D8B177B10D66}" type="presOf" srcId="{21FC33A9-E3AF-4E93-9AF4-DF60D1AE05B4}" destId="{55440235-5102-A647-B840-76A6FE265E04}" srcOrd="0" destOrd="0" presId="urn:microsoft.com/office/officeart/2005/8/layout/vList2"/>
    <dgm:cxn modelId="{725E4CCC-14EC-4F97-B466-FB05965B2367}" srcId="{7CAE4FAE-FC00-4EB0-BC6F-242874B24A95}" destId="{89930480-602F-43DA-A996-8402CE3F75B0}" srcOrd="6" destOrd="0" parTransId="{E24DB92E-EAA1-4DC5-8C58-8B1275E10EC6}" sibTransId="{21A3E326-CF37-42D4-9663-5E700DBA522F}"/>
    <dgm:cxn modelId="{5730C2FC-040D-412A-84D4-5342C75F5E91}" srcId="{7CAE4FAE-FC00-4EB0-BC6F-242874B24A95}" destId="{E8234D1E-B433-4BA5-8CD7-BD0821C9F26F}" srcOrd="7" destOrd="0" parTransId="{97F15419-12A1-411D-8936-3BBF1C7E0262}" sibTransId="{46BFB7FF-6D60-4F26-9945-9E07B65A4F51}"/>
    <dgm:cxn modelId="{EACAF32E-E803-9442-8635-A20905D28833}" type="presParOf" srcId="{7703F7B3-330C-CC4E-ABF1-737CA8A8DDEC}" destId="{2D0374B0-C494-8440-88E8-67F4520527F7}" srcOrd="0" destOrd="0" presId="urn:microsoft.com/office/officeart/2005/8/layout/vList2"/>
    <dgm:cxn modelId="{FFCEB70D-5010-AB40-94B7-C6059D4565D1}" type="presParOf" srcId="{7703F7B3-330C-CC4E-ABF1-737CA8A8DDEC}" destId="{34DB7F71-8ABA-5847-AF0F-CF126F5C81CE}" srcOrd="1" destOrd="0" presId="urn:microsoft.com/office/officeart/2005/8/layout/vList2"/>
    <dgm:cxn modelId="{BDAB5798-1E16-F348-82D9-AADC23F72119}" type="presParOf" srcId="{7703F7B3-330C-CC4E-ABF1-737CA8A8DDEC}" destId="{55440235-5102-A647-B840-76A6FE265E04}" srcOrd="2" destOrd="0" presId="urn:microsoft.com/office/officeart/2005/8/layout/vList2"/>
    <dgm:cxn modelId="{E6DE5857-AA66-614F-8E80-A68E303EBCEF}" type="presParOf" srcId="{7703F7B3-330C-CC4E-ABF1-737CA8A8DDEC}" destId="{15F5121A-E855-904D-8179-A16CF81DB522}" srcOrd="3" destOrd="0" presId="urn:microsoft.com/office/officeart/2005/8/layout/vList2"/>
    <dgm:cxn modelId="{1708E3AC-2619-A74D-98A0-4A3D3AD2C4C5}" type="presParOf" srcId="{7703F7B3-330C-CC4E-ABF1-737CA8A8DDEC}" destId="{1C5A1FC1-B56E-B145-B54D-AEEF9622FCE3}" srcOrd="4" destOrd="0" presId="urn:microsoft.com/office/officeart/2005/8/layout/vList2"/>
    <dgm:cxn modelId="{1C846379-4456-3C43-B447-5D54D5E2749E}" type="presParOf" srcId="{7703F7B3-330C-CC4E-ABF1-737CA8A8DDEC}" destId="{870D8A40-265B-E546-B0EB-BEE04F2E1457}" srcOrd="5" destOrd="0" presId="urn:microsoft.com/office/officeart/2005/8/layout/vList2"/>
    <dgm:cxn modelId="{8BFC62E3-46E7-604A-A1DB-4FAF78852A12}" type="presParOf" srcId="{7703F7B3-330C-CC4E-ABF1-737CA8A8DDEC}" destId="{AA73FAE6-AE40-4C4D-88AE-FF84A0FE3827}" srcOrd="6" destOrd="0" presId="urn:microsoft.com/office/officeart/2005/8/layout/vList2"/>
    <dgm:cxn modelId="{D620B113-9BDC-DD4F-B9F4-6EBE207DCE94}" type="presParOf" srcId="{7703F7B3-330C-CC4E-ABF1-737CA8A8DDEC}" destId="{66E98A9B-7F44-BB47-B9FB-AD4F054C4270}" srcOrd="7" destOrd="0" presId="urn:microsoft.com/office/officeart/2005/8/layout/vList2"/>
    <dgm:cxn modelId="{B4D15E26-DE68-D548-BE03-3E42B1706850}" type="presParOf" srcId="{7703F7B3-330C-CC4E-ABF1-737CA8A8DDEC}" destId="{EE834651-91CB-E64E-B23A-7A1D290C0E95}" srcOrd="8" destOrd="0" presId="urn:microsoft.com/office/officeart/2005/8/layout/vList2"/>
    <dgm:cxn modelId="{63BEBADE-B92A-6548-B67B-5BB6B00BFA3B}" type="presParOf" srcId="{7703F7B3-330C-CC4E-ABF1-737CA8A8DDEC}" destId="{09D3FA58-B6AE-434B-9923-0EAB8772A7A5}" srcOrd="9" destOrd="0" presId="urn:microsoft.com/office/officeart/2005/8/layout/vList2"/>
    <dgm:cxn modelId="{8B82B1CA-ED94-D44B-8EAC-445A447F9B71}" type="presParOf" srcId="{7703F7B3-330C-CC4E-ABF1-737CA8A8DDEC}" destId="{2A683C36-DC3E-CA4A-B5DC-2716D07CE74C}" srcOrd="10" destOrd="0" presId="urn:microsoft.com/office/officeart/2005/8/layout/vList2"/>
    <dgm:cxn modelId="{46798C3C-7FFE-C948-9F93-C9FA1A8661DF}" type="presParOf" srcId="{7703F7B3-330C-CC4E-ABF1-737CA8A8DDEC}" destId="{BF0226DD-A90C-FF45-A643-0A69B27EE73D}" srcOrd="11" destOrd="0" presId="urn:microsoft.com/office/officeart/2005/8/layout/vList2"/>
    <dgm:cxn modelId="{450EAE37-A604-2D4D-8DDB-7F5992350300}" type="presParOf" srcId="{7703F7B3-330C-CC4E-ABF1-737CA8A8DDEC}" destId="{168DC006-0F42-0746-A1E3-AF42CDABAF9E}" srcOrd="12" destOrd="0" presId="urn:microsoft.com/office/officeart/2005/8/layout/vList2"/>
    <dgm:cxn modelId="{32ED2CAF-F503-8148-BA43-A064DADC8B66}" type="presParOf" srcId="{7703F7B3-330C-CC4E-ABF1-737CA8A8DDEC}" destId="{1A165DDE-690C-764F-96DC-018E59EE19E5}" srcOrd="13" destOrd="0" presId="urn:microsoft.com/office/officeart/2005/8/layout/vList2"/>
    <dgm:cxn modelId="{D2AAD870-5692-7A4D-9C22-393AD909AA3D}" type="presParOf" srcId="{7703F7B3-330C-CC4E-ABF1-737CA8A8DDEC}" destId="{EFF0323C-1D44-C34F-946F-B726C5F3CF1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FE65A7-971E-42F3-8C14-B429C08F4B3B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4F9CF9-F242-4F06-9C3D-A80DFA9FA7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Validate the platform choice incrementally.</a:t>
          </a:r>
        </a:p>
      </dgm:t>
    </dgm:pt>
    <dgm:pt modelId="{46E75E4A-4B3F-4467-8D12-741DB192667D}" type="parTrans" cxnId="{2757682B-4010-4B96-A6CC-D0707FA08FE7}">
      <dgm:prSet/>
      <dgm:spPr/>
      <dgm:t>
        <a:bodyPr/>
        <a:lstStyle/>
        <a:p>
          <a:endParaRPr lang="en-US"/>
        </a:p>
      </dgm:t>
    </dgm:pt>
    <dgm:pt modelId="{C075A6D8-5C96-4843-9375-8DB327C2EEFF}" type="sibTrans" cxnId="{2757682B-4010-4B96-A6CC-D0707FA08FE7}">
      <dgm:prSet/>
      <dgm:spPr/>
      <dgm:t>
        <a:bodyPr/>
        <a:lstStyle/>
        <a:p>
          <a:endParaRPr lang="en-US"/>
        </a:p>
      </dgm:t>
    </dgm:pt>
    <dgm:pt modelId="{0D00CB84-D664-49C4-A02E-3819242592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Information gathering from team(s)</a:t>
          </a:r>
        </a:p>
      </dgm:t>
    </dgm:pt>
    <dgm:pt modelId="{5C469E34-DECA-4BD8-87CF-1E125D141B38}" type="parTrans" cxnId="{4D3092CB-DC35-4551-A269-C684BF727965}">
      <dgm:prSet/>
      <dgm:spPr/>
      <dgm:t>
        <a:bodyPr/>
        <a:lstStyle/>
        <a:p>
          <a:endParaRPr lang="en-US"/>
        </a:p>
      </dgm:t>
    </dgm:pt>
    <dgm:pt modelId="{DE576032-F961-44EA-839B-3D23800095C4}" type="sibTrans" cxnId="{4D3092CB-DC35-4551-A269-C684BF727965}">
      <dgm:prSet/>
      <dgm:spPr/>
      <dgm:t>
        <a:bodyPr/>
        <a:lstStyle/>
        <a:p>
          <a:endParaRPr lang="en-US"/>
        </a:p>
      </dgm:t>
    </dgm:pt>
    <dgm:pt modelId="{D289C1B0-5328-4C8C-864B-33120B663E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Birddog integration experiments</a:t>
          </a:r>
        </a:p>
      </dgm:t>
    </dgm:pt>
    <dgm:pt modelId="{DA84B1BC-DE01-4EB9-85FC-4E065AA64364}" type="parTrans" cxnId="{D2F728CD-F279-4CB1-8DD0-407C4CC395C1}">
      <dgm:prSet/>
      <dgm:spPr/>
      <dgm:t>
        <a:bodyPr/>
        <a:lstStyle/>
        <a:p>
          <a:endParaRPr lang="en-US"/>
        </a:p>
      </dgm:t>
    </dgm:pt>
    <dgm:pt modelId="{E6174B7B-502D-41C5-8DD3-DF57C09B6D48}" type="sibTrans" cxnId="{D2F728CD-F279-4CB1-8DD0-407C4CC395C1}">
      <dgm:prSet/>
      <dgm:spPr/>
      <dgm:t>
        <a:bodyPr/>
        <a:lstStyle/>
        <a:p>
          <a:endParaRPr lang="en-US"/>
        </a:p>
      </dgm:t>
    </dgm:pt>
    <dgm:pt modelId="{58CC9691-ECBE-4A2A-9F8A-5BA592C623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Identify and flesh out roles and views</a:t>
          </a:r>
        </a:p>
      </dgm:t>
    </dgm:pt>
    <dgm:pt modelId="{14391992-0B63-4F49-B176-25080A11C236}" type="parTrans" cxnId="{2C97B7DD-60BA-4B60-A3F5-4F23CDC59424}">
      <dgm:prSet/>
      <dgm:spPr/>
      <dgm:t>
        <a:bodyPr/>
        <a:lstStyle/>
        <a:p>
          <a:endParaRPr lang="en-US"/>
        </a:p>
      </dgm:t>
    </dgm:pt>
    <dgm:pt modelId="{6EB5362F-4C23-4282-A03E-D76486D7208E}" type="sibTrans" cxnId="{2C97B7DD-60BA-4B60-A3F5-4F23CDC59424}">
      <dgm:prSet/>
      <dgm:spPr/>
      <dgm:t>
        <a:bodyPr/>
        <a:lstStyle/>
        <a:p>
          <a:endParaRPr lang="en-US"/>
        </a:p>
      </dgm:t>
    </dgm:pt>
    <dgm:pt modelId="{E0476BD6-4BF0-46B5-8549-EC132BB86A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Develop in parallel with ongoing Google Drive-based workflows.</a:t>
          </a:r>
        </a:p>
      </dgm:t>
    </dgm:pt>
    <dgm:pt modelId="{BD2FD5E6-8D9B-4CD7-8C9A-0C90AC393D2B}" type="parTrans" cxnId="{492BF80F-3183-4083-BAC2-D2098B560FF3}">
      <dgm:prSet/>
      <dgm:spPr/>
      <dgm:t>
        <a:bodyPr/>
        <a:lstStyle/>
        <a:p>
          <a:endParaRPr lang="en-US"/>
        </a:p>
      </dgm:t>
    </dgm:pt>
    <dgm:pt modelId="{02AE263F-4BCA-4351-8AF5-4D3BBECEC255}" type="sibTrans" cxnId="{492BF80F-3183-4083-BAC2-D2098B560FF3}">
      <dgm:prSet/>
      <dgm:spPr/>
      <dgm:t>
        <a:bodyPr/>
        <a:lstStyle/>
        <a:p>
          <a:endParaRPr lang="en-US"/>
        </a:p>
      </dgm:t>
    </dgm:pt>
    <dgm:pt modelId="{F86973ED-ACBD-42EC-863B-AE43A30E67F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Transition when we’re ready.</a:t>
          </a:r>
        </a:p>
      </dgm:t>
    </dgm:pt>
    <dgm:pt modelId="{93D4A2C1-070C-452D-BC82-F5ED9D0C41C5}" type="parTrans" cxnId="{F005654D-5DBB-470C-BBDC-4AEFB7766083}">
      <dgm:prSet/>
      <dgm:spPr/>
      <dgm:t>
        <a:bodyPr/>
        <a:lstStyle/>
        <a:p>
          <a:endParaRPr lang="en-US"/>
        </a:p>
      </dgm:t>
    </dgm:pt>
    <dgm:pt modelId="{FB57CFEB-0D66-43F5-945E-702B89802DC3}" type="sibTrans" cxnId="{F005654D-5DBB-470C-BBDC-4AEFB7766083}">
      <dgm:prSet/>
      <dgm:spPr/>
      <dgm:t>
        <a:bodyPr/>
        <a:lstStyle/>
        <a:p>
          <a:endParaRPr lang="en-US"/>
        </a:p>
      </dgm:t>
    </dgm:pt>
    <dgm:pt modelId="{92AD0AD7-BFE6-4C04-9C30-E7B7E5AF56D3}" type="pres">
      <dgm:prSet presAssocID="{31FE65A7-971E-42F3-8C14-B429C08F4B3B}" presName="root" presStyleCnt="0">
        <dgm:presLayoutVars>
          <dgm:dir/>
          <dgm:resizeHandles val="exact"/>
        </dgm:presLayoutVars>
      </dgm:prSet>
      <dgm:spPr/>
    </dgm:pt>
    <dgm:pt modelId="{990087F0-9FEE-4F1F-843E-2645BDDA617F}" type="pres">
      <dgm:prSet presAssocID="{464F9CF9-F242-4F06-9C3D-A80DFA9FA79A}" presName="compNode" presStyleCnt="0"/>
      <dgm:spPr/>
    </dgm:pt>
    <dgm:pt modelId="{04E159F2-8CF6-489F-ADA6-D0DFD7FEB09B}" type="pres">
      <dgm:prSet presAssocID="{464F9CF9-F242-4F06-9C3D-A80DFA9FA7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39DFB78B-F320-4DCB-A6D8-A761CAC7F0ED}" type="pres">
      <dgm:prSet presAssocID="{464F9CF9-F242-4F06-9C3D-A80DFA9FA79A}" presName="iconSpace" presStyleCnt="0"/>
      <dgm:spPr/>
    </dgm:pt>
    <dgm:pt modelId="{9173C4B8-825C-4EBD-B77F-50FE3A4E585E}" type="pres">
      <dgm:prSet presAssocID="{464F9CF9-F242-4F06-9C3D-A80DFA9FA79A}" presName="parTx" presStyleLbl="revTx" presStyleIdx="0" presStyleCnt="6">
        <dgm:presLayoutVars>
          <dgm:chMax val="0"/>
          <dgm:chPref val="0"/>
        </dgm:presLayoutVars>
      </dgm:prSet>
      <dgm:spPr/>
    </dgm:pt>
    <dgm:pt modelId="{44295DD2-1D2D-44CD-883F-0BA579E94692}" type="pres">
      <dgm:prSet presAssocID="{464F9CF9-F242-4F06-9C3D-A80DFA9FA79A}" presName="txSpace" presStyleCnt="0"/>
      <dgm:spPr/>
    </dgm:pt>
    <dgm:pt modelId="{397AA66B-5AD9-4FAD-84E3-1B8463411C25}" type="pres">
      <dgm:prSet presAssocID="{464F9CF9-F242-4F06-9C3D-A80DFA9FA79A}" presName="desTx" presStyleLbl="revTx" presStyleIdx="1" presStyleCnt="6">
        <dgm:presLayoutVars/>
      </dgm:prSet>
      <dgm:spPr/>
    </dgm:pt>
    <dgm:pt modelId="{744717E4-5FAA-4A1F-9D82-45276507FB69}" type="pres">
      <dgm:prSet presAssocID="{C075A6D8-5C96-4843-9375-8DB327C2EEFF}" presName="sibTrans" presStyleCnt="0"/>
      <dgm:spPr/>
    </dgm:pt>
    <dgm:pt modelId="{B4B7F62B-0F65-4801-B4D6-040182F33D82}" type="pres">
      <dgm:prSet presAssocID="{E0476BD6-4BF0-46B5-8549-EC132BB86A0D}" presName="compNode" presStyleCnt="0"/>
      <dgm:spPr/>
    </dgm:pt>
    <dgm:pt modelId="{58880F47-E6BC-44B3-8A1B-5637FC8FB6B6}" type="pres">
      <dgm:prSet presAssocID="{E0476BD6-4BF0-46B5-8549-EC132BB86A0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2C8C9F4-DAE1-4819-A1EC-1C4DCA3837D8}" type="pres">
      <dgm:prSet presAssocID="{E0476BD6-4BF0-46B5-8549-EC132BB86A0D}" presName="iconSpace" presStyleCnt="0"/>
      <dgm:spPr/>
    </dgm:pt>
    <dgm:pt modelId="{6AE415BC-0F60-4B01-9D4C-56BD08C71CF1}" type="pres">
      <dgm:prSet presAssocID="{E0476BD6-4BF0-46B5-8549-EC132BB86A0D}" presName="parTx" presStyleLbl="revTx" presStyleIdx="2" presStyleCnt="6">
        <dgm:presLayoutVars>
          <dgm:chMax val="0"/>
          <dgm:chPref val="0"/>
        </dgm:presLayoutVars>
      </dgm:prSet>
      <dgm:spPr/>
    </dgm:pt>
    <dgm:pt modelId="{4245C156-79BE-481F-AE52-6E37628DCDE8}" type="pres">
      <dgm:prSet presAssocID="{E0476BD6-4BF0-46B5-8549-EC132BB86A0D}" presName="txSpace" presStyleCnt="0"/>
      <dgm:spPr/>
    </dgm:pt>
    <dgm:pt modelId="{F900913E-19F8-4ED5-A394-03F039018FD9}" type="pres">
      <dgm:prSet presAssocID="{E0476BD6-4BF0-46B5-8549-EC132BB86A0D}" presName="desTx" presStyleLbl="revTx" presStyleIdx="3" presStyleCnt="6">
        <dgm:presLayoutVars/>
      </dgm:prSet>
      <dgm:spPr/>
    </dgm:pt>
    <dgm:pt modelId="{22F455E3-C1B7-4E5A-A7DE-691041E1D36A}" type="pres">
      <dgm:prSet presAssocID="{02AE263F-4BCA-4351-8AF5-4D3BBECEC255}" presName="sibTrans" presStyleCnt="0"/>
      <dgm:spPr/>
    </dgm:pt>
    <dgm:pt modelId="{4EA744B6-B0BD-4AFF-8B7A-CF524B3A0C29}" type="pres">
      <dgm:prSet presAssocID="{F86973ED-ACBD-42EC-863B-AE43A30E67F0}" presName="compNode" presStyleCnt="0"/>
      <dgm:spPr/>
    </dgm:pt>
    <dgm:pt modelId="{664DF7AD-8B67-4159-AB86-144C59B9448B}" type="pres">
      <dgm:prSet presAssocID="{F86973ED-ACBD-42EC-863B-AE43A30E67F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E4E73144-33D1-4AA3-BF7E-DAA696EA6B56}" type="pres">
      <dgm:prSet presAssocID="{F86973ED-ACBD-42EC-863B-AE43A30E67F0}" presName="iconSpace" presStyleCnt="0"/>
      <dgm:spPr/>
    </dgm:pt>
    <dgm:pt modelId="{5542BC11-AD73-4F04-8F19-9EF68BA72DC2}" type="pres">
      <dgm:prSet presAssocID="{F86973ED-ACBD-42EC-863B-AE43A30E67F0}" presName="parTx" presStyleLbl="revTx" presStyleIdx="4" presStyleCnt="6">
        <dgm:presLayoutVars>
          <dgm:chMax val="0"/>
          <dgm:chPref val="0"/>
        </dgm:presLayoutVars>
      </dgm:prSet>
      <dgm:spPr/>
    </dgm:pt>
    <dgm:pt modelId="{916A3AC9-7CEF-4916-8954-6F751FE38F6A}" type="pres">
      <dgm:prSet presAssocID="{F86973ED-ACBD-42EC-863B-AE43A30E67F0}" presName="txSpace" presStyleCnt="0"/>
      <dgm:spPr/>
    </dgm:pt>
    <dgm:pt modelId="{2FDCAC75-18FA-48CB-A90E-703C0C3C90BB}" type="pres">
      <dgm:prSet presAssocID="{F86973ED-ACBD-42EC-863B-AE43A30E67F0}" presName="desTx" presStyleLbl="revTx" presStyleIdx="5" presStyleCnt="6">
        <dgm:presLayoutVars/>
      </dgm:prSet>
      <dgm:spPr/>
    </dgm:pt>
  </dgm:ptLst>
  <dgm:cxnLst>
    <dgm:cxn modelId="{B7BE4808-BE7A-4086-848B-CCBDC1F19049}" type="presOf" srcId="{F86973ED-ACBD-42EC-863B-AE43A30E67F0}" destId="{5542BC11-AD73-4F04-8F19-9EF68BA72DC2}" srcOrd="0" destOrd="0" presId="urn:microsoft.com/office/officeart/2018/5/layout/CenteredIconLabelDescriptionList"/>
    <dgm:cxn modelId="{492BF80F-3183-4083-BAC2-D2098B560FF3}" srcId="{31FE65A7-971E-42F3-8C14-B429C08F4B3B}" destId="{E0476BD6-4BF0-46B5-8549-EC132BB86A0D}" srcOrd="1" destOrd="0" parTransId="{BD2FD5E6-8D9B-4CD7-8C9A-0C90AC393D2B}" sibTransId="{02AE263F-4BCA-4351-8AF5-4D3BBECEC255}"/>
    <dgm:cxn modelId="{42F48D1D-7420-4995-902D-40E78370993F}" type="presOf" srcId="{464F9CF9-F242-4F06-9C3D-A80DFA9FA79A}" destId="{9173C4B8-825C-4EBD-B77F-50FE3A4E585E}" srcOrd="0" destOrd="0" presId="urn:microsoft.com/office/officeart/2018/5/layout/CenteredIconLabelDescriptionList"/>
    <dgm:cxn modelId="{0B01CF22-2806-4D78-900B-B835757F9B47}" type="presOf" srcId="{E0476BD6-4BF0-46B5-8549-EC132BB86A0D}" destId="{6AE415BC-0F60-4B01-9D4C-56BD08C71CF1}" srcOrd="0" destOrd="0" presId="urn:microsoft.com/office/officeart/2018/5/layout/CenteredIconLabelDescriptionList"/>
    <dgm:cxn modelId="{2757682B-4010-4B96-A6CC-D0707FA08FE7}" srcId="{31FE65A7-971E-42F3-8C14-B429C08F4B3B}" destId="{464F9CF9-F242-4F06-9C3D-A80DFA9FA79A}" srcOrd="0" destOrd="0" parTransId="{46E75E4A-4B3F-4467-8D12-741DB192667D}" sibTransId="{C075A6D8-5C96-4843-9375-8DB327C2EEFF}"/>
    <dgm:cxn modelId="{F005654D-5DBB-470C-BBDC-4AEFB7766083}" srcId="{31FE65A7-971E-42F3-8C14-B429C08F4B3B}" destId="{F86973ED-ACBD-42EC-863B-AE43A30E67F0}" srcOrd="2" destOrd="0" parTransId="{93D4A2C1-070C-452D-BC82-F5ED9D0C41C5}" sibTransId="{FB57CFEB-0D66-43F5-945E-702B89802DC3}"/>
    <dgm:cxn modelId="{C680A371-D335-4DB1-9998-D76CC96DEAE9}" type="presOf" srcId="{0D00CB84-D664-49C4-A02E-381924259233}" destId="{397AA66B-5AD9-4FAD-84E3-1B8463411C25}" srcOrd="0" destOrd="0" presId="urn:microsoft.com/office/officeart/2018/5/layout/CenteredIconLabelDescriptionList"/>
    <dgm:cxn modelId="{4D3092CB-DC35-4551-A269-C684BF727965}" srcId="{464F9CF9-F242-4F06-9C3D-A80DFA9FA79A}" destId="{0D00CB84-D664-49C4-A02E-381924259233}" srcOrd="0" destOrd="0" parTransId="{5C469E34-DECA-4BD8-87CF-1E125D141B38}" sibTransId="{DE576032-F961-44EA-839B-3D23800095C4}"/>
    <dgm:cxn modelId="{D2F728CD-F279-4CB1-8DD0-407C4CC395C1}" srcId="{464F9CF9-F242-4F06-9C3D-A80DFA9FA79A}" destId="{D289C1B0-5328-4C8C-864B-33120B663E43}" srcOrd="1" destOrd="0" parTransId="{DA84B1BC-DE01-4EB9-85FC-4E065AA64364}" sibTransId="{E6174B7B-502D-41C5-8DD3-DF57C09B6D48}"/>
    <dgm:cxn modelId="{2F4762CF-60AD-4348-A6DE-19B135E8396F}" type="presOf" srcId="{58CC9691-ECBE-4A2A-9F8A-5BA592C6237C}" destId="{397AA66B-5AD9-4FAD-84E3-1B8463411C25}" srcOrd="0" destOrd="2" presId="urn:microsoft.com/office/officeart/2018/5/layout/CenteredIconLabelDescriptionList"/>
    <dgm:cxn modelId="{2C97B7DD-60BA-4B60-A3F5-4F23CDC59424}" srcId="{464F9CF9-F242-4F06-9C3D-A80DFA9FA79A}" destId="{58CC9691-ECBE-4A2A-9F8A-5BA592C6237C}" srcOrd="2" destOrd="0" parTransId="{14391992-0B63-4F49-B176-25080A11C236}" sibTransId="{6EB5362F-4C23-4282-A03E-D76486D7208E}"/>
    <dgm:cxn modelId="{ED4F51F2-B0D7-47F2-933C-1F3827948502}" type="presOf" srcId="{D289C1B0-5328-4C8C-864B-33120B663E43}" destId="{397AA66B-5AD9-4FAD-84E3-1B8463411C25}" srcOrd="0" destOrd="1" presId="urn:microsoft.com/office/officeart/2018/5/layout/CenteredIconLabelDescriptionList"/>
    <dgm:cxn modelId="{93E36DF4-5B8F-40E7-BA5B-8ED82C750A2A}" type="presOf" srcId="{31FE65A7-971E-42F3-8C14-B429C08F4B3B}" destId="{92AD0AD7-BFE6-4C04-9C30-E7B7E5AF56D3}" srcOrd="0" destOrd="0" presId="urn:microsoft.com/office/officeart/2018/5/layout/CenteredIconLabelDescriptionList"/>
    <dgm:cxn modelId="{05BB96EA-282F-45D5-8625-4B191A796F8E}" type="presParOf" srcId="{92AD0AD7-BFE6-4C04-9C30-E7B7E5AF56D3}" destId="{990087F0-9FEE-4F1F-843E-2645BDDA617F}" srcOrd="0" destOrd="0" presId="urn:microsoft.com/office/officeart/2018/5/layout/CenteredIconLabelDescriptionList"/>
    <dgm:cxn modelId="{0E431E02-4AD4-46E2-8D96-24923758C0D7}" type="presParOf" srcId="{990087F0-9FEE-4F1F-843E-2645BDDA617F}" destId="{04E159F2-8CF6-489F-ADA6-D0DFD7FEB09B}" srcOrd="0" destOrd="0" presId="urn:microsoft.com/office/officeart/2018/5/layout/CenteredIconLabelDescriptionList"/>
    <dgm:cxn modelId="{4CBF9B95-CA51-4379-AC95-71A7E4971E34}" type="presParOf" srcId="{990087F0-9FEE-4F1F-843E-2645BDDA617F}" destId="{39DFB78B-F320-4DCB-A6D8-A761CAC7F0ED}" srcOrd="1" destOrd="0" presId="urn:microsoft.com/office/officeart/2018/5/layout/CenteredIconLabelDescriptionList"/>
    <dgm:cxn modelId="{57565D61-9EC7-46FF-A05F-479B5BA85F8C}" type="presParOf" srcId="{990087F0-9FEE-4F1F-843E-2645BDDA617F}" destId="{9173C4B8-825C-4EBD-B77F-50FE3A4E585E}" srcOrd="2" destOrd="0" presId="urn:microsoft.com/office/officeart/2018/5/layout/CenteredIconLabelDescriptionList"/>
    <dgm:cxn modelId="{FB53AD95-B979-43A5-BD33-E3D7ECE00CC6}" type="presParOf" srcId="{990087F0-9FEE-4F1F-843E-2645BDDA617F}" destId="{44295DD2-1D2D-44CD-883F-0BA579E94692}" srcOrd="3" destOrd="0" presId="urn:microsoft.com/office/officeart/2018/5/layout/CenteredIconLabelDescriptionList"/>
    <dgm:cxn modelId="{9BF0FBF3-8096-430E-8666-7DA137892D34}" type="presParOf" srcId="{990087F0-9FEE-4F1F-843E-2645BDDA617F}" destId="{397AA66B-5AD9-4FAD-84E3-1B8463411C25}" srcOrd="4" destOrd="0" presId="urn:microsoft.com/office/officeart/2018/5/layout/CenteredIconLabelDescriptionList"/>
    <dgm:cxn modelId="{FF1F4E01-5B36-4535-8B6B-0FE9A0C826CA}" type="presParOf" srcId="{92AD0AD7-BFE6-4C04-9C30-E7B7E5AF56D3}" destId="{744717E4-5FAA-4A1F-9D82-45276507FB69}" srcOrd="1" destOrd="0" presId="urn:microsoft.com/office/officeart/2018/5/layout/CenteredIconLabelDescriptionList"/>
    <dgm:cxn modelId="{F344D56C-FEE0-4C59-BCC5-3EE6600BC980}" type="presParOf" srcId="{92AD0AD7-BFE6-4C04-9C30-E7B7E5AF56D3}" destId="{B4B7F62B-0F65-4801-B4D6-040182F33D82}" srcOrd="2" destOrd="0" presId="urn:microsoft.com/office/officeart/2018/5/layout/CenteredIconLabelDescriptionList"/>
    <dgm:cxn modelId="{04BA48C3-937C-4F5C-B507-0D0368179646}" type="presParOf" srcId="{B4B7F62B-0F65-4801-B4D6-040182F33D82}" destId="{58880F47-E6BC-44B3-8A1B-5637FC8FB6B6}" srcOrd="0" destOrd="0" presId="urn:microsoft.com/office/officeart/2018/5/layout/CenteredIconLabelDescriptionList"/>
    <dgm:cxn modelId="{FDEFD19B-437F-412B-91F4-BC0872106F5B}" type="presParOf" srcId="{B4B7F62B-0F65-4801-B4D6-040182F33D82}" destId="{C2C8C9F4-DAE1-4819-A1EC-1C4DCA3837D8}" srcOrd="1" destOrd="0" presId="urn:microsoft.com/office/officeart/2018/5/layout/CenteredIconLabelDescriptionList"/>
    <dgm:cxn modelId="{7F42CBE3-9FF1-4DB8-AA01-F1D690845D61}" type="presParOf" srcId="{B4B7F62B-0F65-4801-B4D6-040182F33D82}" destId="{6AE415BC-0F60-4B01-9D4C-56BD08C71CF1}" srcOrd="2" destOrd="0" presId="urn:microsoft.com/office/officeart/2018/5/layout/CenteredIconLabelDescriptionList"/>
    <dgm:cxn modelId="{799D30F9-D064-4642-9576-051DE90F3287}" type="presParOf" srcId="{B4B7F62B-0F65-4801-B4D6-040182F33D82}" destId="{4245C156-79BE-481F-AE52-6E37628DCDE8}" srcOrd="3" destOrd="0" presId="urn:microsoft.com/office/officeart/2018/5/layout/CenteredIconLabelDescriptionList"/>
    <dgm:cxn modelId="{DCE35D6A-886A-4A80-81EC-A20CA6CBB500}" type="presParOf" srcId="{B4B7F62B-0F65-4801-B4D6-040182F33D82}" destId="{F900913E-19F8-4ED5-A394-03F039018FD9}" srcOrd="4" destOrd="0" presId="urn:microsoft.com/office/officeart/2018/5/layout/CenteredIconLabelDescriptionList"/>
    <dgm:cxn modelId="{3A29074F-244A-47C8-A81B-84B9A6B12A7F}" type="presParOf" srcId="{92AD0AD7-BFE6-4C04-9C30-E7B7E5AF56D3}" destId="{22F455E3-C1B7-4E5A-A7DE-691041E1D36A}" srcOrd="3" destOrd="0" presId="urn:microsoft.com/office/officeart/2018/5/layout/CenteredIconLabelDescriptionList"/>
    <dgm:cxn modelId="{4A975AF6-5396-4DDC-B6BB-BCFA862124B6}" type="presParOf" srcId="{92AD0AD7-BFE6-4C04-9C30-E7B7E5AF56D3}" destId="{4EA744B6-B0BD-4AFF-8B7A-CF524B3A0C29}" srcOrd="4" destOrd="0" presId="urn:microsoft.com/office/officeart/2018/5/layout/CenteredIconLabelDescriptionList"/>
    <dgm:cxn modelId="{1F3D40C2-9A21-4FD1-BE91-D055CDEC1A96}" type="presParOf" srcId="{4EA744B6-B0BD-4AFF-8B7A-CF524B3A0C29}" destId="{664DF7AD-8B67-4159-AB86-144C59B9448B}" srcOrd="0" destOrd="0" presId="urn:microsoft.com/office/officeart/2018/5/layout/CenteredIconLabelDescriptionList"/>
    <dgm:cxn modelId="{AB36EFC3-836F-46F4-87A2-B3D427E21274}" type="presParOf" srcId="{4EA744B6-B0BD-4AFF-8B7A-CF524B3A0C29}" destId="{E4E73144-33D1-4AA3-BF7E-DAA696EA6B56}" srcOrd="1" destOrd="0" presId="urn:microsoft.com/office/officeart/2018/5/layout/CenteredIconLabelDescriptionList"/>
    <dgm:cxn modelId="{8B5DD262-ADF5-425E-884D-DB05C9A355C0}" type="presParOf" srcId="{4EA744B6-B0BD-4AFF-8B7A-CF524B3A0C29}" destId="{5542BC11-AD73-4F04-8F19-9EF68BA72DC2}" srcOrd="2" destOrd="0" presId="urn:microsoft.com/office/officeart/2018/5/layout/CenteredIconLabelDescriptionList"/>
    <dgm:cxn modelId="{820AD1A4-FFC3-42E2-A48B-44E53D65959C}" type="presParOf" srcId="{4EA744B6-B0BD-4AFF-8B7A-CF524B3A0C29}" destId="{916A3AC9-7CEF-4916-8954-6F751FE38F6A}" srcOrd="3" destOrd="0" presId="urn:microsoft.com/office/officeart/2018/5/layout/CenteredIconLabelDescriptionList"/>
    <dgm:cxn modelId="{696C258E-7569-441C-A8A3-0D7085C43BE9}" type="presParOf" srcId="{4EA744B6-B0BD-4AFF-8B7A-CF524B3A0C29}" destId="{2FDCAC75-18FA-48CB-A90E-703C0C3C90B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374B0-C494-8440-88E8-67F4520527F7}">
      <dsp:nvSpPr>
        <dsp:cNvPr id="0" name=""/>
        <dsp:cNvSpPr/>
      </dsp:nvSpPr>
      <dsp:spPr>
        <a:xfrm>
          <a:off x="0" y="26070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Low cost</a:t>
          </a:r>
        </a:p>
      </dsp:txBody>
      <dsp:txXfrm>
        <a:off x="27586" y="288295"/>
        <a:ext cx="6611661" cy="509938"/>
      </dsp:txXfrm>
    </dsp:sp>
    <dsp:sp modelId="{55440235-5102-A647-B840-76A6FE265E04}">
      <dsp:nvSpPr>
        <dsp:cNvPr id="0" name=""/>
        <dsp:cNvSpPr/>
      </dsp:nvSpPr>
      <dsp:spPr>
        <a:xfrm>
          <a:off x="0" y="86602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Multi-user</a:t>
          </a:r>
        </a:p>
      </dsp:txBody>
      <dsp:txXfrm>
        <a:off x="27586" y="893615"/>
        <a:ext cx="6611661" cy="509938"/>
      </dsp:txXfrm>
    </dsp:sp>
    <dsp:sp modelId="{1C5A1FC1-B56E-B145-B54D-AEEF9622FCE3}">
      <dsp:nvSpPr>
        <dsp:cNvPr id="0" name=""/>
        <dsp:cNvSpPr/>
      </dsp:nvSpPr>
      <dsp:spPr>
        <a:xfrm>
          <a:off x="0" y="149737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Role-based access rights</a:t>
          </a:r>
        </a:p>
      </dsp:txBody>
      <dsp:txXfrm>
        <a:off x="27586" y="1524965"/>
        <a:ext cx="6611661" cy="509938"/>
      </dsp:txXfrm>
    </dsp:sp>
    <dsp:sp modelId="{AA73FAE6-AE40-4C4D-88AE-FF84A0FE3827}">
      <dsp:nvSpPr>
        <dsp:cNvPr id="0" name=""/>
        <dsp:cNvSpPr/>
      </dsp:nvSpPr>
      <dsp:spPr>
        <a:xfrm>
          <a:off x="0" y="212872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Easy learning curve</a:t>
          </a:r>
        </a:p>
      </dsp:txBody>
      <dsp:txXfrm>
        <a:off x="27586" y="2156315"/>
        <a:ext cx="6611661" cy="509938"/>
      </dsp:txXfrm>
    </dsp:sp>
    <dsp:sp modelId="{EE834651-91CB-E64E-B23A-7A1D290C0E95}">
      <dsp:nvSpPr>
        <dsp:cNvPr id="0" name=""/>
        <dsp:cNvSpPr/>
      </dsp:nvSpPr>
      <dsp:spPr>
        <a:xfrm>
          <a:off x="0" y="2760079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Sufficient variety of views</a:t>
          </a:r>
        </a:p>
      </dsp:txBody>
      <dsp:txXfrm>
        <a:off x="27586" y="2787665"/>
        <a:ext cx="6611661" cy="509938"/>
      </dsp:txXfrm>
    </dsp:sp>
    <dsp:sp modelId="{2A683C36-DC3E-CA4A-B5DC-2716D07CE74C}">
      <dsp:nvSpPr>
        <dsp:cNvPr id="0" name=""/>
        <dsp:cNvSpPr/>
      </dsp:nvSpPr>
      <dsp:spPr>
        <a:xfrm>
          <a:off x="0" y="339143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Coexists with Birddog and Google Drive</a:t>
          </a:r>
        </a:p>
      </dsp:txBody>
      <dsp:txXfrm>
        <a:off x="27586" y="3419016"/>
        <a:ext cx="6611661" cy="509938"/>
      </dsp:txXfrm>
    </dsp:sp>
    <dsp:sp modelId="{168DC006-0F42-0746-A1E3-AF42CDABAF9E}">
      <dsp:nvSpPr>
        <dsp:cNvPr id="0" name=""/>
        <dsp:cNvSpPr/>
      </dsp:nvSpPr>
      <dsp:spPr>
        <a:xfrm>
          <a:off x="0" y="402278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Easily grow and transform with evolving needs</a:t>
          </a:r>
        </a:p>
      </dsp:txBody>
      <dsp:txXfrm>
        <a:off x="27586" y="4050366"/>
        <a:ext cx="6611661" cy="509938"/>
      </dsp:txXfrm>
    </dsp:sp>
    <dsp:sp modelId="{EFF0323C-1D44-C34F-946F-B726C5F3CF14}">
      <dsp:nvSpPr>
        <dsp:cNvPr id="0" name=""/>
        <dsp:cNvSpPr/>
      </dsp:nvSpPr>
      <dsp:spPr>
        <a:xfrm>
          <a:off x="0" y="4654130"/>
          <a:ext cx="6666833" cy="56511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 lock-in: possible to migrate out down the road</a:t>
          </a:r>
        </a:p>
      </dsp:txBody>
      <dsp:txXfrm>
        <a:off x="27586" y="4681716"/>
        <a:ext cx="6611661" cy="5099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159F2-8CF6-489F-ADA6-D0DFD7FEB09B}">
      <dsp:nvSpPr>
        <dsp:cNvPr id="0" name=""/>
        <dsp:cNvSpPr/>
      </dsp:nvSpPr>
      <dsp:spPr>
        <a:xfrm>
          <a:off x="738793" y="734492"/>
          <a:ext cx="792914" cy="7929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3C4B8-825C-4EBD-B77F-50FE3A4E585E}">
      <dsp:nvSpPr>
        <dsp:cNvPr id="0" name=""/>
        <dsp:cNvSpPr/>
      </dsp:nvSpPr>
      <dsp:spPr>
        <a:xfrm>
          <a:off x="2516" y="1623013"/>
          <a:ext cx="2265468" cy="65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Validate the platform choice incrementally.</a:t>
          </a:r>
        </a:p>
      </dsp:txBody>
      <dsp:txXfrm>
        <a:off x="2516" y="1623013"/>
        <a:ext cx="2265468" cy="653092"/>
      </dsp:txXfrm>
    </dsp:sp>
    <dsp:sp modelId="{397AA66B-5AD9-4FAD-84E3-1B8463411C25}">
      <dsp:nvSpPr>
        <dsp:cNvPr id="0" name=""/>
        <dsp:cNvSpPr/>
      </dsp:nvSpPr>
      <dsp:spPr>
        <a:xfrm>
          <a:off x="2516" y="2320573"/>
          <a:ext cx="2265468" cy="63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Information gathering from team(s)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Birddog integration experiments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Identify and flesh out roles and views</a:t>
          </a:r>
        </a:p>
      </dsp:txBody>
      <dsp:txXfrm>
        <a:off x="2516" y="2320573"/>
        <a:ext cx="2265468" cy="637339"/>
      </dsp:txXfrm>
    </dsp:sp>
    <dsp:sp modelId="{58880F47-E6BC-44B3-8A1B-5637FC8FB6B6}">
      <dsp:nvSpPr>
        <dsp:cNvPr id="0" name=""/>
        <dsp:cNvSpPr/>
      </dsp:nvSpPr>
      <dsp:spPr>
        <a:xfrm>
          <a:off x="3400719" y="734492"/>
          <a:ext cx="792914" cy="7929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415BC-0F60-4B01-9D4C-56BD08C71CF1}">
      <dsp:nvSpPr>
        <dsp:cNvPr id="0" name=""/>
        <dsp:cNvSpPr/>
      </dsp:nvSpPr>
      <dsp:spPr>
        <a:xfrm>
          <a:off x="2664442" y="1623013"/>
          <a:ext cx="2265468" cy="65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Develop in parallel with ongoing Google Drive-based workflows.</a:t>
          </a:r>
        </a:p>
      </dsp:txBody>
      <dsp:txXfrm>
        <a:off x="2664442" y="1623013"/>
        <a:ext cx="2265468" cy="653092"/>
      </dsp:txXfrm>
    </dsp:sp>
    <dsp:sp modelId="{F900913E-19F8-4ED5-A394-03F039018FD9}">
      <dsp:nvSpPr>
        <dsp:cNvPr id="0" name=""/>
        <dsp:cNvSpPr/>
      </dsp:nvSpPr>
      <dsp:spPr>
        <a:xfrm>
          <a:off x="2664442" y="2320573"/>
          <a:ext cx="2265468" cy="63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4DF7AD-8B67-4159-AB86-144C59B9448B}">
      <dsp:nvSpPr>
        <dsp:cNvPr id="0" name=""/>
        <dsp:cNvSpPr/>
      </dsp:nvSpPr>
      <dsp:spPr>
        <a:xfrm>
          <a:off x="6062645" y="734492"/>
          <a:ext cx="792914" cy="7929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2BC11-AD73-4F04-8F19-9EF68BA72DC2}">
      <dsp:nvSpPr>
        <dsp:cNvPr id="0" name=""/>
        <dsp:cNvSpPr/>
      </dsp:nvSpPr>
      <dsp:spPr>
        <a:xfrm>
          <a:off x="5326367" y="1623013"/>
          <a:ext cx="2265468" cy="653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Transition when we’re ready.</a:t>
          </a:r>
        </a:p>
      </dsp:txBody>
      <dsp:txXfrm>
        <a:off x="5326367" y="1623013"/>
        <a:ext cx="2265468" cy="653092"/>
      </dsp:txXfrm>
    </dsp:sp>
    <dsp:sp modelId="{2FDCAC75-18FA-48CB-A90E-703C0C3C90BB}">
      <dsp:nvSpPr>
        <dsp:cNvPr id="0" name=""/>
        <dsp:cNvSpPr/>
      </dsp:nvSpPr>
      <dsp:spPr>
        <a:xfrm>
          <a:off x="5326367" y="2320573"/>
          <a:ext cx="2265468" cy="637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24592-18D4-1E40-83A5-612DC83F068C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22F6B-794B-FB47-A697-4796376EE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6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6E974-5289-5840-8FCA-F1031307B5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41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22F6B-794B-FB47-A697-4796376EE9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68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22F6B-794B-FB47-A697-4796376EE9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6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C451-E130-F795-F360-4A2DF968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06226-9F54-415E-7A95-1B908D38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75C7-3BEB-9ECB-2F00-0F82F16A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195B4-490A-42F6-F2CA-898163E1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D4BC-A6A2-9DFA-8A5B-E575B4A0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6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C3F0-A82B-BE87-4224-6559FDD8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3B6A-47B7-FD4D-0B6B-D1946881D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8513-410D-5C52-86FC-4A0A0D31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4412E-0EB1-FA7E-8864-A371D5AB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4FDBE-1437-1D93-0695-31DAFB00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8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0406-A648-96CF-E16B-3C1782FE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B216-0BAF-A0EA-CC45-B15B4FECA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274F6-6338-9158-5AB1-40FC4662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039D0-45ED-3ED9-ADA3-2FCCA6F5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75588-0B19-84FF-C670-DA64C03C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1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C023-7737-59F7-4A2A-4DCDAD9C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92D3-7CD0-F163-A348-A0A9BFD77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70A68-4BB0-7679-C97E-83A8DAD37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8ED4B-4F03-03AA-7C20-8D2AFE54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EC6F2-894E-E031-3191-C4373C63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2FD71-B51A-22CF-2853-496FB1EE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7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9D36-6872-B233-6D53-785F79E6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43D9-7B6C-CDC1-7672-B8063215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7A8B4-7F17-4F3F-016E-F25D5A968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64A36-C85D-4FB1-0C83-11DB39535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B4ABA-8CB6-9FEA-EE5B-DDA28B04E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72189-7CCC-B7C5-37DF-C81446C9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A1169-A036-D242-3F50-12705C63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28561-DEFD-0598-4A59-D08503A1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9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6B1E-2478-CF1C-EA63-E77C973E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C5498-97BB-6487-F2A6-B271C85A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BB946-243E-65CF-C437-4B28ED1A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97B63-90DD-80F4-14F1-80E0CDBD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7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69ED7-6909-2A07-9759-4161232D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92CA8-4580-0EA6-0549-0BFA10E1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FE23-1C72-70E3-9BAD-06892D8D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4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A3C22-97DD-79BF-11EE-08327EEB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071D-CABD-62EF-7580-8D20D4C4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4A57-487B-1A9F-AB05-5D471A405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63006-06A2-DF55-00F7-B0F5829A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0BF2-8EBD-28A2-ECBA-A7AB796B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C47C-7006-0F47-F739-252E95B0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42CD-7CE1-CA2D-D03B-1DF123D8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1F329-71F0-0347-3AED-349D2E506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A3FCC-C614-1E47-F50B-910CB4C6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C24FC-DF9E-1531-5659-2C60A886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AABAD-1115-1971-FE97-5D0C12BF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5FA0-2B64-D346-A484-45AC5BEE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C9A9-D86F-8C94-E988-6CA20A7F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81A7D-5769-AEAC-A08D-A80F5C54C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9B7EF-E212-1FC3-D119-4E8F2861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401F-9BF7-26BA-E336-20D1C52E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BCCF-0C08-8C48-9298-6CB1B4FD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7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EA036-C597-DA22-045A-C300AAFEB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D0C75-A66E-4E8E-829B-D533A9918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2942-A67E-9413-ED3A-B5D6134D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9E362-12F4-3C53-803C-40A08DF6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246E-C416-B91A-78BE-54EE6A80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1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0B139-5D97-E4D8-57EC-88A0F5BC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F61F-EC13-6DBC-F7E7-7BC1092B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983E-D44D-E8D6-E70F-2C742CA30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B8F1D-DD19-6141-88EB-5503D68369B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37BD-B89C-A95E-63CC-42D223C0E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A61A4-4296-D76E-AD9A-957350309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50.png"/><Relationship Id="rId4" Type="http://schemas.openxmlformats.org/officeDocument/2006/relationships/diagramData" Target="../diagrams/data2.xml"/><Relationship Id="rId9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0.png"/><Relationship Id="rId4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F2432-E36D-E2DB-B99C-FF9BCF386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 err="1">
                <a:solidFill>
                  <a:schemeClr val="tx2"/>
                </a:solidFill>
              </a:rPr>
              <a:t>Wikisource</a:t>
            </a:r>
            <a:r>
              <a:rPr lang="en-US" sz="4000" dirty="0">
                <a:solidFill>
                  <a:schemeClr val="tx2"/>
                </a:solidFill>
              </a:rPr>
              <a:t> and Archive Database Explorations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E28C4-1B4D-D171-0105-9A8A30917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December 2, 2025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F2B7498-209B-7502-FB1E-32F3750DD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44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6451D-E730-227D-9B55-371FCC77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8AB295A-4E8E-4AE1-E6D7-E31216092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08F85-6917-F63E-2973-8CD593AA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C1B61-0773-76E2-7B87-00C103E4F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6A93E-37EC-EAC4-9CDD-FDC807618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4B6798-AE9C-D1B5-75F7-DAD93323D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8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6C2B-5312-4935-9340-135D7410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EA09-9B36-B978-FC65-58BAD215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Existing Administrator Workflow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57E4D3-AB34-EDD7-7B15-DA8AD3036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57" y="2329159"/>
            <a:ext cx="3669831" cy="2192000"/>
          </a:xfrm>
          <a:prstGeom prst="rect">
            <a:avLst/>
          </a:prstGeom>
        </p:spPr>
      </p:pic>
      <p:pic>
        <p:nvPicPr>
          <p:cNvPr id="13" name="Picture 1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C4F420CD-9B3F-8DFE-9F19-B0AF9979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016" y="3278321"/>
            <a:ext cx="3098427" cy="2787696"/>
          </a:xfrm>
          <a:prstGeom prst="rect">
            <a:avLst/>
          </a:prstGeom>
        </p:spPr>
      </p:pic>
      <p:pic>
        <p:nvPicPr>
          <p:cNvPr id="15" name="Picture 1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0798792F-3AAE-34F7-626F-A9ABC608D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175" y="3186449"/>
            <a:ext cx="1918447" cy="1560183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579C8C13-E318-5F03-F184-5F851D978D0B}"/>
              </a:ext>
            </a:extLst>
          </p:cNvPr>
          <p:cNvSpPr/>
          <p:nvPr/>
        </p:nvSpPr>
        <p:spPr>
          <a:xfrm>
            <a:off x="4531977" y="3751892"/>
            <a:ext cx="722301" cy="410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75BB4F27-0E2F-3103-1F20-3422768DE702}"/>
              </a:ext>
            </a:extLst>
          </p:cNvPr>
          <p:cNvSpPr/>
          <p:nvPr/>
        </p:nvSpPr>
        <p:spPr>
          <a:xfrm>
            <a:off x="7513983" y="3754551"/>
            <a:ext cx="649136" cy="410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793C8A-6753-1FF0-BB22-B9EB9DF797D0}"/>
              </a:ext>
            </a:extLst>
          </p:cNvPr>
          <p:cNvSpPr txBox="1"/>
          <p:nvPr/>
        </p:nvSpPr>
        <p:spPr>
          <a:xfrm rot="19575581">
            <a:off x="4819304" y="2125896"/>
            <a:ext cx="1838112" cy="922637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10,000+ changes per month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71FC5-E501-1BC3-90A5-07937515F344}"/>
              </a:ext>
            </a:extLst>
          </p:cNvPr>
          <p:cNvSpPr txBox="1"/>
          <p:nvPr/>
        </p:nvSpPr>
        <p:spPr>
          <a:xfrm rot="867319">
            <a:off x="4345913" y="4987200"/>
            <a:ext cx="1683068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150,000+ pages to track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90610-D1DB-A220-1D68-3CDA315423B5}"/>
              </a:ext>
            </a:extLst>
          </p:cNvPr>
          <p:cNvSpPr txBox="1"/>
          <p:nvPr/>
        </p:nvSpPr>
        <p:spPr>
          <a:xfrm>
            <a:off x="709556" y="4628668"/>
            <a:ext cx="36698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uk.wikisource.org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A75D8-CCFB-0116-63A4-C8D49203BA68}"/>
              </a:ext>
            </a:extLst>
          </p:cNvPr>
          <p:cNvSpPr txBox="1"/>
          <p:nvPr/>
        </p:nvSpPr>
        <p:spPr>
          <a:xfrm>
            <a:off x="5746312" y="3194453"/>
            <a:ext cx="58532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dirty="0"/>
              <a:t>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E97999-1B7B-FF92-12CE-6C0A2CD7E79D}"/>
              </a:ext>
            </a:extLst>
          </p:cNvPr>
          <p:cNvSpPr txBox="1"/>
          <p:nvPr/>
        </p:nvSpPr>
        <p:spPr>
          <a:xfrm rot="1805804">
            <a:off x="7020594" y="2283227"/>
            <a:ext cx="2260653" cy="646331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Overwhelming email notifications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6AFDCB-72D2-1661-F80A-3550DAF158DF}"/>
              </a:ext>
            </a:extLst>
          </p:cNvPr>
          <p:cNvSpPr txBox="1"/>
          <p:nvPr/>
        </p:nvSpPr>
        <p:spPr>
          <a:xfrm rot="19387863">
            <a:off x="6383961" y="4697148"/>
            <a:ext cx="1792931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Copy/paste by the 100’s or 1,000’s</a:t>
            </a:r>
          </a:p>
        </p:txBody>
      </p:sp>
    </p:spTree>
    <p:extLst>
      <p:ext uri="{BB962C8B-B14F-4D97-AF65-F5344CB8AC3E}">
        <p14:creationId xmlns:p14="http://schemas.microsoft.com/office/powerpoint/2010/main" val="291225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3" grpId="0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FA54A-C01C-3014-807B-2D7D1F26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873E-BE99-9B28-3ABF-BE1AF950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Birddog-Assisted Workflow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4DB04B-1867-6444-7252-54FC301F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09" y="1876280"/>
            <a:ext cx="2872372" cy="1715675"/>
          </a:xfrm>
          <a:prstGeom prst="rect">
            <a:avLst/>
          </a:prstGeom>
        </p:spPr>
      </p:pic>
      <p:pic>
        <p:nvPicPr>
          <p:cNvPr id="13" name="Picture 1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B277CA6D-1D83-3535-F9CD-06C7296CF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157" y="3399177"/>
            <a:ext cx="3098427" cy="2787696"/>
          </a:xfrm>
          <a:prstGeom prst="rect">
            <a:avLst/>
          </a:prstGeom>
        </p:spPr>
      </p:pic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11B501C2-29D1-8FB7-9FEA-E66D575AF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529" y="3876063"/>
            <a:ext cx="3868743" cy="2310809"/>
          </a:xfrm>
          <a:prstGeom prst="rect">
            <a:avLst/>
          </a:prstGeom>
        </p:spPr>
      </p:pic>
      <p:pic>
        <p:nvPicPr>
          <p:cNvPr id="15" name="Picture 1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FABA21F3-D50C-AD0F-CB97-FD96459B7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490" y="1900518"/>
            <a:ext cx="1585319" cy="1289266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33A137F3-A86D-2615-5017-C422888A9494}"/>
              </a:ext>
            </a:extLst>
          </p:cNvPr>
          <p:cNvSpPr/>
          <p:nvPr/>
        </p:nvSpPr>
        <p:spPr>
          <a:xfrm>
            <a:off x="7320646" y="4596121"/>
            <a:ext cx="649136" cy="410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>
            <a:extLst>
              <a:ext uri="{FF2B5EF4-FFF2-40B4-BE49-F238E27FC236}">
                <a16:creationId xmlns:a16="http://schemas.microsoft.com/office/drawing/2014/main" id="{3DBD3FB2-A636-7B1C-0930-AFF1A2CDA366}"/>
              </a:ext>
            </a:extLst>
          </p:cNvPr>
          <p:cNvSpPr/>
          <p:nvPr/>
        </p:nvSpPr>
        <p:spPr>
          <a:xfrm rot="5400000">
            <a:off x="2142542" y="3892288"/>
            <a:ext cx="911598" cy="879148"/>
          </a:xfrm>
          <a:prstGeom prst="bentUpArrow">
            <a:avLst>
              <a:gd name="adj1" fmla="val 23191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-Down Arrow 4">
            <a:extLst>
              <a:ext uri="{FF2B5EF4-FFF2-40B4-BE49-F238E27FC236}">
                <a16:creationId xmlns:a16="http://schemas.microsoft.com/office/drawing/2014/main" id="{25B63EB2-C702-1E6E-A281-DED96ABB612E}"/>
              </a:ext>
            </a:extLst>
          </p:cNvPr>
          <p:cNvSpPr/>
          <p:nvPr/>
        </p:nvSpPr>
        <p:spPr>
          <a:xfrm>
            <a:off x="4720432" y="2981937"/>
            <a:ext cx="413468" cy="91159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286675-6BDB-DA16-1F7B-91E1A90E7BF4}"/>
              </a:ext>
            </a:extLst>
          </p:cNvPr>
          <p:cNvSpPr txBox="1"/>
          <p:nvPr/>
        </p:nvSpPr>
        <p:spPr>
          <a:xfrm>
            <a:off x="4159083" y="1912996"/>
            <a:ext cx="499256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400" dirty="0"/>
              <a:t>😊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CA9FB-8783-7745-C805-4E4B1418814E}"/>
              </a:ext>
            </a:extLst>
          </p:cNvPr>
          <p:cNvSpPr txBox="1"/>
          <p:nvPr/>
        </p:nvSpPr>
        <p:spPr>
          <a:xfrm rot="1876922">
            <a:off x="5842642" y="2491945"/>
            <a:ext cx="1838112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Consolidated change alerts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DE5966-D79F-D170-F4A8-AB67ABD62494}"/>
              </a:ext>
            </a:extLst>
          </p:cNvPr>
          <p:cNvSpPr txBox="1"/>
          <p:nvPr/>
        </p:nvSpPr>
        <p:spPr>
          <a:xfrm rot="335984">
            <a:off x="7271272" y="1976555"/>
            <a:ext cx="1901770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Streamlined change review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E16F2-2C4A-55F5-695F-E10956E8DF1B}"/>
              </a:ext>
            </a:extLst>
          </p:cNvPr>
          <p:cNvSpPr txBox="1"/>
          <p:nvPr/>
        </p:nvSpPr>
        <p:spPr>
          <a:xfrm rot="20912755">
            <a:off x="8342886" y="981654"/>
            <a:ext cx="1838112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Built-in translation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00F4F9-F8AF-8CA3-BF22-D938DF644A24}"/>
              </a:ext>
            </a:extLst>
          </p:cNvPr>
          <p:cNvSpPr txBox="1"/>
          <p:nvPr/>
        </p:nvSpPr>
        <p:spPr>
          <a:xfrm rot="20250580">
            <a:off x="9570977" y="1809423"/>
            <a:ext cx="1838112" cy="923330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Automated spreadsheet generation</a:t>
            </a:r>
          </a:p>
        </p:txBody>
      </p:sp>
    </p:spTree>
    <p:extLst>
      <p:ext uri="{BB962C8B-B14F-4D97-AF65-F5344CB8AC3E}">
        <p14:creationId xmlns:p14="http://schemas.microsoft.com/office/powerpoint/2010/main" val="297240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5" grpId="0" animBg="1"/>
      <p:bldP spid="11" grpId="0"/>
      <p:bldP spid="14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EECF0-5047-52C8-8AC4-18E14695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68F7-2DF3-4066-C9EB-3595AA74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</p:spTree>
    <p:extLst>
      <p:ext uri="{BB962C8B-B14F-4D97-AF65-F5344CB8AC3E}">
        <p14:creationId xmlns:p14="http://schemas.microsoft.com/office/powerpoint/2010/main" val="19887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F1E5-E017-180F-644C-7DA55A7D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0897-A155-A7DD-5879-10E1BDE4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411A-B48F-491D-2600-98DD6C2B8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3721846" cy="13807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Automated Wiki page change monitoring and reporting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C6023E-1D9C-4C3B-06F6-B7D561E71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88" y="2009489"/>
            <a:ext cx="4877654" cy="399302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26AE99-78E9-D0CD-4432-41D5634FD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987" y="2009489"/>
            <a:ext cx="4877653" cy="399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6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A8427-76DB-4313-12F0-D92924D7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DEA1A-B6F0-22D8-DA76-351C155A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0EBE7-C55E-84E1-8734-75B1D59D4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3721846" cy="13807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Page change inspector in an easily digestible format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88D142-9E9C-5925-E313-F264665B8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85" y="2009489"/>
            <a:ext cx="4877655" cy="39930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AFDA6F-CBF2-FEE2-BF40-94807B962487}"/>
              </a:ext>
            </a:extLst>
          </p:cNvPr>
          <p:cNvSpPr txBox="1"/>
          <p:nvPr/>
        </p:nvSpPr>
        <p:spPr>
          <a:xfrm>
            <a:off x="2060657" y="4640457"/>
            <a:ext cx="3103735" cy="338554"/>
          </a:xfrm>
          <a:prstGeom prst="rect">
            <a:avLst/>
          </a:prstGeom>
          <a:solidFill>
            <a:srgbClr val="FFF3CD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Text changes shown in yellow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E687F-EB0B-1F74-445E-1D15EA972216}"/>
              </a:ext>
            </a:extLst>
          </p:cNvPr>
          <p:cNvSpPr txBox="1"/>
          <p:nvPr/>
        </p:nvSpPr>
        <p:spPr>
          <a:xfrm>
            <a:off x="2060656" y="5211187"/>
            <a:ext cx="3103735" cy="338554"/>
          </a:xfrm>
          <a:prstGeom prst="rect">
            <a:avLst/>
          </a:prstGeom>
          <a:solidFill>
            <a:srgbClr val="D1E7DE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Text additions shown in green</a:t>
            </a:r>
          </a:p>
        </p:txBody>
      </p:sp>
    </p:spTree>
    <p:extLst>
      <p:ext uri="{BB962C8B-B14F-4D97-AF65-F5344CB8AC3E}">
        <p14:creationId xmlns:p14="http://schemas.microsoft.com/office/powerpoint/2010/main" val="365654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67422-BC77-E49F-C38A-6551A2786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B32D-8007-3873-1BBE-798985599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F718-73C3-46C3-D2B3-016B3630F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3721846" cy="13807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Built-in </a:t>
            </a:r>
            <a:r>
              <a:rPr lang="en-US" sz="2000" dirty="0" err="1">
                <a:solidFill>
                  <a:schemeClr val="tx1"/>
                </a:solidFill>
              </a:rPr>
              <a:t>Ukranian</a:t>
            </a:r>
            <a:r>
              <a:rPr lang="en-US" sz="2000" dirty="0">
                <a:solidFill>
                  <a:schemeClr val="tx1"/>
                </a:solidFill>
              </a:rPr>
              <a:t> to English translation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2FABB3-C665-9831-4BDD-FFF4CA589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984" y="2009489"/>
            <a:ext cx="4877655" cy="399303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4CFEB8-DCA8-4018-325F-8A7BB5B95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985" y="2009489"/>
            <a:ext cx="4877655" cy="399303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DE1FB5C-3156-946B-38F0-7B68A08410C7}"/>
              </a:ext>
            </a:extLst>
          </p:cNvPr>
          <p:cNvGrpSpPr/>
          <p:nvPr/>
        </p:nvGrpSpPr>
        <p:grpSpPr>
          <a:xfrm>
            <a:off x="9013706" y="3074408"/>
            <a:ext cx="437086" cy="573237"/>
            <a:chOff x="9013706" y="3074408"/>
            <a:chExt cx="437086" cy="57323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53C29C7-ED53-7FE9-0DF6-BE34DAF5AAAB}"/>
                </a:ext>
              </a:extLst>
            </p:cNvPr>
            <p:cNvSpPr/>
            <p:nvPr/>
          </p:nvSpPr>
          <p:spPr>
            <a:xfrm>
              <a:off x="9013706" y="3372037"/>
              <a:ext cx="275608" cy="275608"/>
            </a:xfrm>
            <a:prstGeom prst="round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A1335FF8-512D-3865-AC45-320A36DD1D8A}"/>
                </a:ext>
              </a:extLst>
            </p:cNvPr>
            <p:cNvSpPr/>
            <p:nvPr/>
          </p:nvSpPr>
          <p:spPr>
            <a:xfrm rot="2321443">
              <a:off x="9352180" y="3074408"/>
              <a:ext cx="98612" cy="299693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056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3D2FE-7190-EC32-C199-E54499444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EF827-5BAB-E5DC-A1B0-2E2F5DBAE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43459-0B85-C3B8-78E0-0A189064B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3429000"/>
            <a:ext cx="4163957" cy="13807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Streamlined spreadsheet generation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59786-419F-B1BB-4B5E-E1276D3A0A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64"/>
          <a:stretch>
            <a:fillRect/>
          </a:stretch>
        </p:blipFill>
        <p:spPr>
          <a:xfrm>
            <a:off x="5451985" y="2009489"/>
            <a:ext cx="4877655" cy="379481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CF33516-2797-8F5E-3B75-680C1A7295AE}"/>
              </a:ext>
            </a:extLst>
          </p:cNvPr>
          <p:cNvGrpSpPr/>
          <p:nvPr/>
        </p:nvGrpSpPr>
        <p:grpSpPr>
          <a:xfrm>
            <a:off x="9265342" y="3074408"/>
            <a:ext cx="437086" cy="573237"/>
            <a:chOff x="9013706" y="3074408"/>
            <a:chExt cx="437086" cy="57323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F3FD28A-A018-0F64-2806-F8FB85F11C5D}"/>
                </a:ext>
              </a:extLst>
            </p:cNvPr>
            <p:cNvSpPr/>
            <p:nvPr/>
          </p:nvSpPr>
          <p:spPr>
            <a:xfrm>
              <a:off x="9013706" y="3372037"/>
              <a:ext cx="275608" cy="275608"/>
            </a:xfrm>
            <a:prstGeom prst="round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3141AD22-BFBF-0333-9581-3CAF8D2AB67A}"/>
                </a:ext>
              </a:extLst>
            </p:cNvPr>
            <p:cNvSpPr/>
            <p:nvPr/>
          </p:nvSpPr>
          <p:spPr>
            <a:xfrm rot="2321443">
              <a:off x="9352180" y="3074408"/>
              <a:ext cx="98612" cy="299693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D6819C-B5EC-458A-C5BD-CFC0F7911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985" y="2003198"/>
            <a:ext cx="4877655" cy="379481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E07E9F4-AF83-D738-C0F1-19C9E451F6E9}"/>
              </a:ext>
            </a:extLst>
          </p:cNvPr>
          <p:cNvGrpSpPr/>
          <p:nvPr/>
        </p:nvGrpSpPr>
        <p:grpSpPr>
          <a:xfrm>
            <a:off x="6945271" y="3372037"/>
            <a:ext cx="4359045" cy="2771190"/>
            <a:chOff x="6037243" y="2798284"/>
            <a:chExt cx="5040217" cy="320423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25A64CC-9868-790A-9E6B-4605C5F16DE4}"/>
                </a:ext>
              </a:extLst>
            </p:cNvPr>
            <p:cNvSpPr/>
            <p:nvPr/>
          </p:nvSpPr>
          <p:spPr>
            <a:xfrm>
              <a:off x="6037243" y="2798284"/>
              <a:ext cx="5040217" cy="320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153150D-974E-5985-C157-DBD9C2CA58E3}"/>
                </a:ext>
              </a:extLst>
            </p:cNvPr>
            <p:cNvGrpSpPr/>
            <p:nvPr/>
          </p:nvGrpSpPr>
          <p:grpSpPr>
            <a:xfrm>
              <a:off x="6160398" y="2906904"/>
              <a:ext cx="4876648" cy="2897401"/>
              <a:chOff x="6089795" y="2556274"/>
              <a:chExt cx="4876648" cy="2897401"/>
            </a:xfrm>
          </p:grpSpPr>
          <p:pic>
            <p:nvPicPr>
              <p:cNvPr id="9" name="Picture 8" descr="A screenshot of a spreadsheet&#10;&#10;AI-generated content may be incorrect.">
                <a:extLst>
                  <a:ext uri="{FF2B5EF4-FFF2-40B4-BE49-F238E27FC236}">
                    <a16:creationId xmlns:a16="http://schemas.microsoft.com/office/drawing/2014/main" id="{15698E35-704F-3A4D-3B3A-19068F8ACD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9795" y="2556274"/>
                <a:ext cx="4876648" cy="1287883"/>
              </a:xfrm>
              <a:prstGeom prst="rect">
                <a:avLst/>
              </a:prstGeom>
            </p:spPr>
          </p:pic>
          <p:pic>
            <p:nvPicPr>
              <p:cNvPr id="13" name="Picture 12" descr="A screenshot of a spreadsheet&#10;&#10;AI-generated content may be incorrect.">
                <a:extLst>
                  <a:ext uri="{FF2B5EF4-FFF2-40B4-BE49-F238E27FC236}">
                    <a16:creationId xmlns:a16="http://schemas.microsoft.com/office/drawing/2014/main" id="{829FE669-1DC5-1D5A-7BC4-F330925423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11811"/>
              <a:stretch>
                <a:fillRect/>
              </a:stretch>
            </p:blipFill>
            <p:spPr>
              <a:xfrm>
                <a:off x="6089795" y="4317902"/>
                <a:ext cx="4876648" cy="1135773"/>
              </a:xfrm>
              <a:prstGeom prst="rect">
                <a:avLst/>
              </a:prstGeom>
            </p:spPr>
          </p:pic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82120AC-0059-AD3C-9DDB-E4E5B03A14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3836" y="3844157"/>
                <a:ext cx="0" cy="374573"/>
              </a:xfrm>
              <a:prstGeom prst="line">
                <a:avLst/>
              </a:prstGeom>
              <a:ln w="28575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1431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8127C-C5C0-EEE9-FBEC-1AEF6E25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8143-9A9C-46EA-2DC1-EF2457B5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Birddog Status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5180D7-F041-C8E5-E9DE-83A66D3862F7}"/>
              </a:ext>
            </a:extLst>
          </p:cNvPr>
          <p:cNvGrpSpPr/>
          <p:nvPr/>
        </p:nvGrpSpPr>
        <p:grpSpPr>
          <a:xfrm>
            <a:off x="5960942" y="2960482"/>
            <a:ext cx="5429112" cy="2213643"/>
            <a:chOff x="1511579" y="2334624"/>
            <a:chExt cx="8995762" cy="366789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E4A4CF-8A07-CB11-2EE5-3740E2322487}"/>
                </a:ext>
              </a:extLst>
            </p:cNvPr>
            <p:cNvSpPr/>
            <p:nvPr/>
          </p:nvSpPr>
          <p:spPr>
            <a:xfrm>
              <a:off x="3900766" y="2334624"/>
              <a:ext cx="4390468" cy="366789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050" dirty="0"/>
                <a:t>AWS Elastic Beanstalk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B5A7A-41D5-C3C2-8EEA-569765E38B47}"/>
                </a:ext>
              </a:extLst>
            </p:cNvPr>
            <p:cNvSpPr/>
            <p:nvPr/>
          </p:nvSpPr>
          <p:spPr>
            <a:xfrm>
              <a:off x="5502843" y="2986045"/>
              <a:ext cx="1701210" cy="109515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Flask Server (Python)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E55F3F-BE48-757D-5D74-37A524430E51}"/>
                </a:ext>
              </a:extLst>
            </p:cNvPr>
            <p:cNvSpPr/>
            <p:nvPr/>
          </p:nvSpPr>
          <p:spPr>
            <a:xfrm>
              <a:off x="4786139" y="4983019"/>
              <a:ext cx="1433408" cy="8012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S3 (Storage)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9143C1-9B22-D9CE-128A-8C77044B29A1}"/>
                </a:ext>
              </a:extLst>
            </p:cNvPr>
            <p:cNvSpPr/>
            <p:nvPr/>
          </p:nvSpPr>
          <p:spPr>
            <a:xfrm>
              <a:off x="8806131" y="2986043"/>
              <a:ext cx="1701210" cy="109515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Web Client</a:t>
              </a:r>
            </a:p>
            <a:p>
              <a:pPr algn="ctr"/>
              <a:r>
                <a:rPr lang="en-US" sz="900" dirty="0"/>
                <a:t>(HTML/JS)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5348E0-BD8C-843D-B92E-888923C8F4A5}"/>
                </a:ext>
              </a:extLst>
            </p:cNvPr>
            <p:cNvSpPr/>
            <p:nvPr/>
          </p:nvSpPr>
          <p:spPr>
            <a:xfrm>
              <a:off x="6489338" y="4994951"/>
              <a:ext cx="1433408" cy="8012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DynamoDB (NoSQL database)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4FACDF-2E1D-ABC0-66B2-71C0E130C80D}"/>
                </a:ext>
              </a:extLst>
            </p:cNvPr>
            <p:cNvSpPr/>
            <p:nvPr/>
          </p:nvSpPr>
          <p:spPr>
            <a:xfrm>
              <a:off x="8806130" y="4081195"/>
              <a:ext cx="1701209" cy="70547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Bootstrap UI Framework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CB5A5A-EFAB-321F-71C4-509BDA893397}"/>
                </a:ext>
              </a:extLst>
            </p:cNvPr>
            <p:cNvSpPr/>
            <p:nvPr/>
          </p:nvSpPr>
          <p:spPr>
            <a:xfrm>
              <a:off x="1511579" y="3132980"/>
              <a:ext cx="1895556" cy="8012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Google Cloud Translate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C60FE7-DA5C-9819-352B-061013AFF308}"/>
                </a:ext>
              </a:extLst>
            </p:cNvPr>
            <p:cNvSpPr/>
            <p:nvPr/>
          </p:nvSpPr>
          <p:spPr>
            <a:xfrm>
              <a:off x="1511579" y="4214671"/>
              <a:ext cx="1895556" cy="8012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 err="1"/>
                <a:t>uk.wikisource.org</a:t>
              </a:r>
              <a:endParaRPr lang="en-US" sz="900" dirty="0"/>
            </a:p>
            <a:p>
              <a:pPr algn="ctr"/>
              <a:r>
                <a:rPr lang="en-US" sz="900" dirty="0"/>
                <a:t> API</a:t>
              </a:r>
            </a:p>
          </p:txBody>
        </p: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F7E1DB63-A60F-D561-CF2D-34666B3664D0}"/>
                </a:ext>
              </a:extLst>
            </p:cNvPr>
            <p:cNvCxnSpPr>
              <a:stCxn id="4" idx="1"/>
              <a:endCxn id="11" idx="3"/>
            </p:cNvCxnSpPr>
            <p:nvPr/>
          </p:nvCxnSpPr>
          <p:spPr>
            <a:xfrm rot="10800000">
              <a:off x="3407135" y="3533620"/>
              <a:ext cx="2095708" cy="2"/>
            </a:xfrm>
            <a:prstGeom prst="bentConnector3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878BF020-862F-3C84-500C-31D9AC7A9B74}"/>
                </a:ext>
              </a:extLst>
            </p:cNvPr>
            <p:cNvCxnSpPr>
              <a:cxnSpLocks/>
              <a:stCxn id="4" idx="1"/>
              <a:endCxn id="14" idx="3"/>
            </p:cNvCxnSpPr>
            <p:nvPr/>
          </p:nvCxnSpPr>
          <p:spPr>
            <a:xfrm rot="10800000" flipV="1">
              <a:off x="3407135" y="3533621"/>
              <a:ext cx="2095708" cy="1081689"/>
            </a:xfrm>
            <a:prstGeom prst="bentConnector3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04A76731-CB00-0645-80AB-8A1C961AB722}"/>
                </a:ext>
              </a:extLst>
            </p:cNvPr>
            <p:cNvCxnSpPr>
              <a:cxnSpLocks/>
              <a:stCxn id="6" idx="1"/>
              <a:endCxn id="4" idx="3"/>
            </p:cNvCxnSpPr>
            <p:nvPr/>
          </p:nvCxnSpPr>
          <p:spPr>
            <a:xfrm rot="10800000" flipV="1">
              <a:off x="7204053" y="3533620"/>
              <a:ext cx="1602078" cy="2"/>
            </a:xfrm>
            <a:prstGeom prst="bentConnector3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A8985A2A-9FAE-A238-7127-70D493801E53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rot="5400000">
              <a:off x="5477236" y="4106807"/>
              <a:ext cx="901820" cy="850605"/>
            </a:xfrm>
            <a:prstGeom prst="bent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F39471B7-1525-3228-5E7C-6EFB76A457D1}"/>
                </a:ext>
              </a:extLst>
            </p:cNvPr>
            <p:cNvCxnSpPr>
              <a:cxnSpLocks/>
              <a:stCxn id="7" idx="0"/>
              <a:endCxn id="4" idx="2"/>
            </p:cNvCxnSpPr>
            <p:nvPr/>
          </p:nvCxnSpPr>
          <p:spPr>
            <a:xfrm rot="16200000" flipV="1">
              <a:off x="6322869" y="4111778"/>
              <a:ext cx="913752" cy="852594"/>
            </a:xfrm>
            <a:prstGeom prst="bent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418C64A-4FC8-CEC4-F650-FB97FDAA5EC5}"/>
              </a:ext>
            </a:extLst>
          </p:cNvPr>
          <p:cNvSpPr txBox="1"/>
          <p:nvPr/>
        </p:nvSpPr>
        <p:spPr>
          <a:xfrm>
            <a:off x="1287951" y="2728475"/>
            <a:ext cx="424622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Up and running 24/7 on 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 active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 active developers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Ready for next steps…</a:t>
            </a:r>
          </a:p>
        </p:txBody>
      </p:sp>
    </p:spTree>
    <p:extLst>
      <p:ext uri="{BB962C8B-B14F-4D97-AF65-F5344CB8AC3E}">
        <p14:creationId xmlns:p14="http://schemas.microsoft.com/office/powerpoint/2010/main" val="1480401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54FD-5C9A-A4AB-9F2D-8BA1AC5A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7CEBB-AB90-BD96-6D87-0967EDD5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Bigger Picture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FA4810-1429-D1DB-E42E-9C4AD500E58F}"/>
              </a:ext>
            </a:extLst>
          </p:cNvPr>
          <p:cNvGrpSpPr/>
          <p:nvPr/>
        </p:nvGrpSpPr>
        <p:grpSpPr>
          <a:xfrm>
            <a:off x="272171" y="2402957"/>
            <a:ext cx="4716814" cy="2787696"/>
            <a:chOff x="676209" y="1876280"/>
            <a:chExt cx="7293573" cy="4310592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4892516-064C-67A6-8FAF-13BA7BCAF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209" y="1876280"/>
              <a:ext cx="2872372" cy="1715675"/>
            </a:xfrm>
            <a:prstGeom prst="rect">
              <a:avLst/>
            </a:prstGeom>
          </p:spPr>
        </p:pic>
        <p:pic>
          <p:nvPicPr>
            <p:cNvPr id="6" name="Picture 5" descr="A screenshot of a web page&#10;&#10;AI-generated content may be incorrect.">
              <a:extLst>
                <a:ext uri="{FF2B5EF4-FFF2-40B4-BE49-F238E27FC236}">
                  <a16:creationId xmlns:a16="http://schemas.microsoft.com/office/drawing/2014/main" id="{5508BCC8-6E57-F903-E7DD-3E692964F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9529" y="3876063"/>
              <a:ext cx="3868743" cy="2310809"/>
            </a:xfrm>
            <a:prstGeom prst="rect">
              <a:avLst/>
            </a:prstGeom>
          </p:spPr>
        </p:pic>
        <p:pic>
          <p:nvPicPr>
            <p:cNvPr id="15" name="Picture 14" descr="A blue person holding a computer&#10;&#10;AI-generated content may be incorrect.">
              <a:extLst>
                <a:ext uri="{FF2B5EF4-FFF2-40B4-BE49-F238E27FC236}">
                  <a16:creationId xmlns:a16="http://schemas.microsoft.com/office/drawing/2014/main" id="{6871A744-B639-4431-4630-9763C0021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45490" y="1900518"/>
              <a:ext cx="1585319" cy="1289266"/>
            </a:xfrm>
            <a:prstGeom prst="rect">
              <a:avLst/>
            </a:prstGeom>
          </p:spPr>
        </p:pic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B5569AD7-5253-9D0D-D326-0D3E381FCC7C}"/>
                </a:ext>
              </a:extLst>
            </p:cNvPr>
            <p:cNvSpPr/>
            <p:nvPr/>
          </p:nvSpPr>
          <p:spPr>
            <a:xfrm>
              <a:off x="7320646" y="4596121"/>
              <a:ext cx="649136" cy="41058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Bent-Up Arrow 2">
              <a:extLst>
                <a:ext uri="{FF2B5EF4-FFF2-40B4-BE49-F238E27FC236}">
                  <a16:creationId xmlns:a16="http://schemas.microsoft.com/office/drawing/2014/main" id="{2A669B34-53B2-75F6-4B8D-891A9406DD00}"/>
                </a:ext>
              </a:extLst>
            </p:cNvPr>
            <p:cNvSpPr/>
            <p:nvPr/>
          </p:nvSpPr>
          <p:spPr>
            <a:xfrm rot="5400000">
              <a:off x="2142542" y="3892288"/>
              <a:ext cx="911598" cy="879148"/>
            </a:xfrm>
            <a:prstGeom prst="bentUpArrow">
              <a:avLst>
                <a:gd name="adj1" fmla="val 23191"/>
                <a:gd name="adj2" fmla="val 25000"/>
                <a:gd name="adj3" fmla="val 25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Up-Down Arrow 4">
              <a:extLst>
                <a:ext uri="{FF2B5EF4-FFF2-40B4-BE49-F238E27FC236}">
                  <a16:creationId xmlns:a16="http://schemas.microsoft.com/office/drawing/2014/main" id="{FF58EB2F-75CE-5475-E1A7-42C604B92146}"/>
                </a:ext>
              </a:extLst>
            </p:cNvPr>
            <p:cNvSpPr/>
            <p:nvPr/>
          </p:nvSpPr>
          <p:spPr>
            <a:xfrm>
              <a:off x="4720432" y="2981937"/>
              <a:ext cx="413468" cy="911599"/>
            </a:xfrm>
            <a:prstGeom prst="up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7787E0B-954C-00E1-3614-87C33B023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199" y="1280669"/>
            <a:ext cx="2787450" cy="1370367"/>
          </a:xfrm>
          <a:prstGeom prst="rect">
            <a:avLst/>
          </a:prstGeom>
        </p:spPr>
      </p:pic>
      <p:sp>
        <p:nvSpPr>
          <p:cNvPr id="12" name="Cloud 11">
            <a:extLst>
              <a:ext uri="{FF2B5EF4-FFF2-40B4-BE49-F238E27FC236}">
                <a16:creationId xmlns:a16="http://schemas.microsoft.com/office/drawing/2014/main" id="{140754D1-3F7F-3945-21AD-09830E85593B}"/>
              </a:ext>
            </a:extLst>
          </p:cNvPr>
          <p:cNvSpPr/>
          <p:nvPr/>
        </p:nvSpPr>
        <p:spPr>
          <a:xfrm>
            <a:off x="4989874" y="80863"/>
            <a:ext cx="7202126" cy="5790538"/>
          </a:xfrm>
          <a:prstGeom prst="cloud">
            <a:avLst/>
          </a:prstGeom>
          <a:solidFill>
            <a:srgbClr val="E8E8E8">
              <a:alpha val="2902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EC320CD-5237-5299-0C70-F10D1CC64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109" y="2725786"/>
            <a:ext cx="5159156" cy="2214815"/>
          </a:xfrm>
          <a:prstGeom prst="rect">
            <a:avLst/>
          </a:prstGeom>
        </p:spPr>
      </p:pic>
      <p:pic>
        <p:nvPicPr>
          <p:cNvPr id="16" name="Picture 15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F56BDE08-5E77-9F60-CC0E-684AD741B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022" y="6064510"/>
            <a:ext cx="721452" cy="586723"/>
          </a:xfrm>
          <a:prstGeom prst="rect">
            <a:avLst/>
          </a:prstGeom>
        </p:spPr>
      </p:pic>
      <p:pic>
        <p:nvPicPr>
          <p:cNvPr id="18" name="Picture 17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9D2C117C-F8FF-D656-313F-8740BFF69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67" y="6059297"/>
            <a:ext cx="721452" cy="586723"/>
          </a:xfrm>
          <a:prstGeom prst="rect">
            <a:avLst/>
          </a:prstGeom>
        </p:spPr>
      </p:pic>
      <p:pic>
        <p:nvPicPr>
          <p:cNvPr id="19" name="Picture 18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222B890F-2985-9135-C7EA-F3C50389D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4505" y="5687564"/>
            <a:ext cx="721452" cy="586723"/>
          </a:xfrm>
          <a:prstGeom prst="rect">
            <a:avLst/>
          </a:prstGeom>
        </p:spPr>
      </p:pic>
      <p:sp>
        <p:nvSpPr>
          <p:cNvPr id="20" name="Left-Right Arrow 19">
            <a:extLst>
              <a:ext uri="{FF2B5EF4-FFF2-40B4-BE49-F238E27FC236}">
                <a16:creationId xmlns:a16="http://schemas.microsoft.com/office/drawing/2014/main" id="{3CBAEFD3-FE10-F1F4-6D93-81DDC333C624}"/>
              </a:ext>
            </a:extLst>
          </p:cNvPr>
          <p:cNvSpPr/>
          <p:nvPr/>
        </p:nvSpPr>
        <p:spPr>
          <a:xfrm rot="3136357">
            <a:off x="9913560" y="4956227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-Right Arrow 23">
            <a:extLst>
              <a:ext uri="{FF2B5EF4-FFF2-40B4-BE49-F238E27FC236}">
                <a16:creationId xmlns:a16="http://schemas.microsoft.com/office/drawing/2014/main" id="{07D5C28A-5EDD-E5AA-4030-B95139BD1CAD}"/>
              </a:ext>
            </a:extLst>
          </p:cNvPr>
          <p:cNvSpPr/>
          <p:nvPr/>
        </p:nvSpPr>
        <p:spPr>
          <a:xfrm rot="4660625">
            <a:off x="8453761" y="520941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-Right Arrow 24">
            <a:extLst>
              <a:ext uri="{FF2B5EF4-FFF2-40B4-BE49-F238E27FC236}">
                <a16:creationId xmlns:a16="http://schemas.microsoft.com/office/drawing/2014/main" id="{EDE47C4D-5338-E97A-356C-A0CDD2AA47EC}"/>
              </a:ext>
            </a:extLst>
          </p:cNvPr>
          <p:cNvSpPr/>
          <p:nvPr/>
        </p:nvSpPr>
        <p:spPr>
          <a:xfrm rot="3957520">
            <a:off x="9213068" y="5261193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730860C-5A57-5872-E7B0-BF1DDC5D6DB5}"/>
              </a:ext>
            </a:extLst>
          </p:cNvPr>
          <p:cNvGrpSpPr/>
          <p:nvPr/>
        </p:nvGrpSpPr>
        <p:grpSpPr>
          <a:xfrm>
            <a:off x="8096777" y="855482"/>
            <a:ext cx="3137747" cy="1553018"/>
            <a:chOff x="4584873" y="4735296"/>
            <a:chExt cx="3137747" cy="155301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3BD02FA-FFE3-8832-5EAC-3FE9058D0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41841" y="4865391"/>
              <a:ext cx="1660793" cy="71297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FE6EC4F-DC0F-B4C6-2CF0-9ECB35BE5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84873" y="5151279"/>
              <a:ext cx="1660793" cy="71297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A817E49-32BA-426C-FFC8-EE920FED9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37935" y="5575339"/>
              <a:ext cx="1660793" cy="71297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4F01611-32A1-8C3E-F49C-4ABB767E9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61827" y="4735296"/>
              <a:ext cx="1660793" cy="71297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7DE728E-49D5-8E0E-885D-C7A7407FE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27822" y="5176347"/>
              <a:ext cx="1660793" cy="712975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4586E6B-EF32-AA41-A051-CAE90E1E43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9805" y="374585"/>
            <a:ext cx="643977" cy="712975"/>
          </a:xfrm>
          <a:prstGeom prst="rect">
            <a:avLst/>
          </a:prstGeom>
        </p:spPr>
      </p:pic>
      <p:pic>
        <p:nvPicPr>
          <p:cNvPr id="35" name="Picture 3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F59BB0C7-0687-A57E-D305-757584182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256" y="5992158"/>
            <a:ext cx="721452" cy="586723"/>
          </a:xfrm>
          <a:prstGeom prst="rect">
            <a:avLst/>
          </a:prstGeom>
        </p:spPr>
      </p:pic>
      <p:pic>
        <p:nvPicPr>
          <p:cNvPr id="36" name="Picture 35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5C265BCF-CDFA-2ED1-397B-8CB1A7530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661" y="5871401"/>
            <a:ext cx="721452" cy="586723"/>
          </a:xfrm>
          <a:prstGeom prst="rect">
            <a:avLst/>
          </a:prstGeom>
        </p:spPr>
      </p:pic>
      <p:pic>
        <p:nvPicPr>
          <p:cNvPr id="37" name="Picture 36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9FAE5461-55F2-E90D-3B13-EC642EF57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841" y="6097930"/>
            <a:ext cx="721452" cy="586723"/>
          </a:xfrm>
          <a:prstGeom prst="rect">
            <a:avLst/>
          </a:prstGeom>
        </p:spPr>
      </p:pic>
      <p:sp>
        <p:nvSpPr>
          <p:cNvPr id="38" name="Left-Right Arrow 37">
            <a:extLst>
              <a:ext uri="{FF2B5EF4-FFF2-40B4-BE49-F238E27FC236}">
                <a16:creationId xmlns:a16="http://schemas.microsoft.com/office/drawing/2014/main" id="{C0FC1311-9485-D7A8-59C5-BA796D239E1B}"/>
              </a:ext>
            </a:extLst>
          </p:cNvPr>
          <p:cNvSpPr/>
          <p:nvPr/>
        </p:nvSpPr>
        <p:spPr>
          <a:xfrm rot="7126337">
            <a:off x="6204145" y="555603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-Right Arrow 38">
            <a:extLst>
              <a:ext uri="{FF2B5EF4-FFF2-40B4-BE49-F238E27FC236}">
                <a16:creationId xmlns:a16="http://schemas.microsoft.com/office/drawing/2014/main" id="{FFD1B384-8D38-8A59-C851-A06B1B510874}"/>
              </a:ext>
            </a:extLst>
          </p:cNvPr>
          <p:cNvSpPr/>
          <p:nvPr/>
        </p:nvSpPr>
        <p:spPr>
          <a:xfrm rot="5887104">
            <a:off x="7443205" y="5431898"/>
            <a:ext cx="859853" cy="26552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CA0E6F-3155-F8BF-7242-6B00E249E543}"/>
              </a:ext>
            </a:extLst>
          </p:cNvPr>
          <p:cNvGrpSpPr/>
          <p:nvPr/>
        </p:nvGrpSpPr>
        <p:grpSpPr>
          <a:xfrm>
            <a:off x="9442799" y="1397760"/>
            <a:ext cx="2219966" cy="1098765"/>
            <a:chOff x="4584873" y="4735296"/>
            <a:chExt cx="3137747" cy="155301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C1F8F9-1BC1-E63B-E3B6-6D913C7F0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41841" y="4865391"/>
              <a:ext cx="1660793" cy="71297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31C2582-3B3D-A9D5-FCB9-CECB7D75A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84873" y="5151279"/>
              <a:ext cx="1660793" cy="7129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AC8B862-002F-6D1E-A949-69E4AD87E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37935" y="5575339"/>
              <a:ext cx="1660793" cy="71297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E08B8B1-C0D9-2EF1-E985-6E87EA36C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61827" y="4735296"/>
              <a:ext cx="1660793" cy="71297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EA1D2E7-2DB6-6C03-DA25-EBE081361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27822" y="5176347"/>
              <a:ext cx="1660793" cy="712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547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24" grpId="0" animBg="1"/>
      <p:bldP spid="25" grpId="0" animBg="1"/>
      <p:bldP spid="38" grpId="0" animBg="1"/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B70F1-AF25-38CC-FFC1-DAD8405D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C5F6F-8FF7-6B39-D41A-FAFAC934643F}"/>
              </a:ext>
            </a:extLst>
          </p:cNvPr>
          <p:cNvSpPr txBox="1"/>
          <p:nvPr/>
        </p:nvSpPr>
        <p:spPr>
          <a:xfrm>
            <a:off x="292231" y="2599509"/>
            <a:ext cx="5619302" cy="36394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With Google Drive spreadsheets,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	</a:t>
            </a:r>
            <a:r>
              <a:rPr lang="en-US" sz="2400" b="1" dirty="0">
                <a:solidFill>
                  <a:srgbClr val="C00000"/>
                </a:solidFill>
              </a:rPr>
              <a:t>View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Data</a:t>
            </a:r>
            <a:r>
              <a:rPr lang="en-US" sz="2400" dirty="0"/>
              <a:t> are not separated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Labor intensive to maintain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Fragile multi-tab relationship structure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amenable to multi-person access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Hard to revise sheet structure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Hard to scale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E355E-5CA5-7435-D557-FFDF19203C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13968" y="2984778"/>
            <a:ext cx="3868831" cy="274388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58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037A7-AA00-8647-F45E-984DD032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212709"/>
            <a:ext cx="8232296" cy="1337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E39B0-22F9-0748-9E12-85DD06BCA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2248166"/>
            <a:ext cx="1410402" cy="1337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30F781-42C4-8AC5-F9B5-AFB4F7807C48}"/>
              </a:ext>
            </a:extLst>
          </p:cNvPr>
          <p:cNvSpPr txBox="1"/>
          <p:nvPr/>
        </p:nvSpPr>
        <p:spPr>
          <a:xfrm>
            <a:off x="2910690" y="1051582"/>
            <a:ext cx="8315250" cy="3395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3000" b="1" dirty="0"/>
              <a:t>Replace </a:t>
            </a:r>
            <a:r>
              <a:rPr lang="en-US" sz="3000" b="1" dirty="0">
                <a:solidFill>
                  <a:srgbClr val="C00000"/>
                </a:solidFill>
              </a:rPr>
              <a:t>Google Drive</a:t>
            </a:r>
            <a:r>
              <a:rPr lang="en-US" sz="3000" b="1" dirty="0"/>
              <a:t> with a </a:t>
            </a:r>
            <a:r>
              <a:rPr lang="en-US" sz="3000" b="1" dirty="0">
                <a:solidFill>
                  <a:srgbClr val="C00000"/>
                </a:solidFill>
              </a:rPr>
              <a:t>Database</a:t>
            </a:r>
            <a:r>
              <a:rPr lang="en-US" sz="3000" b="1" dirty="0"/>
              <a:t> that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Separates data from view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Is easy to maintain and evolve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Can scale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Allows multiple concurrent users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Replaces multi-tab spreadsheets with evolvable, role-specific views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Replaces cross-sheet process reporting formulas with automated roll-ups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Provides built-in back-up, journaling of data changes, and commenting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Facilitates further automation, such as AI-assisted triage, etc.</a:t>
            </a:r>
          </a:p>
        </p:txBody>
      </p:sp>
    </p:spTree>
    <p:extLst>
      <p:ext uri="{BB962C8B-B14F-4D97-AF65-F5344CB8AC3E}">
        <p14:creationId xmlns:p14="http://schemas.microsoft.com/office/powerpoint/2010/main" val="943110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C7313-819F-1AF0-DC36-91C21D9C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Database Requirements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40E469C-5270-449E-FACA-12C9A8A5E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31611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170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F8283A-E5EE-9C28-74FF-F36CCC23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Candidate Database Platform: </a:t>
            </a:r>
            <a:r>
              <a:rPr lang="en-US" sz="2800" b="1" kern="1200" dirty="0" err="1">
                <a:solidFill>
                  <a:srgbClr val="383BCB"/>
                </a:solidFill>
                <a:latin typeface="+mj-lt"/>
                <a:ea typeface="+mj-ea"/>
                <a:cs typeface="+mj-cs"/>
              </a:rPr>
              <a:t>NocoDB</a:t>
            </a:r>
            <a:endParaRPr lang="en-US" sz="2800" b="1" kern="1200" dirty="0">
              <a:solidFill>
                <a:srgbClr val="383BC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EE8B5-E666-0207-6437-0A5F23362B5E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Low cost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Easy to learn (like </a:t>
            </a:r>
            <a:r>
              <a:rPr lang="en-US" sz="1700" dirty="0" err="1"/>
              <a:t>AirTable</a:t>
            </a:r>
            <a:r>
              <a:rPr lang="en-US" sz="17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Opensource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 database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Available as hosted solution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Can be self-hosted too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801B8-8BF9-C0FB-6FB8-E76DF4400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826663"/>
            <a:ext cx="6922008" cy="3305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007A52-3A45-21E3-3235-724EF0EFFE87}"/>
              </a:ext>
            </a:extLst>
          </p:cNvPr>
          <p:cNvSpPr txBox="1"/>
          <p:nvPr/>
        </p:nvSpPr>
        <p:spPr>
          <a:xfrm>
            <a:off x="6653501" y="5512326"/>
            <a:ext cx="3417374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https://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nocodb.com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25910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E859-35B6-60B2-D963-B8ED62B8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NocoDB</a:t>
            </a:r>
            <a:r>
              <a:rPr lang="en-US" dirty="0"/>
              <a:t> Web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87083-CD46-8363-52C6-258AC86E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989" y="1577353"/>
            <a:ext cx="6904022" cy="482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72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1306-E303-145D-95EE-1E253453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5158-9027-35B4-B562-22E904B3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NocoDB</a:t>
            </a:r>
            <a:r>
              <a:rPr lang="en-US" dirty="0"/>
              <a:t> Features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07EB1E-FBA7-2B9A-C96B-EF18BCC82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5487" y="1825625"/>
            <a:ext cx="90410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197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AED1-D5DA-9181-C2C3-26C524171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Customizable Views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69FB6C-9DFE-BF9A-F0A6-E1CA56BF7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13" y="1488027"/>
            <a:ext cx="2868439" cy="9279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936134-EE1D-390D-0DCC-914ED1051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13" y="2584852"/>
            <a:ext cx="2740536" cy="886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5F93BC-763E-E53D-14AF-DA034DA08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13" y="3640302"/>
            <a:ext cx="2740536" cy="886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4B6174-A459-3F39-9BA3-8625BA830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13" y="4695752"/>
            <a:ext cx="2740537" cy="886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3391F4-D018-5D14-E21B-CC07E6ADA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13" y="5751203"/>
            <a:ext cx="2740537" cy="886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F7A08B-C682-DF2F-4ED9-21B14B1863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767" y="1488027"/>
            <a:ext cx="3922501" cy="2328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ABA8F4-AE90-611F-855C-243044F143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2986" y="1488028"/>
            <a:ext cx="3922500" cy="2328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F1A0AF-5266-BD12-C739-DBE1E906CC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6903" y="3974700"/>
            <a:ext cx="3922500" cy="232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8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08F9-9E17-DFBB-761E-C2204C3F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Role-Based Data Access Permissions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02FE58-8739-E6A9-63AB-3272243D6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8739" y="2061880"/>
            <a:ext cx="4512097" cy="360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34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86CE-9D44-7622-1101-AEF9E67E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 History for All Data Changes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7FDA8A-76D2-DF14-F786-2BC5A81B6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407" y="1825625"/>
            <a:ext cx="7263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97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3ACB9-92FA-7D4C-097F-305009D54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Per-Record Commenting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AD72BB-7FF8-F84F-AD49-ADAEC4E06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407" y="1825625"/>
            <a:ext cx="7263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82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C4F63D-82C7-C095-A325-553B9382E6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3579" y="1690688"/>
            <a:ext cx="6796634" cy="34389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85664F-A443-AD42-AB8F-F4603E24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Experiment with DAHEO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0BA84-E42A-8322-0566-7FF35D95F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57" y="2591354"/>
            <a:ext cx="3736167" cy="1675292"/>
          </a:xfrm>
          <a:prstGeom prst="rect">
            <a:avLst/>
          </a:prstGeom>
        </p:spPr>
      </p:pic>
      <p:sp>
        <p:nvSpPr>
          <p:cNvPr id="5" name="Chevron 4">
            <a:extLst>
              <a:ext uri="{FF2B5EF4-FFF2-40B4-BE49-F238E27FC236}">
                <a16:creationId xmlns:a16="http://schemas.microsoft.com/office/drawing/2014/main" id="{058B7773-D04F-BD47-D766-A272E60E5A56}"/>
              </a:ext>
            </a:extLst>
          </p:cNvPr>
          <p:cNvSpPr/>
          <p:nvPr/>
        </p:nvSpPr>
        <p:spPr>
          <a:xfrm>
            <a:off x="4221162" y="2748516"/>
            <a:ext cx="896679" cy="136096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07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5582-DCE4-EDC4-CC3C-F312A342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652"/>
            <a:ext cx="10515600" cy="926347"/>
          </a:xfrm>
        </p:spPr>
        <p:txBody>
          <a:bodyPr>
            <a:normAutofit/>
          </a:bodyPr>
          <a:lstStyle/>
          <a:p>
            <a:r>
              <a:rPr lang="en-US" sz="4800" dirty="0"/>
              <a:t>Database Schema 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D74F5A-0DEA-0FD1-0717-F4542718DA3A}"/>
              </a:ext>
            </a:extLst>
          </p:cNvPr>
          <p:cNvSpPr/>
          <p:nvPr/>
        </p:nvSpPr>
        <p:spPr>
          <a:xfrm>
            <a:off x="682863" y="2666744"/>
            <a:ext cx="4846066" cy="352469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“Page”</a:t>
            </a:r>
          </a:p>
          <a:p>
            <a:pPr algn="ctr"/>
            <a:r>
              <a:rPr lang="en-US" sz="2400" dirty="0"/>
              <a:t>A Wiki or Archive web page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Title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Level (archive, fund, opus, case)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Availability (linked, unlinked)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Parent (page)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Children (pages)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DCFFB3-F838-AE64-B769-ACC9AD070601}"/>
              </a:ext>
            </a:extLst>
          </p:cNvPr>
          <p:cNvSpPr/>
          <p:nvPr/>
        </p:nvSpPr>
        <p:spPr>
          <a:xfrm>
            <a:off x="6170427" y="2666744"/>
            <a:ext cx="5487564" cy="3524693"/>
          </a:xfrm>
          <a:prstGeom prst="roundRect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“Document”</a:t>
            </a:r>
            <a:endParaRPr lang="en-US" sz="2400" dirty="0"/>
          </a:p>
          <a:p>
            <a:pPr algn="ctr"/>
            <a:r>
              <a:rPr lang="en-US" sz="2400" dirty="0"/>
              <a:t>An attached scanned document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 link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Content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Pages processed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Owning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5D963-D30A-DC51-EBC2-B1976F7A3551}"/>
              </a:ext>
            </a:extLst>
          </p:cNvPr>
          <p:cNvSpPr txBox="1"/>
          <p:nvPr/>
        </p:nvSpPr>
        <p:spPr>
          <a:xfrm>
            <a:off x="0" y="160977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Separate </a:t>
            </a:r>
            <a:r>
              <a:rPr lang="en-US" sz="3600" b="1" dirty="0">
                <a:solidFill>
                  <a:schemeClr val="accent4"/>
                </a:solidFill>
              </a:rPr>
              <a:t>Page</a:t>
            </a:r>
            <a:r>
              <a:rPr lang="en-US" sz="3600" dirty="0"/>
              <a:t> data from </a:t>
            </a:r>
            <a:r>
              <a:rPr lang="en-US" sz="3600" b="1" dirty="0">
                <a:solidFill>
                  <a:schemeClr val="accent6"/>
                </a:solidFill>
              </a:rPr>
              <a:t>Scanned Document</a:t>
            </a:r>
            <a:r>
              <a:rPr lang="en-US" sz="36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298759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D195-98A3-548D-4516-EE543E11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7" y="2147308"/>
            <a:ext cx="10881207" cy="3996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A978B0-C862-9C80-7A7D-000669D2586E}"/>
              </a:ext>
            </a:extLst>
          </p:cNvPr>
          <p:cNvSpPr/>
          <p:nvPr/>
        </p:nvSpPr>
        <p:spPr>
          <a:xfrm>
            <a:off x="731520" y="3206012"/>
            <a:ext cx="3868760" cy="1746234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32795-8C08-F2D9-1514-D74C3D6FC3D0}"/>
              </a:ext>
            </a:extLst>
          </p:cNvPr>
          <p:cNvSpPr/>
          <p:nvPr/>
        </p:nvSpPr>
        <p:spPr>
          <a:xfrm>
            <a:off x="4698749" y="3206012"/>
            <a:ext cx="6716745" cy="1746234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09072-65B3-7E28-18EF-5419A2A70DC0}"/>
              </a:ext>
            </a:extLst>
          </p:cNvPr>
          <p:cNvSpPr txBox="1"/>
          <p:nvPr/>
        </p:nvSpPr>
        <p:spPr>
          <a:xfrm>
            <a:off x="1508289" y="1395009"/>
            <a:ext cx="1819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4"/>
                </a:solidFill>
              </a:rPr>
              <a:t>Page</a:t>
            </a:r>
            <a:r>
              <a:rPr lang="en-US" sz="2800" b="1" dirty="0">
                <a:solidFill>
                  <a:schemeClr val="accent4"/>
                </a:solidFill>
              </a:rPr>
              <a:t> </a:t>
            </a:r>
            <a:r>
              <a:rPr lang="en-US" sz="2800" b="1" dirty="0"/>
              <a:t>Data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8B9FE2C6-9773-A1D6-C7F5-B79A7B272384}"/>
              </a:ext>
            </a:extLst>
          </p:cNvPr>
          <p:cNvSpPr/>
          <p:nvPr/>
        </p:nvSpPr>
        <p:spPr>
          <a:xfrm>
            <a:off x="2320839" y="1865792"/>
            <a:ext cx="194244" cy="697714"/>
          </a:xfrm>
          <a:prstGeom prst="down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C082E-BF14-3E11-4A28-773A865FF9E9}"/>
              </a:ext>
            </a:extLst>
          </p:cNvPr>
          <p:cNvSpPr txBox="1"/>
          <p:nvPr/>
        </p:nvSpPr>
        <p:spPr>
          <a:xfrm>
            <a:off x="6324865" y="1328773"/>
            <a:ext cx="2753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6"/>
                </a:solidFill>
              </a:rPr>
              <a:t>Document</a:t>
            </a:r>
            <a:r>
              <a:rPr lang="en-US" sz="2800" b="1" dirty="0">
                <a:solidFill>
                  <a:schemeClr val="accent6"/>
                </a:solidFill>
              </a:rPr>
              <a:t> </a:t>
            </a:r>
            <a:r>
              <a:rPr lang="en-US" sz="2800" b="1" dirty="0"/>
              <a:t>Data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8EE5852E-3A9E-ACED-658A-5BDAB0404A06}"/>
              </a:ext>
            </a:extLst>
          </p:cNvPr>
          <p:cNvSpPr/>
          <p:nvPr/>
        </p:nvSpPr>
        <p:spPr>
          <a:xfrm>
            <a:off x="7604466" y="1814108"/>
            <a:ext cx="194244" cy="106536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BB361-7CAD-C9C5-94D4-08439385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0995"/>
          </a:xfrm>
        </p:spPr>
        <p:txBody>
          <a:bodyPr>
            <a:noAutofit/>
          </a:bodyPr>
          <a:lstStyle/>
          <a:p>
            <a:r>
              <a:rPr lang="en-US" sz="3600" dirty="0"/>
              <a:t>Mapping Spreadsheet Columns to Database Schema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0743D1-08C5-8C21-41B7-CF651505A2D1}"/>
              </a:ext>
            </a:extLst>
          </p:cNvPr>
          <p:cNvSpPr/>
          <p:nvPr/>
        </p:nvSpPr>
        <p:spPr>
          <a:xfrm>
            <a:off x="1398760" y="2933323"/>
            <a:ext cx="3508218" cy="15814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27C8B3-4A08-7881-3BD5-EF843F3A9E6C}"/>
              </a:ext>
            </a:extLst>
          </p:cNvPr>
          <p:cNvSpPr/>
          <p:nvPr/>
        </p:nvSpPr>
        <p:spPr>
          <a:xfrm>
            <a:off x="4600279" y="2778589"/>
            <a:ext cx="2321095" cy="158149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179E3-DB2C-E86C-310E-57227F55032E}"/>
              </a:ext>
            </a:extLst>
          </p:cNvPr>
          <p:cNvSpPr/>
          <p:nvPr/>
        </p:nvSpPr>
        <p:spPr>
          <a:xfrm>
            <a:off x="1436095" y="3564272"/>
            <a:ext cx="2348254" cy="1288385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FC068975-19A4-A1F4-291A-D604A2BA8DE8}"/>
              </a:ext>
            </a:extLst>
          </p:cNvPr>
          <p:cNvSpPr/>
          <p:nvPr/>
        </p:nvSpPr>
        <p:spPr>
          <a:xfrm rot="8625628">
            <a:off x="3846565" y="4411262"/>
            <a:ext cx="194244" cy="2122915"/>
          </a:xfrm>
          <a:prstGeom prst="downArrow">
            <a:avLst>
              <a:gd name="adj1" fmla="val 30456"/>
              <a:gd name="adj2" fmla="val 75439"/>
            </a:avLst>
          </a:prstGeom>
          <a:solidFill>
            <a:schemeClr val="accent6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7070E-0EDC-0225-4E61-D405EA2EC096}"/>
              </a:ext>
            </a:extLst>
          </p:cNvPr>
          <p:cNvSpPr txBox="1"/>
          <p:nvPr/>
        </p:nvSpPr>
        <p:spPr>
          <a:xfrm>
            <a:off x="4450475" y="6231265"/>
            <a:ext cx="2841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6"/>
                </a:solidFill>
              </a:rPr>
              <a:t>Document</a:t>
            </a:r>
            <a:r>
              <a:rPr lang="en-US" sz="2800" b="1" dirty="0">
                <a:solidFill>
                  <a:schemeClr val="accent6"/>
                </a:solidFill>
              </a:rPr>
              <a:t> Links</a:t>
            </a:r>
          </a:p>
        </p:txBody>
      </p:sp>
    </p:spTree>
    <p:extLst>
      <p:ext uri="{BB962C8B-B14F-4D97-AF65-F5344CB8AC3E}">
        <p14:creationId xmlns:p14="http://schemas.microsoft.com/office/powerpoint/2010/main" val="254559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9" grpId="0" animBg="1"/>
      <p:bldP spid="10" grpId="0"/>
      <p:bldP spid="11" grpId="0" animBg="1"/>
      <p:bldP spid="3" grpId="0" animBg="1"/>
      <p:bldP spid="8" grpId="0" animBg="1"/>
      <p:bldP spid="12" grpId="0" animBg="1"/>
      <p:bldP spid="13" grpId="0" animBg="1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9D94-BA1E-5B59-D36F-171B779C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Pages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920D4F-9DDC-4EB1-814F-FEF9822CF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075" y="1998248"/>
            <a:ext cx="11433850" cy="43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93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3D778-625D-47D0-A107-76F7321A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256E-055A-5CA7-3A7F-00AED3E41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 Table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08DB6E-D4E7-9CE8-5B6A-9DDE70B04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751" y="1878643"/>
            <a:ext cx="11398213" cy="42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13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EE1F-4F97-B282-9A5C-BA24076E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'Kanban” View of Pages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28F2-8587-6B67-12B8-1F10FB2B1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9234"/>
            <a:ext cx="7772400" cy="461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48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07B9-FE7C-6E4C-DD71-DA7F7AA1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Gallery View for Content Checkers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0D554A-09EF-63D8-9575-AFE8578A4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2615" y="1825625"/>
            <a:ext cx="73867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33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EDEDF9-7D07-165F-A2CD-05EBD3759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8" y="1513264"/>
            <a:ext cx="7772400" cy="47589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C29223B-EC82-DBD3-E969-7069360D6E6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Birddog Integration (NOT YET!)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B1524-D0EB-6759-A43F-C3FDC61ED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041" y="2690958"/>
            <a:ext cx="609600" cy="584200"/>
          </a:xfrm>
          <a:prstGeom prst="rect">
            <a:avLst/>
          </a:prstGeom>
          <a:effectLst>
            <a:glow rad="231179">
              <a:srgbClr val="FF0000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2AA3E6-1169-AC22-159D-60FE89DA6A9B}"/>
              </a:ext>
            </a:extLst>
          </p:cNvPr>
          <p:cNvSpPr txBox="1"/>
          <p:nvPr/>
        </p:nvSpPr>
        <p:spPr>
          <a:xfrm>
            <a:off x="9226592" y="2785569"/>
            <a:ext cx="208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“Update database”</a:t>
            </a:r>
          </a:p>
        </p:txBody>
      </p:sp>
    </p:spTree>
    <p:extLst>
      <p:ext uri="{BB962C8B-B14F-4D97-AF65-F5344CB8AC3E}">
        <p14:creationId xmlns:p14="http://schemas.microsoft.com/office/powerpoint/2010/main" val="3367452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6D7E57-E5CC-0733-C37A-A9B320154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29" y="1690688"/>
            <a:ext cx="11075175" cy="452769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8A0E698-8401-EF05-101D-DA6F2AAC94C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Mock-Up View for Reviewing Birddog Updates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2392C8-E20E-C069-F910-9F2739892098}"/>
              </a:ext>
            </a:extLst>
          </p:cNvPr>
          <p:cNvSpPr/>
          <p:nvPr/>
        </p:nvSpPr>
        <p:spPr>
          <a:xfrm>
            <a:off x="5261336" y="2495314"/>
            <a:ext cx="1230000" cy="3679149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1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B91F0B0-144B-6B3A-6C5A-0F06BD276FCC}"/>
              </a:ext>
            </a:extLst>
          </p:cNvPr>
          <p:cNvSpPr/>
          <p:nvPr/>
        </p:nvSpPr>
        <p:spPr>
          <a:xfrm>
            <a:off x="7135660" y="444998"/>
            <a:ext cx="4739014" cy="221469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E3559F-AD00-F8AF-C6C4-93869A1AF4DA}"/>
              </a:ext>
            </a:extLst>
          </p:cNvPr>
          <p:cNvSpPr/>
          <p:nvPr/>
        </p:nvSpPr>
        <p:spPr>
          <a:xfrm>
            <a:off x="9540658" y="2659692"/>
            <a:ext cx="2334016" cy="207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204C1B8-FC0E-C74F-9B2D-DF4C9F3DE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954" y="1366757"/>
            <a:ext cx="615915" cy="48686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7FED33E-E45F-6715-C57D-5196DB268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146" y="1470351"/>
            <a:ext cx="917016" cy="351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C7284F-9EA7-49D7-8504-DA9FFD63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“Baby Steps” Strategy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7EDAECC-3188-1B55-D922-8682E5B8F0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497071"/>
              </p:ext>
            </p:extLst>
          </p:nvPr>
        </p:nvGraphicFramePr>
        <p:xfrm>
          <a:off x="1054992" y="2800469"/>
          <a:ext cx="7594353" cy="3692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10D4963-7766-60E4-8C02-014CFD6840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0083" y="1251751"/>
            <a:ext cx="643977" cy="71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406C2-91B5-C3D4-741B-8CEA410A9A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0588" y="3405443"/>
            <a:ext cx="482774" cy="479999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FB1EEFFB-B1A4-810B-A61E-DD09F5581ABA}"/>
              </a:ext>
            </a:extLst>
          </p:cNvPr>
          <p:cNvCxnSpPr>
            <a:cxnSpLocks/>
            <a:stCxn id="41" idx="3"/>
            <a:endCxn id="5" idx="1"/>
          </p:cNvCxnSpPr>
          <p:nvPr/>
        </p:nvCxnSpPr>
        <p:spPr>
          <a:xfrm>
            <a:off x="9596862" y="1610190"/>
            <a:ext cx="903726" cy="2035253"/>
          </a:xfrm>
          <a:prstGeom prst="curvedConnector3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E0C9F9E1-65F7-9930-30C4-7C3C56244E44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>
            <a:off x="10026666" y="2680036"/>
            <a:ext cx="1440717" cy="10097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E2E763CE-AA4E-54EF-A09D-A9F71C4D1D1D}"/>
              </a:ext>
            </a:extLst>
          </p:cNvPr>
          <p:cNvCxnSpPr>
            <a:cxnSpLocks/>
          </p:cNvCxnSpPr>
          <p:nvPr/>
        </p:nvCxnSpPr>
        <p:spPr>
          <a:xfrm flipV="1">
            <a:off x="8405162" y="1618519"/>
            <a:ext cx="559800" cy="417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45933AD-E368-9FE4-EE10-F11EC4DB0D50}"/>
              </a:ext>
            </a:extLst>
          </p:cNvPr>
          <p:cNvSpPr txBox="1"/>
          <p:nvPr/>
        </p:nvSpPr>
        <p:spPr>
          <a:xfrm>
            <a:off x="7486282" y="1847012"/>
            <a:ext cx="947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Wikisource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528A3E-55B2-2CED-D4E0-36B7EA772C8D}"/>
              </a:ext>
            </a:extLst>
          </p:cNvPr>
          <p:cNvSpPr txBox="1"/>
          <p:nvPr/>
        </p:nvSpPr>
        <p:spPr>
          <a:xfrm>
            <a:off x="8932355" y="1873668"/>
            <a:ext cx="697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Birddog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D1860B-9240-1F57-BD03-43C52ED1F7C8}"/>
              </a:ext>
            </a:extLst>
          </p:cNvPr>
          <p:cNvSpPr txBox="1"/>
          <p:nvPr/>
        </p:nvSpPr>
        <p:spPr>
          <a:xfrm>
            <a:off x="10203781" y="974367"/>
            <a:ext cx="1068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Google Drive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B43357-7B13-B95F-8461-5BE53F90648F}"/>
              </a:ext>
            </a:extLst>
          </p:cNvPr>
          <p:cNvSpPr txBox="1"/>
          <p:nvPr/>
        </p:nvSpPr>
        <p:spPr>
          <a:xfrm>
            <a:off x="10332727" y="3896729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Database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850928-B97A-5AAA-54F8-6C0F50BD8F24}"/>
              </a:ext>
            </a:extLst>
          </p:cNvPr>
          <p:cNvSpPr txBox="1"/>
          <p:nvPr/>
        </p:nvSpPr>
        <p:spPr>
          <a:xfrm>
            <a:off x="10356388" y="2699630"/>
            <a:ext cx="89421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Snapshots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F6BCB8F-4CA0-5434-A4F7-D050805FF53C}"/>
              </a:ext>
            </a:extLst>
          </p:cNvPr>
          <p:cNvSpPr/>
          <p:nvPr/>
        </p:nvSpPr>
        <p:spPr>
          <a:xfrm>
            <a:off x="7486282" y="1445120"/>
            <a:ext cx="929550" cy="401892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CC27D8-537B-6E86-9577-89301709ABE5}"/>
              </a:ext>
            </a:extLst>
          </p:cNvPr>
          <p:cNvSpPr/>
          <p:nvPr/>
        </p:nvSpPr>
        <p:spPr>
          <a:xfrm>
            <a:off x="8964962" y="1366756"/>
            <a:ext cx="631900" cy="486867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D22CE2A-7A14-CFCF-2EA8-C834944A0119}"/>
              </a:ext>
            </a:extLst>
          </p:cNvPr>
          <p:cNvSpPr/>
          <p:nvPr/>
        </p:nvSpPr>
        <p:spPr>
          <a:xfrm>
            <a:off x="10506999" y="3421754"/>
            <a:ext cx="469951" cy="463688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F1005ED-02C5-BC94-866D-092F22BAF85C}"/>
              </a:ext>
            </a:extLst>
          </p:cNvPr>
          <p:cNvSpPr/>
          <p:nvPr/>
        </p:nvSpPr>
        <p:spPr>
          <a:xfrm>
            <a:off x="10424555" y="1245745"/>
            <a:ext cx="643977" cy="719366"/>
          </a:xfrm>
          <a:prstGeom prst="round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189818-F438-866C-E3FF-B32A8E958546}"/>
              </a:ext>
            </a:extLst>
          </p:cNvPr>
          <p:cNvSpPr txBox="1"/>
          <p:nvPr/>
        </p:nvSpPr>
        <p:spPr>
          <a:xfrm>
            <a:off x="7132672" y="453651"/>
            <a:ext cx="1571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Ongoing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66489B-5360-4BDF-EA70-CD2151A96B32}"/>
              </a:ext>
            </a:extLst>
          </p:cNvPr>
          <p:cNvSpPr txBox="1"/>
          <p:nvPr/>
        </p:nvSpPr>
        <p:spPr>
          <a:xfrm>
            <a:off x="9597084" y="4400461"/>
            <a:ext cx="227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Database Development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9AE5B74F-6781-BD43-36A4-056D0472C055}"/>
              </a:ext>
            </a:extLst>
          </p:cNvPr>
          <p:cNvCxnSpPr>
            <a:cxnSpLocks/>
            <a:stCxn id="41" idx="3"/>
            <a:endCxn id="3" idx="1"/>
          </p:cNvCxnSpPr>
          <p:nvPr/>
        </p:nvCxnSpPr>
        <p:spPr>
          <a:xfrm flipV="1">
            <a:off x="9596862" y="1608239"/>
            <a:ext cx="833221" cy="19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67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7" grpId="0"/>
      <p:bldP spid="38" grpId="0" animBg="1"/>
      <p:bldP spid="42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6C3C5-46ED-EA9B-47C7-4CB7A922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3200" dirty="0"/>
              <a:t>Transition Process</a:t>
            </a:r>
            <a:endParaRPr lang="en-US" sz="4000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0D2BEDE-B10F-A79E-2658-98DD3315B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Existing Google docs spreadsheet content is imported into the database to start.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Google docs continues to be used during the transition period.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Individual archive tracking is sequentially cut over to the database when ready.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Birddog is integrated to insert database updates based on ongoing Wiki archive changes.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C955983-3FC9-B51D-7CE3-5008174509E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146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676993C8-24F1-8FBB-043D-D8BD390703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7173" y="0"/>
            <a:ext cx="403483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FE1F2F-275B-63C2-8982-A69899D25E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825089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8F411244-2EAC-5768-FF93-2188C097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090" y="513975"/>
            <a:ext cx="4332084" cy="107943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700" dirty="0"/>
              <a:t>Key Concept</a:t>
            </a:r>
            <a:endParaRPr lang="en-US" sz="4800" dirty="0">
              <a:solidFill>
                <a:srgbClr val="C00000"/>
              </a:solidFill>
            </a:endParaRPr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B75DD4BF-C34E-28C6-D527-050EE7AD70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676" y="1459966"/>
            <a:ext cx="3875687" cy="3875687"/>
          </a:xfrm>
          <a:custGeom>
            <a:avLst/>
            <a:gdLst/>
            <a:ahLst/>
            <a:cxnLst/>
            <a:rect l="l" t="t" r="r" b="b"/>
            <a:pathLst>
              <a:path w="2598738" h="1860001">
                <a:moveTo>
                  <a:pt x="0" y="0"/>
                </a:moveTo>
                <a:lnTo>
                  <a:pt x="2598738" y="0"/>
                </a:lnTo>
                <a:lnTo>
                  <a:pt x="2598738" y="1860001"/>
                </a:lnTo>
                <a:lnTo>
                  <a:pt x="0" y="1860001"/>
                </a:lnTo>
                <a:close/>
              </a:path>
            </a:pathLst>
          </a:cu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9CCE443-31B7-937D-75CA-EF216A952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948" y="244512"/>
            <a:ext cx="2391925" cy="1674347"/>
          </a:xfrm>
          <a:custGeom>
            <a:avLst/>
            <a:gdLst/>
            <a:ahLst/>
            <a:cxnLst/>
            <a:rect l="l" t="t" r="r" b="b"/>
            <a:pathLst>
              <a:path w="2598738" h="1860001">
                <a:moveTo>
                  <a:pt x="0" y="0"/>
                </a:moveTo>
                <a:lnTo>
                  <a:pt x="2598738" y="0"/>
                </a:lnTo>
                <a:lnTo>
                  <a:pt x="2598738" y="1860001"/>
                </a:lnTo>
                <a:lnTo>
                  <a:pt x="0" y="1860001"/>
                </a:lnTo>
                <a:close/>
              </a:path>
            </a:pathLst>
          </a:cu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CE9620B-E314-0B55-F85B-48D3017554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013" y="2320582"/>
            <a:ext cx="2598738" cy="1539752"/>
          </a:xfrm>
          <a:custGeom>
            <a:avLst/>
            <a:gdLst/>
            <a:ahLst/>
            <a:cxnLst/>
            <a:rect l="l" t="t" r="r" b="b"/>
            <a:pathLst>
              <a:path w="2598738" h="1859999">
                <a:moveTo>
                  <a:pt x="0" y="0"/>
                </a:moveTo>
                <a:lnTo>
                  <a:pt x="2598738" y="0"/>
                </a:lnTo>
                <a:lnTo>
                  <a:pt x="2598738" y="1859999"/>
                </a:lnTo>
                <a:lnTo>
                  <a:pt x="0" y="1859999"/>
                </a:lnTo>
                <a:close/>
              </a:path>
            </a:pathLst>
          </a:cu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B05723F-05BB-1493-5633-34DD5B579D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472" y="4231542"/>
            <a:ext cx="2230401" cy="1321512"/>
          </a:xfrm>
          <a:custGeom>
            <a:avLst/>
            <a:gdLst/>
            <a:ahLst/>
            <a:cxnLst/>
            <a:rect l="l" t="t" r="r" b="b"/>
            <a:pathLst>
              <a:path w="2598738" h="1859999">
                <a:moveTo>
                  <a:pt x="0" y="0"/>
                </a:moveTo>
                <a:lnTo>
                  <a:pt x="2598738" y="0"/>
                </a:lnTo>
                <a:lnTo>
                  <a:pt x="2598738" y="1859999"/>
                </a:lnTo>
                <a:lnTo>
                  <a:pt x="0" y="1859999"/>
                </a:lnTo>
                <a:close/>
              </a:path>
            </a:pathLst>
          </a:cu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FCAA583-C48E-71DE-FACC-DC8AE90D13A5}"/>
              </a:ext>
            </a:extLst>
          </p:cNvPr>
          <p:cNvSpPr txBox="1"/>
          <p:nvPr/>
        </p:nvSpPr>
        <p:spPr>
          <a:xfrm>
            <a:off x="1" y="5675094"/>
            <a:ext cx="3825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2"/>
                </a:solidFill>
              </a:rPr>
              <a:t>Data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FDF777-02A6-4253-6BD1-B1314163C15F}"/>
              </a:ext>
            </a:extLst>
          </p:cNvPr>
          <p:cNvSpPr txBox="1"/>
          <p:nvPr/>
        </p:nvSpPr>
        <p:spPr>
          <a:xfrm>
            <a:off x="8157170" y="5675094"/>
            <a:ext cx="40348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2"/>
                </a:solidFill>
              </a:rPr>
              <a:t>Views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E30DC0-2F5F-5D52-51EF-0391D10BB16D}"/>
              </a:ext>
            </a:extLst>
          </p:cNvPr>
          <p:cNvSpPr txBox="1"/>
          <p:nvPr/>
        </p:nvSpPr>
        <p:spPr>
          <a:xfrm>
            <a:off x="3981363" y="4892298"/>
            <a:ext cx="3956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Separation of </a:t>
            </a:r>
            <a:r>
              <a:rPr lang="en-US" sz="3600" dirty="0">
                <a:solidFill>
                  <a:srgbClr val="C00000"/>
                </a:solidFill>
              </a:rPr>
              <a:t>Views</a:t>
            </a:r>
            <a:r>
              <a:rPr lang="en-US" sz="3600" dirty="0"/>
              <a:t> from </a:t>
            </a:r>
            <a:r>
              <a:rPr lang="en-US" sz="3600" dirty="0">
                <a:solidFill>
                  <a:srgbClr val="C00000"/>
                </a:solidFill>
              </a:rPr>
              <a:t>Data</a:t>
            </a:r>
            <a:endParaRPr lang="en-US" sz="360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962ACE-99A9-CF30-5626-FEDAA8C8AA17}"/>
              </a:ext>
            </a:extLst>
          </p:cNvPr>
          <p:cNvCxnSpPr>
            <a:cxnSpLocks/>
          </p:cNvCxnSpPr>
          <p:nvPr/>
        </p:nvCxnSpPr>
        <p:spPr>
          <a:xfrm flipV="1">
            <a:off x="2987644" y="1522347"/>
            <a:ext cx="6125351" cy="1952005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C24BDB6-8048-34D0-C69F-B21A9990F7FA}"/>
              </a:ext>
            </a:extLst>
          </p:cNvPr>
          <p:cNvCxnSpPr>
            <a:cxnSpLocks/>
          </p:cNvCxnSpPr>
          <p:nvPr/>
        </p:nvCxnSpPr>
        <p:spPr>
          <a:xfrm flipV="1">
            <a:off x="2987644" y="3041467"/>
            <a:ext cx="5576934" cy="652347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8D5CAFC-B973-094C-7FFB-00474308F74D}"/>
              </a:ext>
            </a:extLst>
          </p:cNvPr>
          <p:cNvCxnSpPr>
            <a:cxnSpLocks/>
          </p:cNvCxnSpPr>
          <p:nvPr/>
        </p:nvCxnSpPr>
        <p:spPr>
          <a:xfrm>
            <a:off x="2955942" y="3879931"/>
            <a:ext cx="6309453" cy="977413"/>
          </a:xfrm>
          <a:prstGeom prst="straightConnector1">
            <a:avLst/>
          </a:prstGeom>
          <a:ln w="38100"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47D152C9-B062-F3F7-529C-A3362633E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044066"/>
              </p:ext>
            </p:extLst>
          </p:nvPr>
        </p:nvGraphicFramePr>
        <p:xfrm>
          <a:off x="1151398" y="3516280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72560C3D-D64C-809C-C3DA-BF51C7934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804200"/>
              </p:ext>
            </p:extLst>
          </p:nvPr>
        </p:nvGraphicFramePr>
        <p:xfrm>
          <a:off x="1579684" y="3622524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168361E0-25E4-7FA1-0902-9CF0D39F1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75928"/>
              </p:ext>
            </p:extLst>
          </p:nvPr>
        </p:nvGraphicFramePr>
        <p:xfrm>
          <a:off x="2038359" y="3563025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9BB66DB4-12EA-DE3E-E37B-6B008EF35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505176"/>
              </p:ext>
            </p:extLst>
          </p:nvPr>
        </p:nvGraphicFramePr>
        <p:xfrm>
          <a:off x="1815953" y="4363764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74BA105A-6828-3D59-6935-941183955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32694"/>
              </p:ext>
            </p:extLst>
          </p:nvPr>
        </p:nvGraphicFramePr>
        <p:xfrm>
          <a:off x="1256245" y="2767805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3" name="Table 92">
            <a:extLst>
              <a:ext uri="{FF2B5EF4-FFF2-40B4-BE49-F238E27FC236}">
                <a16:creationId xmlns:a16="http://schemas.microsoft.com/office/drawing/2014/main" id="{AF8DD5A8-2DE0-29BD-023C-CDD469FFF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242029"/>
              </p:ext>
            </p:extLst>
          </p:nvPr>
        </p:nvGraphicFramePr>
        <p:xfrm>
          <a:off x="1099971" y="4277453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8B63712A-78E7-D607-AE37-2EFA59CA7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390502"/>
              </p:ext>
            </p:extLst>
          </p:nvPr>
        </p:nvGraphicFramePr>
        <p:xfrm>
          <a:off x="2134016" y="2674368"/>
          <a:ext cx="559708" cy="46129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9927">
                  <a:extLst>
                    <a:ext uri="{9D8B030D-6E8A-4147-A177-3AD203B41FA5}">
                      <a16:colId xmlns:a16="http://schemas.microsoft.com/office/drawing/2014/main" val="2422719079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082313047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778245871"/>
                    </a:ext>
                  </a:extLst>
                </a:gridCol>
                <a:gridCol w="139927">
                  <a:extLst>
                    <a:ext uri="{9D8B030D-6E8A-4147-A177-3AD203B41FA5}">
                      <a16:colId xmlns:a16="http://schemas.microsoft.com/office/drawing/2014/main" val="1411708811"/>
                    </a:ext>
                  </a:extLst>
                </a:gridCol>
              </a:tblGrid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2417800957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786624731"/>
                  </a:ext>
                </a:extLst>
              </a:tr>
              <a:tr h="153766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 marL="38441" marR="38441" marT="19221" marB="19221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marL="38441" marR="38441" marT="19221" marB="19221"/>
                </a:tc>
                <a:extLst>
                  <a:ext uri="{0D108BD9-81ED-4DB2-BD59-A6C34878D82A}">
                    <a16:rowId xmlns:a16="http://schemas.microsoft.com/office/drawing/2014/main" val="1149220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187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3230</TotalTime>
  <Words>576</Words>
  <Application>Microsoft Macintosh PowerPoint</Application>
  <PresentationFormat>Widescreen</PresentationFormat>
  <Paragraphs>149</Paragraphs>
  <Slides>33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Courier New</vt:lpstr>
      <vt:lpstr>Office Theme</vt:lpstr>
      <vt:lpstr>Wikisource and Archive Database Explorations</vt:lpstr>
      <vt:lpstr>Context</vt:lpstr>
      <vt:lpstr>Existing Administrator Workflow</vt:lpstr>
      <vt:lpstr>Birddog-Assisted Workflow</vt:lpstr>
      <vt:lpstr>Bird Dog Features</vt:lpstr>
      <vt:lpstr>Bird Dog Features</vt:lpstr>
      <vt:lpstr>Bird Dog Features</vt:lpstr>
      <vt:lpstr>Bird Dog Features</vt:lpstr>
      <vt:lpstr>Bird Dog Features</vt:lpstr>
      <vt:lpstr>Birddog Status</vt:lpstr>
      <vt:lpstr>Bigger Picture</vt:lpstr>
      <vt:lpstr>The Problem</vt:lpstr>
      <vt:lpstr>The Solution</vt:lpstr>
      <vt:lpstr>Database Requirements</vt:lpstr>
      <vt:lpstr>Candidate Database Platform: NocoDB</vt:lpstr>
      <vt:lpstr>NocoDB Web App</vt:lpstr>
      <vt:lpstr>NocoDB Features</vt:lpstr>
      <vt:lpstr>Customizable Views</vt:lpstr>
      <vt:lpstr>Role-Based Data Access Permissions</vt:lpstr>
      <vt:lpstr>Revision History for All Data Changes</vt:lpstr>
      <vt:lpstr>Per-Record Commenting</vt:lpstr>
      <vt:lpstr>Initial Experiment with DAHEO</vt:lpstr>
      <vt:lpstr>Database Schema </vt:lpstr>
      <vt:lpstr>Mapping Spreadsheet Columns to Database Schema</vt:lpstr>
      <vt:lpstr>Pages Table</vt:lpstr>
      <vt:lpstr>Documents Table</vt:lpstr>
      <vt:lpstr>'Kanban” View of Pages table</vt:lpstr>
      <vt:lpstr>Gallery View for Content Checkers</vt:lpstr>
      <vt:lpstr>PowerPoint Presentation</vt:lpstr>
      <vt:lpstr>PowerPoint Presentation</vt:lpstr>
      <vt:lpstr>“Baby Steps” Strategy</vt:lpstr>
      <vt:lpstr>Transition Process</vt:lpstr>
      <vt:lpstr>Key Concept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Brandt</dc:creator>
  <cp:lastModifiedBy>Jon Brandt</cp:lastModifiedBy>
  <cp:revision>28</cp:revision>
  <dcterms:created xsi:type="dcterms:W3CDTF">2025-09-28T01:29:04Z</dcterms:created>
  <dcterms:modified xsi:type="dcterms:W3CDTF">2025-12-02T00:10:22Z</dcterms:modified>
</cp:coreProperties>
</file>