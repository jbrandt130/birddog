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58" r:id="rId3"/>
    <p:sldId id="259" r:id="rId4"/>
    <p:sldId id="260" r:id="rId5"/>
    <p:sldId id="281" r:id="rId6"/>
    <p:sldId id="275" r:id="rId7"/>
    <p:sldId id="269" r:id="rId8"/>
    <p:sldId id="272" r:id="rId9"/>
    <p:sldId id="273" r:id="rId10"/>
    <p:sldId id="274" r:id="rId11"/>
    <p:sldId id="265" r:id="rId12"/>
    <p:sldId id="262" r:id="rId13"/>
    <p:sldId id="271" r:id="rId14"/>
    <p:sldId id="278" r:id="rId15"/>
    <p:sldId id="279" r:id="rId16"/>
    <p:sldId id="277" r:id="rId17"/>
    <p:sldId id="270" r:id="rId18"/>
    <p:sldId id="257" r:id="rId19"/>
    <p:sldId id="267" r:id="rId20"/>
    <p:sldId id="268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9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AE4FAE-FC00-4EB0-BC6F-242874B24A9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580D3DA-C2CF-4069-B4A0-E0829CCC7FC7}">
      <dgm:prSet/>
      <dgm:spPr/>
      <dgm:t>
        <a:bodyPr/>
        <a:lstStyle/>
        <a:p>
          <a:r>
            <a:rPr lang="en-US"/>
            <a:t>Low cost (for non-profit org)</a:t>
          </a:r>
        </a:p>
      </dgm:t>
    </dgm:pt>
    <dgm:pt modelId="{4E9EB7EA-C62F-44D4-88B9-49265617769D}" type="parTrans" cxnId="{00B84719-675D-48D2-8B4C-ECF5D48AE784}">
      <dgm:prSet/>
      <dgm:spPr/>
      <dgm:t>
        <a:bodyPr/>
        <a:lstStyle/>
        <a:p>
          <a:endParaRPr lang="en-US"/>
        </a:p>
      </dgm:t>
    </dgm:pt>
    <dgm:pt modelId="{0C426F35-3DF3-4E80-96F8-3F4767CF899F}" type="sibTrans" cxnId="{00B84719-675D-48D2-8B4C-ECF5D48AE784}">
      <dgm:prSet/>
      <dgm:spPr/>
      <dgm:t>
        <a:bodyPr/>
        <a:lstStyle/>
        <a:p>
          <a:endParaRPr lang="en-US"/>
        </a:p>
      </dgm:t>
    </dgm:pt>
    <dgm:pt modelId="{21FC33A9-E3AF-4E93-9AF4-DF60D1AE05B4}">
      <dgm:prSet/>
      <dgm:spPr/>
      <dgm:t>
        <a:bodyPr/>
        <a:lstStyle/>
        <a:p>
          <a:r>
            <a:rPr lang="en-US"/>
            <a:t>Multi-user, with varying access/rights based on role</a:t>
          </a:r>
        </a:p>
      </dgm:t>
    </dgm:pt>
    <dgm:pt modelId="{3E6CBCB5-06A4-4524-BFAC-67FBC3375922}" type="parTrans" cxnId="{511A5D35-CCA2-4579-81AD-F8B22C2F025A}">
      <dgm:prSet/>
      <dgm:spPr/>
      <dgm:t>
        <a:bodyPr/>
        <a:lstStyle/>
        <a:p>
          <a:endParaRPr lang="en-US"/>
        </a:p>
      </dgm:t>
    </dgm:pt>
    <dgm:pt modelId="{A0BCBC19-F305-4261-AF6F-3D50FC547ECB}" type="sibTrans" cxnId="{511A5D35-CCA2-4579-81AD-F8B22C2F025A}">
      <dgm:prSet/>
      <dgm:spPr/>
      <dgm:t>
        <a:bodyPr/>
        <a:lstStyle/>
        <a:p>
          <a:endParaRPr lang="en-US"/>
        </a:p>
      </dgm:t>
    </dgm:pt>
    <dgm:pt modelId="{92A43039-45B7-4C28-A99B-EE92A796E56B}">
      <dgm:prSet/>
      <dgm:spPr/>
      <dgm:t>
        <a:bodyPr/>
        <a:lstStyle/>
        <a:p>
          <a:r>
            <a:rPr lang="en-US"/>
            <a:t>Easy for anyone to come up to speed (low learning curve)</a:t>
          </a:r>
        </a:p>
      </dgm:t>
    </dgm:pt>
    <dgm:pt modelId="{2AEC10AC-FB3D-4657-A4DF-9A19B4B2885D}" type="parTrans" cxnId="{0AB144B9-0F7C-4A60-AB52-CEF7BDCEB6A8}">
      <dgm:prSet/>
      <dgm:spPr/>
      <dgm:t>
        <a:bodyPr/>
        <a:lstStyle/>
        <a:p>
          <a:endParaRPr lang="en-US"/>
        </a:p>
      </dgm:t>
    </dgm:pt>
    <dgm:pt modelId="{3EF49942-AB3F-4015-ACFC-219F7BAD8570}" type="sibTrans" cxnId="{0AB144B9-0F7C-4A60-AB52-CEF7BDCEB6A8}">
      <dgm:prSet/>
      <dgm:spPr/>
      <dgm:t>
        <a:bodyPr/>
        <a:lstStyle/>
        <a:p>
          <a:endParaRPr lang="en-US"/>
        </a:p>
      </dgm:t>
    </dgm:pt>
    <dgm:pt modelId="{8C8FF572-D483-428F-B9B8-61E2DC038557}">
      <dgm:prSet/>
      <dgm:spPr/>
      <dgm:t>
        <a:bodyPr/>
        <a:lstStyle/>
        <a:p>
          <a:r>
            <a:rPr lang="en-US"/>
            <a:t>Easy to create different views for different roles/workflows</a:t>
          </a:r>
        </a:p>
      </dgm:t>
    </dgm:pt>
    <dgm:pt modelId="{06774C9D-BB41-40F8-9ECF-9C4AD17538F7}" type="parTrans" cxnId="{6605566F-911D-4EBE-BBA0-09372905E8A1}">
      <dgm:prSet/>
      <dgm:spPr/>
      <dgm:t>
        <a:bodyPr/>
        <a:lstStyle/>
        <a:p>
          <a:endParaRPr lang="en-US"/>
        </a:p>
      </dgm:t>
    </dgm:pt>
    <dgm:pt modelId="{1C7E150B-7427-47A9-A11F-AA1095A6339A}" type="sibTrans" cxnId="{6605566F-911D-4EBE-BBA0-09372905E8A1}">
      <dgm:prSet/>
      <dgm:spPr/>
      <dgm:t>
        <a:bodyPr/>
        <a:lstStyle/>
        <a:p>
          <a:endParaRPr lang="en-US"/>
        </a:p>
      </dgm:t>
    </dgm:pt>
    <dgm:pt modelId="{2F9EF435-CF70-40B3-AC25-AE4D83A2CC10}">
      <dgm:prSet/>
      <dgm:spPr/>
      <dgm:t>
        <a:bodyPr/>
        <a:lstStyle/>
        <a:p>
          <a:r>
            <a:rPr lang="en-US"/>
            <a:t>Able to sit between Birddog and Google spreadsheets</a:t>
          </a:r>
        </a:p>
      </dgm:t>
    </dgm:pt>
    <dgm:pt modelId="{8CAEF53E-67B3-4155-9853-FF4342C2F313}" type="parTrans" cxnId="{5668782A-3463-43BA-8E09-9120D2122986}">
      <dgm:prSet/>
      <dgm:spPr/>
      <dgm:t>
        <a:bodyPr/>
        <a:lstStyle/>
        <a:p>
          <a:endParaRPr lang="en-US"/>
        </a:p>
      </dgm:t>
    </dgm:pt>
    <dgm:pt modelId="{5D963A10-DE60-4EB4-92FC-4B12A2CED81E}" type="sibTrans" cxnId="{5668782A-3463-43BA-8E09-9120D2122986}">
      <dgm:prSet/>
      <dgm:spPr/>
      <dgm:t>
        <a:bodyPr/>
        <a:lstStyle/>
        <a:p>
          <a:endParaRPr lang="en-US"/>
        </a:p>
      </dgm:t>
    </dgm:pt>
    <dgm:pt modelId="{89930480-602F-43DA-A996-8402CE3F75B0}">
      <dgm:prSet/>
      <dgm:spPr/>
      <dgm:t>
        <a:bodyPr/>
        <a:lstStyle/>
        <a:p>
          <a:r>
            <a:rPr lang="en-US"/>
            <a:t>Easily grow and transform as the system evolves</a:t>
          </a:r>
        </a:p>
      </dgm:t>
    </dgm:pt>
    <dgm:pt modelId="{E24DB92E-EAA1-4DC5-8C58-8B1275E10EC6}" type="parTrans" cxnId="{725E4CCC-14EC-4F97-B466-FB05965B2367}">
      <dgm:prSet/>
      <dgm:spPr/>
      <dgm:t>
        <a:bodyPr/>
        <a:lstStyle/>
        <a:p>
          <a:endParaRPr lang="en-US"/>
        </a:p>
      </dgm:t>
    </dgm:pt>
    <dgm:pt modelId="{21A3E326-CF37-42D4-9663-5E700DBA522F}" type="sibTrans" cxnId="{725E4CCC-14EC-4F97-B466-FB05965B2367}">
      <dgm:prSet/>
      <dgm:spPr/>
      <dgm:t>
        <a:bodyPr/>
        <a:lstStyle/>
        <a:p>
          <a:endParaRPr lang="en-US"/>
        </a:p>
      </dgm:t>
    </dgm:pt>
    <dgm:pt modelId="{E8234D1E-B433-4BA5-8CD7-BD0821C9F26F}">
      <dgm:prSet/>
      <dgm:spPr/>
      <dgm:t>
        <a:bodyPr/>
        <a:lstStyle/>
        <a:p>
          <a:r>
            <a:rPr lang="en-US" dirty="0"/>
            <a:t>No lock-in: possible to migrate out down the road</a:t>
          </a:r>
        </a:p>
      </dgm:t>
    </dgm:pt>
    <dgm:pt modelId="{97F15419-12A1-411D-8936-3BBF1C7E0262}" type="parTrans" cxnId="{5730C2FC-040D-412A-84D4-5342C75F5E91}">
      <dgm:prSet/>
      <dgm:spPr/>
      <dgm:t>
        <a:bodyPr/>
        <a:lstStyle/>
        <a:p>
          <a:endParaRPr lang="en-US"/>
        </a:p>
      </dgm:t>
    </dgm:pt>
    <dgm:pt modelId="{46BFB7FF-6D60-4F26-9945-9E07B65A4F51}" type="sibTrans" cxnId="{5730C2FC-040D-412A-84D4-5342C75F5E91}">
      <dgm:prSet/>
      <dgm:spPr/>
      <dgm:t>
        <a:bodyPr/>
        <a:lstStyle/>
        <a:p>
          <a:endParaRPr lang="en-US"/>
        </a:p>
      </dgm:t>
    </dgm:pt>
    <dgm:pt modelId="{7703F7B3-330C-CC4E-ABF1-737CA8A8DDEC}" type="pres">
      <dgm:prSet presAssocID="{7CAE4FAE-FC00-4EB0-BC6F-242874B24A95}" presName="linear" presStyleCnt="0">
        <dgm:presLayoutVars>
          <dgm:animLvl val="lvl"/>
          <dgm:resizeHandles val="exact"/>
        </dgm:presLayoutVars>
      </dgm:prSet>
      <dgm:spPr/>
    </dgm:pt>
    <dgm:pt modelId="{2D0374B0-C494-8440-88E8-67F4520527F7}" type="pres">
      <dgm:prSet presAssocID="{7580D3DA-C2CF-4069-B4A0-E0829CCC7FC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4DB7F71-8ABA-5847-AF0F-CF126F5C81CE}" type="pres">
      <dgm:prSet presAssocID="{0C426F35-3DF3-4E80-96F8-3F4767CF899F}" presName="spacer" presStyleCnt="0"/>
      <dgm:spPr/>
    </dgm:pt>
    <dgm:pt modelId="{55440235-5102-A647-B840-76A6FE265E04}" type="pres">
      <dgm:prSet presAssocID="{21FC33A9-E3AF-4E93-9AF4-DF60D1AE05B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5F5121A-E855-904D-8179-A16CF81DB522}" type="pres">
      <dgm:prSet presAssocID="{A0BCBC19-F305-4261-AF6F-3D50FC547ECB}" presName="spacer" presStyleCnt="0"/>
      <dgm:spPr/>
    </dgm:pt>
    <dgm:pt modelId="{AA73FAE6-AE40-4C4D-88AE-FF84A0FE3827}" type="pres">
      <dgm:prSet presAssocID="{92A43039-45B7-4C28-A99B-EE92A796E56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6E98A9B-7F44-BB47-B9FB-AD4F054C4270}" type="pres">
      <dgm:prSet presAssocID="{3EF49942-AB3F-4015-ACFC-219F7BAD8570}" presName="spacer" presStyleCnt="0"/>
      <dgm:spPr/>
    </dgm:pt>
    <dgm:pt modelId="{EE834651-91CB-E64E-B23A-7A1D290C0E95}" type="pres">
      <dgm:prSet presAssocID="{8C8FF572-D483-428F-B9B8-61E2DC03855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9D3FA58-B6AE-434B-9923-0EAB8772A7A5}" type="pres">
      <dgm:prSet presAssocID="{1C7E150B-7427-47A9-A11F-AA1095A6339A}" presName="spacer" presStyleCnt="0"/>
      <dgm:spPr/>
    </dgm:pt>
    <dgm:pt modelId="{2A683C36-DC3E-CA4A-B5DC-2716D07CE74C}" type="pres">
      <dgm:prSet presAssocID="{2F9EF435-CF70-40B3-AC25-AE4D83A2CC1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F0226DD-A90C-FF45-A643-0A69B27EE73D}" type="pres">
      <dgm:prSet presAssocID="{5D963A10-DE60-4EB4-92FC-4B12A2CED81E}" presName="spacer" presStyleCnt="0"/>
      <dgm:spPr/>
    </dgm:pt>
    <dgm:pt modelId="{168DC006-0F42-0746-A1E3-AF42CDABAF9E}" type="pres">
      <dgm:prSet presAssocID="{89930480-602F-43DA-A996-8402CE3F75B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A165DDE-690C-764F-96DC-018E59EE19E5}" type="pres">
      <dgm:prSet presAssocID="{21A3E326-CF37-42D4-9663-5E700DBA522F}" presName="spacer" presStyleCnt="0"/>
      <dgm:spPr/>
    </dgm:pt>
    <dgm:pt modelId="{EFF0323C-1D44-C34F-946F-B726C5F3CF14}" type="pres">
      <dgm:prSet presAssocID="{E8234D1E-B433-4BA5-8CD7-BD0821C9F26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1059110-CCB3-7748-BE62-CD767364EAB4}" type="presOf" srcId="{7CAE4FAE-FC00-4EB0-BC6F-242874B24A95}" destId="{7703F7B3-330C-CC4E-ABF1-737CA8A8DDEC}" srcOrd="0" destOrd="0" presId="urn:microsoft.com/office/officeart/2005/8/layout/vList2"/>
    <dgm:cxn modelId="{00B84719-675D-48D2-8B4C-ECF5D48AE784}" srcId="{7CAE4FAE-FC00-4EB0-BC6F-242874B24A95}" destId="{7580D3DA-C2CF-4069-B4A0-E0829CCC7FC7}" srcOrd="0" destOrd="0" parTransId="{4E9EB7EA-C62F-44D4-88B9-49265617769D}" sibTransId="{0C426F35-3DF3-4E80-96F8-3F4767CF899F}"/>
    <dgm:cxn modelId="{5668782A-3463-43BA-8E09-9120D2122986}" srcId="{7CAE4FAE-FC00-4EB0-BC6F-242874B24A95}" destId="{2F9EF435-CF70-40B3-AC25-AE4D83A2CC10}" srcOrd="4" destOrd="0" parTransId="{8CAEF53E-67B3-4155-9853-FF4342C2F313}" sibTransId="{5D963A10-DE60-4EB4-92FC-4B12A2CED81E}"/>
    <dgm:cxn modelId="{511A5D35-CCA2-4579-81AD-F8B22C2F025A}" srcId="{7CAE4FAE-FC00-4EB0-BC6F-242874B24A95}" destId="{21FC33A9-E3AF-4E93-9AF4-DF60D1AE05B4}" srcOrd="1" destOrd="0" parTransId="{3E6CBCB5-06A4-4524-BFAC-67FBC3375922}" sibTransId="{A0BCBC19-F305-4261-AF6F-3D50FC547ECB}"/>
    <dgm:cxn modelId="{002EFD52-D03C-0E4A-8525-7E51D4319F3E}" type="presOf" srcId="{2F9EF435-CF70-40B3-AC25-AE4D83A2CC10}" destId="{2A683C36-DC3E-CA4A-B5DC-2716D07CE74C}" srcOrd="0" destOrd="0" presId="urn:microsoft.com/office/officeart/2005/8/layout/vList2"/>
    <dgm:cxn modelId="{FA1DE065-9846-5746-B918-4BE81879B71A}" type="presOf" srcId="{8C8FF572-D483-428F-B9B8-61E2DC038557}" destId="{EE834651-91CB-E64E-B23A-7A1D290C0E95}" srcOrd="0" destOrd="0" presId="urn:microsoft.com/office/officeart/2005/8/layout/vList2"/>
    <dgm:cxn modelId="{C16F3467-8AFB-D049-BB30-550F9CDF8817}" type="presOf" srcId="{E8234D1E-B433-4BA5-8CD7-BD0821C9F26F}" destId="{EFF0323C-1D44-C34F-946F-B726C5F3CF14}" srcOrd="0" destOrd="0" presId="urn:microsoft.com/office/officeart/2005/8/layout/vList2"/>
    <dgm:cxn modelId="{6605566F-911D-4EBE-BBA0-09372905E8A1}" srcId="{7CAE4FAE-FC00-4EB0-BC6F-242874B24A95}" destId="{8C8FF572-D483-428F-B9B8-61E2DC038557}" srcOrd="3" destOrd="0" parTransId="{06774C9D-BB41-40F8-9ECF-9C4AD17538F7}" sibTransId="{1C7E150B-7427-47A9-A11F-AA1095A6339A}"/>
    <dgm:cxn modelId="{BA2D2473-D31E-154C-8D5C-8A2621698CA9}" type="presOf" srcId="{92A43039-45B7-4C28-A99B-EE92A796E56B}" destId="{AA73FAE6-AE40-4C4D-88AE-FF84A0FE3827}" srcOrd="0" destOrd="0" presId="urn:microsoft.com/office/officeart/2005/8/layout/vList2"/>
    <dgm:cxn modelId="{1D3C3483-2213-6245-8F6A-4664CCA68585}" type="presOf" srcId="{7580D3DA-C2CF-4069-B4A0-E0829CCC7FC7}" destId="{2D0374B0-C494-8440-88E8-67F4520527F7}" srcOrd="0" destOrd="0" presId="urn:microsoft.com/office/officeart/2005/8/layout/vList2"/>
    <dgm:cxn modelId="{DD6011A4-289E-9147-9B76-45B8A42B1FE0}" type="presOf" srcId="{89930480-602F-43DA-A996-8402CE3F75B0}" destId="{168DC006-0F42-0746-A1E3-AF42CDABAF9E}" srcOrd="0" destOrd="0" presId="urn:microsoft.com/office/officeart/2005/8/layout/vList2"/>
    <dgm:cxn modelId="{0AB144B9-0F7C-4A60-AB52-CEF7BDCEB6A8}" srcId="{7CAE4FAE-FC00-4EB0-BC6F-242874B24A95}" destId="{92A43039-45B7-4C28-A99B-EE92A796E56B}" srcOrd="2" destOrd="0" parTransId="{2AEC10AC-FB3D-4657-A4DF-9A19B4B2885D}" sibTransId="{3EF49942-AB3F-4015-ACFC-219F7BAD8570}"/>
    <dgm:cxn modelId="{6B4BAFC0-E8D8-4546-BC94-D8B177B10D66}" type="presOf" srcId="{21FC33A9-E3AF-4E93-9AF4-DF60D1AE05B4}" destId="{55440235-5102-A647-B840-76A6FE265E04}" srcOrd="0" destOrd="0" presId="urn:microsoft.com/office/officeart/2005/8/layout/vList2"/>
    <dgm:cxn modelId="{725E4CCC-14EC-4F97-B466-FB05965B2367}" srcId="{7CAE4FAE-FC00-4EB0-BC6F-242874B24A95}" destId="{89930480-602F-43DA-A996-8402CE3F75B0}" srcOrd="5" destOrd="0" parTransId="{E24DB92E-EAA1-4DC5-8C58-8B1275E10EC6}" sibTransId="{21A3E326-CF37-42D4-9663-5E700DBA522F}"/>
    <dgm:cxn modelId="{5730C2FC-040D-412A-84D4-5342C75F5E91}" srcId="{7CAE4FAE-FC00-4EB0-BC6F-242874B24A95}" destId="{E8234D1E-B433-4BA5-8CD7-BD0821C9F26F}" srcOrd="6" destOrd="0" parTransId="{97F15419-12A1-411D-8936-3BBF1C7E0262}" sibTransId="{46BFB7FF-6D60-4F26-9945-9E07B65A4F51}"/>
    <dgm:cxn modelId="{EACAF32E-E803-9442-8635-A20905D28833}" type="presParOf" srcId="{7703F7B3-330C-CC4E-ABF1-737CA8A8DDEC}" destId="{2D0374B0-C494-8440-88E8-67F4520527F7}" srcOrd="0" destOrd="0" presId="urn:microsoft.com/office/officeart/2005/8/layout/vList2"/>
    <dgm:cxn modelId="{FFCEB70D-5010-AB40-94B7-C6059D4565D1}" type="presParOf" srcId="{7703F7B3-330C-CC4E-ABF1-737CA8A8DDEC}" destId="{34DB7F71-8ABA-5847-AF0F-CF126F5C81CE}" srcOrd="1" destOrd="0" presId="urn:microsoft.com/office/officeart/2005/8/layout/vList2"/>
    <dgm:cxn modelId="{BDAB5798-1E16-F348-82D9-AADC23F72119}" type="presParOf" srcId="{7703F7B3-330C-CC4E-ABF1-737CA8A8DDEC}" destId="{55440235-5102-A647-B840-76A6FE265E04}" srcOrd="2" destOrd="0" presId="urn:microsoft.com/office/officeart/2005/8/layout/vList2"/>
    <dgm:cxn modelId="{E6DE5857-AA66-614F-8E80-A68E303EBCEF}" type="presParOf" srcId="{7703F7B3-330C-CC4E-ABF1-737CA8A8DDEC}" destId="{15F5121A-E855-904D-8179-A16CF81DB522}" srcOrd="3" destOrd="0" presId="urn:microsoft.com/office/officeart/2005/8/layout/vList2"/>
    <dgm:cxn modelId="{8BFC62E3-46E7-604A-A1DB-4FAF78852A12}" type="presParOf" srcId="{7703F7B3-330C-CC4E-ABF1-737CA8A8DDEC}" destId="{AA73FAE6-AE40-4C4D-88AE-FF84A0FE3827}" srcOrd="4" destOrd="0" presId="urn:microsoft.com/office/officeart/2005/8/layout/vList2"/>
    <dgm:cxn modelId="{D620B113-9BDC-DD4F-B9F4-6EBE207DCE94}" type="presParOf" srcId="{7703F7B3-330C-CC4E-ABF1-737CA8A8DDEC}" destId="{66E98A9B-7F44-BB47-B9FB-AD4F054C4270}" srcOrd="5" destOrd="0" presId="urn:microsoft.com/office/officeart/2005/8/layout/vList2"/>
    <dgm:cxn modelId="{B4D15E26-DE68-D548-BE03-3E42B1706850}" type="presParOf" srcId="{7703F7B3-330C-CC4E-ABF1-737CA8A8DDEC}" destId="{EE834651-91CB-E64E-B23A-7A1D290C0E95}" srcOrd="6" destOrd="0" presId="urn:microsoft.com/office/officeart/2005/8/layout/vList2"/>
    <dgm:cxn modelId="{63BEBADE-B92A-6548-B67B-5BB6B00BFA3B}" type="presParOf" srcId="{7703F7B3-330C-CC4E-ABF1-737CA8A8DDEC}" destId="{09D3FA58-B6AE-434B-9923-0EAB8772A7A5}" srcOrd="7" destOrd="0" presId="urn:microsoft.com/office/officeart/2005/8/layout/vList2"/>
    <dgm:cxn modelId="{8B82B1CA-ED94-D44B-8EAC-445A447F9B71}" type="presParOf" srcId="{7703F7B3-330C-CC4E-ABF1-737CA8A8DDEC}" destId="{2A683C36-DC3E-CA4A-B5DC-2716D07CE74C}" srcOrd="8" destOrd="0" presId="urn:microsoft.com/office/officeart/2005/8/layout/vList2"/>
    <dgm:cxn modelId="{46798C3C-7FFE-C948-9F93-C9FA1A8661DF}" type="presParOf" srcId="{7703F7B3-330C-CC4E-ABF1-737CA8A8DDEC}" destId="{BF0226DD-A90C-FF45-A643-0A69B27EE73D}" srcOrd="9" destOrd="0" presId="urn:microsoft.com/office/officeart/2005/8/layout/vList2"/>
    <dgm:cxn modelId="{450EAE37-A604-2D4D-8DDB-7F5992350300}" type="presParOf" srcId="{7703F7B3-330C-CC4E-ABF1-737CA8A8DDEC}" destId="{168DC006-0F42-0746-A1E3-AF42CDABAF9E}" srcOrd="10" destOrd="0" presId="urn:microsoft.com/office/officeart/2005/8/layout/vList2"/>
    <dgm:cxn modelId="{32ED2CAF-F503-8148-BA43-A064DADC8B66}" type="presParOf" srcId="{7703F7B3-330C-CC4E-ABF1-737CA8A8DDEC}" destId="{1A165DDE-690C-764F-96DC-018E59EE19E5}" srcOrd="11" destOrd="0" presId="urn:microsoft.com/office/officeart/2005/8/layout/vList2"/>
    <dgm:cxn modelId="{D2AAD870-5692-7A4D-9C22-393AD909AA3D}" type="presParOf" srcId="{7703F7B3-330C-CC4E-ABF1-737CA8A8DDEC}" destId="{EFF0323C-1D44-C34F-946F-B726C5F3CF1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374B0-C494-8440-88E8-67F4520527F7}">
      <dsp:nvSpPr>
        <dsp:cNvPr id="0" name=""/>
        <dsp:cNvSpPr/>
      </dsp:nvSpPr>
      <dsp:spPr>
        <a:xfrm>
          <a:off x="0" y="834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Low cost (for non-profit org)</a:t>
          </a:r>
        </a:p>
      </dsp:txBody>
      <dsp:txXfrm>
        <a:off x="23988" y="858247"/>
        <a:ext cx="6618857" cy="443424"/>
      </dsp:txXfrm>
    </dsp:sp>
    <dsp:sp modelId="{55440235-5102-A647-B840-76A6FE265E04}">
      <dsp:nvSpPr>
        <dsp:cNvPr id="0" name=""/>
        <dsp:cNvSpPr/>
      </dsp:nvSpPr>
      <dsp:spPr>
        <a:xfrm>
          <a:off x="0" y="1383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Multi-user, with varying access/rights based on role</a:t>
          </a:r>
        </a:p>
      </dsp:txBody>
      <dsp:txXfrm>
        <a:off x="23988" y="1407247"/>
        <a:ext cx="6618857" cy="443424"/>
      </dsp:txXfrm>
    </dsp:sp>
    <dsp:sp modelId="{AA73FAE6-AE40-4C4D-88AE-FF84A0FE3827}">
      <dsp:nvSpPr>
        <dsp:cNvPr id="0" name=""/>
        <dsp:cNvSpPr/>
      </dsp:nvSpPr>
      <dsp:spPr>
        <a:xfrm>
          <a:off x="0" y="1932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for anyone to come up to speed (low learning curve)</a:t>
          </a:r>
        </a:p>
      </dsp:txBody>
      <dsp:txXfrm>
        <a:off x="23988" y="1956248"/>
        <a:ext cx="6618857" cy="443424"/>
      </dsp:txXfrm>
    </dsp:sp>
    <dsp:sp modelId="{EE834651-91CB-E64E-B23A-7A1D290C0E95}">
      <dsp:nvSpPr>
        <dsp:cNvPr id="0" name=""/>
        <dsp:cNvSpPr/>
      </dsp:nvSpPr>
      <dsp:spPr>
        <a:xfrm>
          <a:off x="0" y="2481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to create different views for different roles/workflows</a:t>
          </a:r>
        </a:p>
      </dsp:txBody>
      <dsp:txXfrm>
        <a:off x="23988" y="2505247"/>
        <a:ext cx="6618857" cy="443424"/>
      </dsp:txXfrm>
    </dsp:sp>
    <dsp:sp modelId="{2A683C36-DC3E-CA4A-B5DC-2716D07CE74C}">
      <dsp:nvSpPr>
        <dsp:cNvPr id="0" name=""/>
        <dsp:cNvSpPr/>
      </dsp:nvSpPr>
      <dsp:spPr>
        <a:xfrm>
          <a:off x="0" y="30302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Able to sit between Birddog and Google spreadsheets</a:t>
          </a:r>
        </a:p>
      </dsp:txBody>
      <dsp:txXfrm>
        <a:off x="23988" y="3054247"/>
        <a:ext cx="6618857" cy="443424"/>
      </dsp:txXfrm>
    </dsp:sp>
    <dsp:sp modelId="{168DC006-0F42-0746-A1E3-AF42CDABAF9E}">
      <dsp:nvSpPr>
        <dsp:cNvPr id="0" name=""/>
        <dsp:cNvSpPr/>
      </dsp:nvSpPr>
      <dsp:spPr>
        <a:xfrm>
          <a:off x="0" y="3579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Easily grow and transform as the system evolves</a:t>
          </a:r>
        </a:p>
      </dsp:txBody>
      <dsp:txXfrm>
        <a:off x="23988" y="3603248"/>
        <a:ext cx="6618857" cy="443424"/>
      </dsp:txXfrm>
    </dsp:sp>
    <dsp:sp modelId="{EFF0323C-1D44-C34F-946F-B726C5F3CF14}">
      <dsp:nvSpPr>
        <dsp:cNvPr id="0" name=""/>
        <dsp:cNvSpPr/>
      </dsp:nvSpPr>
      <dsp:spPr>
        <a:xfrm>
          <a:off x="0" y="41282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 lock-in: possible to migrate out down the road</a:t>
          </a:r>
        </a:p>
      </dsp:txBody>
      <dsp:txXfrm>
        <a:off x="23988" y="4152248"/>
        <a:ext cx="6618857" cy="443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C451-E130-F795-F360-4A2DF968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06226-9F54-415E-7A95-1B908D38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75C7-3BEB-9ECB-2F00-0F82F16A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195B4-490A-42F6-F2CA-898163E16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D4BC-A6A2-9DFA-8A5B-E575B4A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C3F0-A82B-BE87-4224-6559FDD8A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3B6A-47B7-FD4D-0B6B-D1946881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8513-410D-5C52-86FC-4A0A0D31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412E-0EB1-FA7E-8864-A371D5AB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FDBE-1437-1D93-0695-31DAFB00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8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0406-A648-96CF-E16B-3C1782FE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B216-0BAF-A0EA-CC45-B15B4FEC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274F6-6338-9158-5AB1-40FC4662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39D0-45ED-3ED9-ADA3-2FCCA6F5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75588-0B19-84FF-C670-DA64C03C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C023-7737-59F7-4A2A-4DCDAD9C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92D3-7CD0-F163-A348-A0A9BFD77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70A68-4BB0-7679-C97E-83A8DAD37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8ED4B-4F03-03AA-7C20-8D2AFE54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EC6F2-894E-E031-3191-C4373C63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FD71-B51A-22CF-2853-496FB1EE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7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39D36-6872-B233-6D53-785F79E6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843D9-7B6C-CDC1-7672-B8063215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7A8B4-7F17-4F3F-016E-F25D5A96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64A36-C85D-4FB1-0C83-11DB39535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B4ABA-8CB6-9FEA-EE5B-DDA28B04E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72189-7CCC-B7C5-37DF-C81446C9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A1169-A036-D242-3F50-12705C63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28561-DEFD-0598-4A59-D08503A1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9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6B1E-2478-CF1C-EA63-E77C973E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C5498-97BB-6487-F2A6-B271C85A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BB946-243E-65CF-C437-4B28ED1A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97B63-90DD-80F4-14F1-80E0CDBD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9ED7-6909-2A07-9759-4161232D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2CA8-4580-0EA6-0549-0BFA10E1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FE23-1C72-70E3-9BAD-06892D8D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45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A3C22-97DD-79BF-11EE-08327EEB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071D-CABD-62EF-7580-8D20D4C4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4A57-487B-1A9F-AB05-5D471A405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63006-06A2-DF55-00F7-B0F5829A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0BF2-8EBD-28A2-ECBA-A7AB796B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C47C-7006-0F47-F739-252E95B0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D42CD-7CE1-CA2D-D03B-1DF123D81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F329-71F0-0347-3AED-349D2E506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A3FCC-C614-1E47-F50B-910CB4C6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C24FC-DF9E-1531-5659-2C60A88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ABAD-1115-1971-FE97-5D0C12BF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5FA0-2B64-D346-A484-45AC5BE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C9A9-D86F-8C94-E988-6CA20A7F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81A7D-5769-AEAC-A08D-A80F5C54C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B7EF-E212-1FC3-D119-4E8F2861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401F-9BF7-26BA-E336-20D1C52E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BCCF-0C08-8C48-9298-6CB1B4FD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A036-C597-DA22-045A-C300AAFEB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D0C75-A66E-4E8E-829B-D533A991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2942-A67E-9413-ED3A-B5D6134D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9E362-12F4-3C53-803C-40A08DF6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246E-C416-B91A-78BE-54EE6A8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1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0B139-5D97-E4D8-57EC-88A0F5BC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F61F-EC13-6DBC-F7E7-7BC1092B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983E-D44D-E8D6-E70F-2C742CA30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B8F1D-DD19-6141-88EB-5503D68369BF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737BD-B89C-A95E-63CC-42D223C0E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A61A4-4296-D76E-AD9A-957350309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37294-7B99-CE49-99F8-A3A878B2F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F2432-E36D-E2DB-B99C-FF9BCF386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Database Explorations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E28C4-1B4D-D171-0105-9A8A30917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September 29, 2025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1F2B7498-209B-7502-FB1E-32F3750DD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44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B70F1-AF25-38CC-FFC1-DAD8405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C5F6F-8FF7-6B39-D41A-FAFAC934643F}"/>
              </a:ext>
            </a:extLst>
          </p:cNvPr>
          <p:cNvSpPr txBox="1"/>
          <p:nvPr/>
        </p:nvSpPr>
        <p:spPr>
          <a:xfrm>
            <a:off x="292231" y="2599509"/>
            <a:ext cx="5619302" cy="36394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With Google Docs,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	</a:t>
            </a:r>
            <a:r>
              <a:rPr lang="en-US" sz="2400" b="1" dirty="0">
                <a:solidFill>
                  <a:srgbClr val="C00000"/>
                </a:solidFill>
              </a:rPr>
              <a:t>View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Data</a:t>
            </a:r>
            <a:r>
              <a:rPr lang="en-US" sz="2400" dirty="0"/>
              <a:t> are not separated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Labor intensive to maintain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Fragile multi-tab relationship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Not amenable to multi-person access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revise sheet structure</a:t>
            </a:r>
          </a:p>
          <a:p>
            <a:pPr marL="5143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Hard to scale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355E-5CA5-7435-D557-FFDF19203C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11532" y="2515015"/>
            <a:ext cx="5150277" cy="365272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5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037A7-AA00-8647-F45E-984DD032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212709"/>
            <a:ext cx="8232296" cy="13376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9E39B0-22F9-0748-9E12-85DD06BCA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331" y="1981376"/>
            <a:ext cx="1634856" cy="1550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30F781-42C4-8AC5-F9B5-AFB4F7807C48}"/>
              </a:ext>
            </a:extLst>
          </p:cNvPr>
          <p:cNvSpPr txBox="1"/>
          <p:nvPr/>
        </p:nvSpPr>
        <p:spPr>
          <a:xfrm>
            <a:off x="3440784" y="1101379"/>
            <a:ext cx="7785155" cy="3395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600" b="1" dirty="0"/>
              <a:t>Replace </a:t>
            </a:r>
            <a:r>
              <a:rPr lang="en-US" sz="2600" b="1" dirty="0">
                <a:solidFill>
                  <a:srgbClr val="C00000"/>
                </a:solidFill>
              </a:rPr>
              <a:t>Google Docs</a:t>
            </a:r>
            <a:r>
              <a:rPr lang="en-US" sz="2600" b="1" dirty="0"/>
              <a:t> with a </a:t>
            </a:r>
            <a:r>
              <a:rPr lang="en-US" sz="2600" b="1" dirty="0">
                <a:solidFill>
                  <a:srgbClr val="C00000"/>
                </a:solidFill>
              </a:rPr>
              <a:t>Database</a:t>
            </a:r>
            <a:r>
              <a:rPr lang="en-US" sz="2600" b="1" dirty="0"/>
              <a:t> that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Separates data from view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Is easy to maintain and evolve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Can scale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Is built for concurrent access by many users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multi-tab spreadsheets with extensible, role-specific views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Replaces cross-sheet process reporting formulas with flexible and updatable data roll-ups and scripting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Provides built-in back-up, journaling of data changes, and commenting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Down the road, facilitates AI-assisted triage, etc.</a:t>
            </a:r>
          </a:p>
        </p:txBody>
      </p:sp>
    </p:spTree>
    <p:extLst>
      <p:ext uri="{BB962C8B-B14F-4D97-AF65-F5344CB8AC3E}">
        <p14:creationId xmlns:p14="http://schemas.microsoft.com/office/powerpoint/2010/main" val="943110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C7313-819F-1AF0-DC36-91C21D9C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Database Requirements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40E469C-5270-449E-FACA-12C9A8A5E2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37568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17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F8283A-E5EE-9C28-74FF-F36CCC23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Candidate Database Platform: </a:t>
            </a:r>
            <a:r>
              <a:rPr lang="en-US" sz="2800" b="1" kern="1200" dirty="0" err="1">
                <a:solidFill>
                  <a:srgbClr val="383BCB"/>
                </a:solidFill>
                <a:latin typeface="+mj-lt"/>
                <a:ea typeface="+mj-ea"/>
                <a:cs typeface="+mj-cs"/>
              </a:rPr>
              <a:t>NocoDB</a:t>
            </a:r>
            <a:endParaRPr lang="en-US" sz="2800" b="1" kern="1200" dirty="0">
              <a:solidFill>
                <a:srgbClr val="383BC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E8B5-E666-0207-6437-0A5F23362B5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cost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Easy to learn (like </a:t>
            </a:r>
            <a:r>
              <a:rPr lang="en-US" sz="1700" dirty="0" err="1"/>
              <a:t>AirTable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Opensource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Open database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Available as hosted solution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Can be self-hosted too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801B8-8BF9-C0FB-6FB8-E76DF440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26663"/>
            <a:ext cx="6922008" cy="3305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007A52-3A45-21E3-3235-724EF0EFFE87}"/>
              </a:ext>
            </a:extLst>
          </p:cNvPr>
          <p:cNvSpPr txBox="1"/>
          <p:nvPr/>
        </p:nvSpPr>
        <p:spPr>
          <a:xfrm>
            <a:off x="6653501" y="5512326"/>
            <a:ext cx="341737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nocodb.com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2591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0138-AFF4-F290-2D0A-3BE9A996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NocoDB</a:t>
            </a:r>
            <a:r>
              <a:rPr lang="en-US" dirty="0"/>
              <a:t> Features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91F33F-AB16-8B57-7416-F367578DB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487" y="1825625"/>
            <a:ext cx="90410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9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AED1-D5DA-9181-C2C3-26C52417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Customizable Views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276039-34E6-B5B5-FCCD-3F50751EE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2400" y="1822663"/>
            <a:ext cx="44043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8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08F9-9E17-DFBB-761E-C2204C3F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Role-Based Data Access Permissions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02FE58-8739-E6A9-63AB-3272243D6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6766" y="1690688"/>
            <a:ext cx="6213666" cy="49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3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86CE-9D44-7622-1101-AEF9E67E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 History for All Data Changes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7FDA8A-76D2-DF14-F786-2BC5A81B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9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ACB9-92FA-7D4C-097F-305009D54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Per-Record Commenting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AD72BB-7FF8-F84F-AD49-ADAEC4E06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07" y="1825625"/>
            <a:ext cx="726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8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C4F63D-82C7-C095-A325-553B9382E6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3579" y="1690688"/>
            <a:ext cx="6796634" cy="3438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85664F-A443-AD42-AB8F-F4603E24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Experiment with DAHEO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0BA84-E42A-8322-0566-7FF35D95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7" y="2591354"/>
            <a:ext cx="3736167" cy="1675292"/>
          </a:xfrm>
          <a:prstGeom prst="rect">
            <a:avLst/>
          </a:prstGeom>
        </p:spPr>
      </p:pic>
      <p:sp>
        <p:nvSpPr>
          <p:cNvPr id="5" name="Chevron 4">
            <a:extLst>
              <a:ext uri="{FF2B5EF4-FFF2-40B4-BE49-F238E27FC236}">
                <a16:creationId xmlns:a16="http://schemas.microsoft.com/office/drawing/2014/main" id="{058B7773-D04F-BD47-D766-A272E60E5A56}"/>
              </a:ext>
            </a:extLst>
          </p:cNvPr>
          <p:cNvSpPr/>
          <p:nvPr/>
        </p:nvSpPr>
        <p:spPr>
          <a:xfrm>
            <a:off x="4221162" y="2748516"/>
            <a:ext cx="896679" cy="13609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07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A5582-DCE4-EDC4-CC3C-F312A3420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347"/>
          </a:xfrm>
        </p:spPr>
        <p:txBody>
          <a:bodyPr>
            <a:normAutofit/>
          </a:bodyPr>
          <a:lstStyle/>
          <a:p>
            <a:r>
              <a:rPr lang="en-US" sz="4800" dirty="0"/>
              <a:t>Database Schema: 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D74F5A-0DEA-0FD1-0717-F4542718DA3A}"/>
              </a:ext>
            </a:extLst>
          </p:cNvPr>
          <p:cNvSpPr/>
          <p:nvPr/>
        </p:nvSpPr>
        <p:spPr>
          <a:xfrm>
            <a:off x="682863" y="2666744"/>
            <a:ext cx="4846066" cy="352469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Page</a:t>
            </a:r>
          </a:p>
          <a:p>
            <a:pPr algn="ctr"/>
            <a:r>
              <a:rPr lang="en-US" sz="2400" dirty="0"/>
              <a:t>a Wiki page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(archive, fund, opus, case)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Availability (linked, unlinked)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Parent (page)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Children (pages)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DCFFB3-F838-AE64-B769-ACC9AD070601}"/>
              </a:ext>
            </a:extLst>
          </p:cNvPr>
          <p:cNvSpPr/>
          <p:nvPr/>
        </p:nvSpPr>
        <p:spPr>
          <a:xfrm>
            <a:off x="6170427" y="2666744"/>
            <a:ext cx="5487564" cy="3524693"/>
          </a:xfrm>
          <a:prstGeom prst="roundRect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Document</a:t>
            </a:r>
            <a:endParaRPr lang="en-US" sz="2400" dirty="0"/>
          </a:p>
          <a:p>
            <a:pPr algn="ctr"/>
            <a:r>
              <a:rPr lang="en-US" sz="2400" dirty="0"/>
              <a:t>An attached scanned document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link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Document type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Pages processed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Owning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D5D963-D30A-DC51-EBC2-B1976F7A3551}"/>
              </a:ext>
            </a:extLst>
          </p:cNvPr>
          <p:cNvSpPr txBox="1"/>
          <p:nvPr/>
        </p:nvSpPr>
        <p:spPr>
          <a:xfrm>
            <a:off x="0" y="160977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Separate </a:t>
            </a:r>
            <a:r>
              <a:rPr lang="en-US" sz="3600" b="1" dirty="0">
                <a:solidFill>
                  <a:schemeClr val="accent4"/>
                </a:solidFill>
              </a:rPr>
              <a:t>Page</a:t>
            </a:r>
            <a:r>
              <a:rPr lang="en-US" sz="3600" dirty="0"/>
              <a:t> data from </a:t>
            </a:r>
            <a:r>
              <a:rPr lang="en-US" sz="3600" b="1" dirty="0">
                <a:solidFill>
                  <a:schemeClr val="accent6"/>
                </a:solidFill>
              </a:rPr>
              <a:t>Scanned Document</a:t>
            </a:r>
            <a:r>
              <a:rPr lang="en-US" sz="36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9875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D195-98A3-548D-4516-EE543E11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7" y="1794224"/>
            <a:ext cx="10881207" cy="3996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A978B0-C862-9C80-7A7D-000669D2586E}"/>
              </a:ext>
            </a:extLst>
          </p:cNvPr>
          <p:cNvSpPr/>
          <p:nvPr/>
        </p:nvSpPr>
        <p:spPr>
          <a:xfrm>
            <a:off x="731520" y="2852928"/>
            <a:ext cx="3868760" cy="1706880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32795-8C08-F2D9-1514-D74C3D6FC3D0}"/>
              </a:ext>
            </a:extLst>
          </p:cNvPr>
          <p:cNvSpPr/>
          <p:nvPr/>
        </p:nvSpPr>
        <p:spPr>
          <a:xfrm>
            <a:off x="4600279" y="2852928"/>
            <a:ext cx="6730739" cy="1706880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09072-65B3-7E28-18EF-5419A2A70DC0}"/>
              </a:ext>
            </a:extLst>
          </p:cNvPr>
          <p:cNvSpPr txBox="1"/>
          <p:nvPr/>
        </p:nvSpPr>
        <p:spPr>
          <a:xfrm>
            <a:off x="1508289" y="937804"/>
            <a:ext cx="1819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4"/>
                </a:solidFill>
              </a:rPr>
              <a:t>Page Data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8B9FE2C6-9773-A1D6-C7F5-B79A7B272384}"/>
              </a:ext>
            </a:extLst>
          </p:cNvPr>
          <p:cNvSpPr/>
          <p:nvPr/>
        </p:nvSpPr>
        <p:spPr>
          <a:xfrm>
            <a:off x="2320839" y="1512708"/>
            <a:ext cx="194244" cy="697714"/>
          </a:xfrm>
          <a:prstGeom prst="down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C082E-BF14-3E11-4A28-773A865FF9E9}"/>
              </a:ext>
            </a:extLst>
          </p:cNvPr>
          <p:cNvSpPr txBox="1"/>
          <p:nvPr/>
        </p:nvSpPr>
        <p:spPr>
          <a:xfrm>
            <a:off x="6324865" y="871568"/>
            <a:ext cx="2753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/>
                </a:solidFill>
              </a:rPr>
              <a:t>Document Data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EE5852E-3A9E-ACED-658A-5BDAB0404A06}"/>
              </a:ext>
            </a:extLst>
          </p:cNvPr>
          <p:cNvSpPr/>
          <p:nvPr/>
        </p:nvSpPr>
        <p:spPr>
          <a:xfrm>
            <a:off x="7604466" y="1461024"/>
            <a:ext cx="194244" cy="106536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9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D94-BA1E-5B59-D36F-171B779C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Pages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920D4F-9DDC-4EB1-814F-FEF9822CF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75" y="1998248"/>
            <a:ext cx="11433850" cy="43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9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D778-625D-47D0-A107-76F7321A6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256E-055A-5CA7-3A7F-00AED3E4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Table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08DB6E-D4E7-9CE8-5B6A-9DDE70B04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1" y="1878643"/>
            <a:ext cx="11398213" cy="42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13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EE1F-4F97-B282-9A5C-BA24076E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'Kanban” View of Pages table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4D6DCC-C2E5-F7E6-BADB-D3F606272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9313" y="1825625"/>
            <a:ext cx="84133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48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007B9-FE7C-6E4C-DD71-DA7F7AA1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Gallery View for Content Checkers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0D554A-09EF-63D8-9575-AFE8578A4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2615" y="1825625"/>
            <a:ext cx="73867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33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DEDF9-7D07-165F-A2CD-05EBD3759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8" y="1513264"/>
            <a:ext cx="7772400" cy="47589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C29223B-EC82-DBD3-E969-7069360D6E6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Birddog Integration (NOT YET!)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B1524-D0EB-6759-A43F-C3FDC61ED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41" y="2690958"/>
            <a:ext cx="609600" cy="584200"/>
          </a:xfrm>
          <a:prstGeom prst="rect">
            <a:avLst/>
          </a:prstGeom>
          <a:effectLst>
            <a:glow rad="231179">
              <a:srgbClr val="FF0000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2AA3E6-1169-AC22-159D-60FE89DA6A9B}"/>
              </a:ext>
            </a:extLst>
          </p:cNvPr>
          <p:cNvSpPr txBox="1"/>
          <p:nvPr/>
        </p:nvSpPr>
        <p:spPr>
          <a:xfrm>
            <a:off x="9226592" y="2785569"/>
            <a:ext cx="208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“Update database”</a:t>
            </a:r>
          </a:p>
        </p:txBody>
      </p:sp>
    </p:spTree>
    <p:extLst>
      <p:ext uri="{BB962C8B-B14F-4D97-AF65-F5344CB8AC3E}">
        <p14:creationId xmlns:p14="http://schemas.microsoft.com/office/powerpoint/2010/main" val="33674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6D7E57-E5CC-0733-C37A-A9B320154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29" y="1690688"/>
            <a:ext cx="11075175" cy="45276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8A0E698-8401-EF05-101D-DA6F2AAC94C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Mock-Up View for Reviewing Birddog Updates</a:t>
            </a:r>
          </a:p>
        </p:txBody>
      </p:sp>
    </p:spTree>
    <p:extLst>
      <p:ext uri="{BB962C8B-B14F-4D97-AF65-F5344CB8AC3E}">
        <p14:creationId xmlns:p14="http://schemas.microsoft.com/office/powerpoint/2010/main" val="1091315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6C3C5-46ED-EA9B-47C7-4CB7A922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Transition Process</a:t>
            </a:r>
            <a:endParaRPr lang="en-US" sz="4000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D2BEDE-B10F-A79E-2658-98DD3315B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Existing Google docs spreadsheet content is imported into the database to start.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Google docs continues to be used during the transition period.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Individual archive tracking is sequentially cut over to the database when ready.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Birddog is integrated to insert database updates based on ongoing Wiki archive changes.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C955983-3FC9-B51D-7CE3-5008174509E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146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284F-9EA7-49D7-8504-DA9FFD6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62B64-947C-EA1A-E8CF-2F67379F6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complete roll-ups (e.g. pages processed)</a:t>
            </a:r>
          </a:p>
          <a:p>
            <a:r>
              <a:rPr lang="en-US" dirty="0"/>
              <a:t>Birddog integration</a:t>
            </a:r>
          </a:p>
          <a:p>
            <a:r>
              <a:rPr lang="en-US" dirty="0"/>
              <a:t>Flesh out roles and views</a:t>
            </a:r>
          </a:p>
        </p:txBody>
      </p:sp>
    </p:spTree>
    <p:extLst>
      <p:ext uri="{BB962C8B-B14F-4D97-AF65-F5344CB8AC3E}">
        <p14:creationId xmlns:p14="http://schemas.microsoft.com/office/powerpoint/2010/main" val="417367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396</Words>
  <Application>Microsoft Macintosh PowerPoint</Application>
  <PresentationFormat>Widescreen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Database Explorations</vt:lpstr>
      <vt:lpstr>The Problem</vt:lpstr>
      <vt:lpstr>The Solution</vt:lpstr>
      <vt:lpstr>Database Requirements</vt:lpstr>
      <vt:lpstr>Candidate Database Platform: NocoDB</vt:lpstr>
      <vt:lpstr>NocoDB Features</vt:lpstr>
      <vt:lpstr>Customizable Views</vt:lpstr>
      <vt:lpstr>Role-Based Data Access Permissions</vt:lpstr>
      <vt:lpstr>Revision History for All Data Changes</vt:lpstr>
      <vt:lpstr>Per-Record Commenting</vt:lpstr>
      <vt:lpstr>Initial Experiment with DAHEO</vt:lpstr>
      <vt:lpstr>Database Schema: </vt:lpstr>
      <vt:lpstr>PowerPoint Presentation</vt:lpstr>
      <vt:lpstr>Pages Table</vt:lpstr>
      <vt:lpstr>Documents Table</vt:lpstr>
      <vt:lpstr>'Kanban” View of Pages table</vt:lpstr>
      <vt:lpstr>Gallery View for Content Checkers</vt:lpstr>
      <vt:lpstr>PowerPoint Presentation</vt:lpstr>
      <vt:lpstr>PowerPoint Presentation</vt:lpstr>
      <vt:lpstr>Transition Process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19</cp:revision>
  <dcterms:created xsi:type="dcterms:W3CDTF">2025-09-28T01:29:04Z</dcterms:created>
  <dcterms:modified xsi:type="dcterms:W3CDTF">2025-09-29T19:02:05Z</dcterms:modified>
</cp:coreProperties>
</file>