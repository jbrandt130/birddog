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18"/>
  </p:notesMasterIdLst>
  <p:sldIdLst>
    <p:sldId id="269" r:id="rId2"/>
    <p:sldId id="267" r:id="rId3"/>
    <p:sldId id="289" r:id="rId4"/>
    <p:sldId id="290" r:id="rId5"/>
    <p:sldId id="275" r:id="rId6"/>
    <p:sldId id="283" r:id="rId7"/>
    <p:sldId id="285" r:id="rId8"/>
    <p:sldId id="284" r:id="rId9"/>
    <p:sldId id="286" r:id="rId10"/>
    <p:sldId id="287" r:id="rId11"/>
    <p:sldId id="271" r:id="rId12"/>
    <p:sldId id="277" r:id="rId13"/>
    <p:sldId id="272" r:id="rId14"/>
    <p:sldId id="278" r:id="rId15"/>
    <p:sldId id="291" r:id="rId16"/>
    <p:sldId id="28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E7DE"/>
    <a:srgbClr val="FFF3CD"/>
    <a:srgbClr val="F1A9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1889E-1A61-BB4C-A8B2-CFF3EA6C408D}" v="1" dt="2025-03-08T23:57:47.305"/>
    <p1510:client id="{EC28F728-2C4F-7B4D-9516-3B96749D3752}" v="17" dt="2025-03-09T00:15:58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37"/>
  </p:normalViewPr>
  <p:slideViewPr>
    <p:cSldViewPr snapToGrid="0">
      <p:cViewPr varScale="1">
        <p:scale>
          <a:sx n="250" d="100"/>
          <a:sy n="250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5D912-BF9A-7D45-AE09-BFDA05A40E4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6E974-5289-5840-8FCA-F1031307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7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6E974-5289-5840-8FCA-F1031307B5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41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2D8A-60A1-62C6-6D0D-E79972F0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ECFF3-440C-CAEA-05B4-B99823BB6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82BBA-E425-F246-0265-B3E839E5C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633A3-A11E-95A1-B8A0-9C00EE84D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6E974-5289-5840-8FCA-F1031307B5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46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1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2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1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0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6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1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81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7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47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17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76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55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83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05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08103B-A2DC-7446-80E1-4380269339D1}" type="datetimeFigureOut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E0B0351-A137-6847-BB0D-4989C4191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2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3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7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9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Bird Dog">
            <a:extLst>
              <a:ext uri="{FF2B5EF4-FFF2-40B4-BE49-F238E27FC236}">
                <a16:creationId xmlns:a16="http://schemas.microsoft.com/office/drawing/2014/main" id="{EC5E13AF-E1EB-1A6F-79E7-B2047A52F1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79" t="-3917" r="18681" b="-5970"/>
          <a:stretch/>
        </p:blipFill>
        <p:spPr bwMode="auto">
          <a:xfrm>
            <a:off x="0" y="228600"/>
            <a:ext cx="6321669" cy="651510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180627-681E-BFA6-44DB-7C1AB7F3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686" y="2930982"/>
            <a:ext cx="5428551" cy="8377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Bird Dog Review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501FE-005D-1A55-0115-361D227BAD60}"/>
              </a:ext>
            </a:extLst>
          </p:cNvPr>
          <p:cNvSpPr txBox="1">
            <a:spLocks/>
          </p:cNvSpPr>
          <p:nvPr/>
        </p:nvSpPr>
        <p:spPr>
          <a:xfrm>
            <a:off x="6826101" y="3898142"/>
            <a:ext cx="3154511" cy="525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August 27, 2025</a:t>
            </a:r>
          </a:p>
        </p:txBody>
      </p:sp>
    </p:spTree>
    <p:extLst>
      <p:ext uri="{BB962C8B-B14F-4D97-AF65-F5344CB8AC3E}">
        <p14:creationId xmlns:p14="http://schemas.microsoft.com/office/powerpoint/2010/main" val="3659151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1B28F-77A8-4DA7-C1FD-12C4E13E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8CF5FB-3249-E1B9-9C48-644BB7251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FD6BC-6C09-18CB-2804-5E1F05482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4D1942-9868-6730-12DF-0023B07C2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Agenda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5135BF-8C24-6549-157A-6694C0D5B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EDF9-DA93-0297-25BF-3FFC1963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44594"/>
            <a:ext cx="8595102" cy="3730689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What is Bird Dog?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Demo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Current Status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>
                <a:solidFill>
                  <a:schemeClr val="tx1"/>
                </a:solidFill>
              </a:rPr>
              <a:t>Next Steps Discussion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AEC390-7FA6-974F-4384-131625281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888118" y="1912968"/>
            <a:ext cx="3540642" cy="365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2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66C2B-5312-4935-9340-135D7410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40AFCF5-D22A-71E7-B81C-1ABD9C27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2D0DA-21F5-4619-0D6B-84F04B4A2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0EA09-9B36-B978-FC65-58BAD215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Existing Administrator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6B07FF-8873-2240-91BB-03C3106EE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57E4D3-AB34-EDD7-7B15-DA8AD3036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57" y="2329159"/>
            <a:ext cx="3669831" cy="2192000"/>
          </a:xfrm>
          <a:prstGeom prst="rect">
            <a:avLst/>
          </a:prstGeom>
        </p:spPr>
      </p:pic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C4F420CD-9B3F-8DFE-9F19-B0AF9979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016" y="3278321"/>
            <a:ext cx="3098427" cy="2787696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0798792F-3AAE-34F7-626F-A9ABC608D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175" y="3186449"/>
            <a:ext cx="1918447" cy="1560183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579C8C13-E318-5F03-F184-5F851D978D0B}"/>
              </a:ext>
            </a:extLst>
          </p:cNvPr>
          <p:cNvSpPr/>
          <p:nvPr/>
        </p:nvSpPr>
        <p:spPr>
          <a:xfrm>
            <a:off x="4531977" y="3751892"/>
            <a:ext cx="722301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75BB4F27-0E2F-3103-1F20-3422768DE702}"/>
              </a:ext>
            </a:extLst>
          </p:cNvPr>
          <p:cNvSpPr/>
          <p:nvPr/>
        </p:nvSpPr>
        <p:spPr>
          <a:xfrm>
            <a:off x="7513983" y="3754551"/>
            <a:ext cx="649136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93C8A-6753-1FF0-BB22-B9EB9DF797D0}"/>
              </a:ext>
            </a:extLst>
          </p:cNvPr>
          <p:cNvSpPr txBox="1"/>
          <p:nvPr/>
        </p:nvSpPr>
        <p:spPr>
          <a:xfrm rot="19575581">
            <a:off x="4819304" y="2125896"/>
            <a:ext cx="1838112" cy="9226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10,000+ changes per month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71FC5-E501-1BC3-90A5-07937515F344}"/>
              </a:ext>
            </a:extLst>
          </p:cNvPr>
          <p:cNvSpPr txBox="1"/>
          <p:nvPr/>
        </p:nvSpPr>
        <p:spPr>
          <a:xfrm rot="867319">
            <a:off x="4345913" y="4987200"/>
            <a:ext cx="1683068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150,000+ pages to track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90610-D1DB-A220-1D68-3CDA315423B5}"/>
              </a:ext>
            </a:extLst>
          </p:cNvPr>
          <p:cNvSpPr txBox="1"/>
          <p:nvPr/>
        </p:nvSpPr>
        <p:spPr>
          <a:xfrm>
            <a:off x="709556" y="4628668"/>
            <a:ext cx="3669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uk.wikisource.org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A75D8-CCFB-0116-63A4-C8D49203BA68}"/>
              </a:ext>
            </a:extLst>
          </p:cNvPr>
          <p:cNvSpPr txBox="1"/>
          <p:nvPr/>
        </p:nvSpPr>
        <p:spPr>
          <a:xfrm>
            <a:off x="5746312" y="3194453"/>
            <a:ext cx="58532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dirty="0"/>
              <a:t>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E97999-1B7B-FF92-12CE-6C0A2CD7E79D}"/>
              </a:ext>
            </a:extLst>
          </p:cNvPr>
          <p:cNvSpPr txBox="1"/>
          <p:nvPr/>
        </p:nvSpPr>
        <p:spPr>
          <a:xfrm rot="1805804">
            <a:off x="7020594" y="2283227"/>
            <a:ext cx="2260653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Overwhelming email notifications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6AFDCB-72D2-1661-F80A-3550DAF158DF}"/>
              </a:ext>
            </a:extLst>
          </p:cNvPr>
          <p:cNvSpPr txBox="1"/>
          <p:nvPr/>
        </p:nvSpPr>
        <p:spPr>
          <a:xfrm rot="19387863">
            <a:off x="6383961" y="4697148"/>
            <a:ext cx="1792931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Copy/paste by the 100’s or 1,000’s</a:t>
            </a:r>
          </a:p>
        </p:txBody>
      </p:sp>
    </p:spTree>
    <p:extLst>
      <p:ext uri="{BB962C8B-B14F-4D97-AF65-F5344CB8AC3E}">
        <p14:creationId xmlns:p14="http://schemas.microsoft.com/office/powerpoint/2010/main" val="291225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3" grpId="0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FA54A-C01C-3014-807B-2D7D1F26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16F8CE-A281-1873-63B3-71B000B91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082AF0-7F72-4178-F047-AE70BFEEA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A873E-BE99-9B28-3ABF-BE1AF950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Birddog-Assisted Workflow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3C02F7-57D3-2A22-CD71-0CE14023E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4DB04B-1867-6444-7252-54FC301F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09" y="1876280"/>
            <a:ext cx="2872372" cy="1715675"/>
          </a:xfrm>
          <a:prstGeom prst="rect">
            <a:avLst/>
          </a:prstGeom>
        </p:spPr>
      </p:pic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277CA6D-1D83-3535-F9CD-06C7296CF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157" y="3399177"/>
            <a:ext cx="3098427" cy="2787696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1B501C2-29D1-8FB7-9FEA-E66D575AF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529" y="3876063"/>
            <a:ext cx="3868743" cy="2310809"/>
          </a:xfrm>
          <a:prstGeom prst="rect">
            <a:avLst/>
          </a:prstGeom>
        </p:spPr>
      </p:pic>
      <p:pic>
        <p:nvPicPr>
          <p:cNvPr id="15" name="Picture 14" descr="A blue person holding a computer&#10;&#10;AI-generated content may be incorrect.">
            <a:extLst>
              <a:ext uri="{FF2B5EF4-FFF2-40B4-BE49-F238E27FC236}">
                <a16:creationId xmlns:a16="http://schemas.microsoft.com/office/drawing/2014/main" id="{FABA21F3-D50C-AD0F-CB97-FD96459B7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490" y="1900518"/>
            <a:ext cx="1585319" cy="1289266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33A137F3-A86D-2615-5017-C422888A9494}"/>
              </a:ext>
            </a:extLst>
          </p:cNvPr>
          <p:cNvSpPr/>
          <p:nvPr/>
        </p:nvSpPr>
        <p:spPr>
          <a:xfrm>
            <a:off x="7320646" y="4596121"/>
            <a:ext cx="649136" cy="410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Bent-Up Arrow 2">
            <a:extLst>
              <a:ext uri="{FF2B5EF4-FFF2-40B4-BE49-F238E27FC236}">
                <a16:creationId xmlns:a16="http://schemas.microsoft.com/office/drawing/2014/main" id="{3DBD3FB2-A636-7B1C-0930-AFF1A2CDA366}"/>
              </a:ext>
            </a:extLst>
          </p:cNvPr>
          <p:cNvSpPr/>
          <p:nvPr/>
        </p:nvSpPr>
        <p:spPr>
          <a:xfrm rot="5400000">
            <a:off x="2142542" y="3892288"/>
            <a:ext cx="911598" cy="879148"/>
          </a:xfrm>
          <a:prstGeom prst="bentUpArrow">
            <a:avLst>
              <a:gd name="adj1" fmla="val 23191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25B63EB2-C702-1E6E-A281-DED96ABB612E}"/>
              </a:ext>
            </a:extLst>
          </p:cNvPr>
          <p:cNvSpPr/>
          <p:nvPr/>
        </p:nvSpPr>
        <p:spPr>
          <a:xfrm>
            <a:off x="4720432" y="2981937"/>
            <a:ext cx="413468" cy="91159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86675-6BDB-DA16-1F7B-91E1A90E7BF4}"/>
              </a:ext>
            </a:extLst>
          </p:cNvPr>
          <p:cNvSpPr txBox="1"/>
          <p:nvPr/>
        </p:nvSpPr>
        <p:spPr>
          <a:xfrm>
            <a:off x="4154556" y="1908469"/>
            <a:ext cx="499256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400" dirty="0"/>
              <a:t>😊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CA9FB-8783-7745-C805-4E4B1418814E}"/>
              </a:ext>
            </a:extLst>
          </p:cNvPr>
          <p:cNvSpPr txBox="1"/>
          <p:nvPr/>
        </p:nvSpPr>
        <p:spPr>
          <a:xfrm rot="1876922">
            <a:off x="5842642" y="2491945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Consolidated change alerts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DE5966-D79F-D170-F4A8-AB67ABD62494}"/>
              </a:ext>
            </a:extLst>
          </p:cNvPr>
          <p:cNvSpPr txBox="1"/>
          <p:nvPr/>
        </p:nvSpPr>
        <p:spPr>
          <a:xfrm rot="335984">
            <a:off x="7271272" y="1976555"/>
            <a:ext cx="1901770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Streamlined change review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E16F2-2C4A-55F5-695F-E10956E8DF1B}"/>
              </a:ext>
            </a:extLst>
          </p:cNvPr>
          <p:cNvSpPr txBox="1"/>
          <p:nvPr/>
        </p:nvSpPr>
        <p:spPr>
          <a:xfrm rot="20912755">
            <a:off x="8342886" y="981654"/>
            <a:ext cx="1838112" cy="646331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Built-in translation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00F4F9-F8AF-8CA3-BF22-D938DF644A24}"/>
              </a:ext>
            </a:extLst>
          </p:cNvPr>
          <p:cNvSpPr txBox="1"/>
          <p:nvPr/>
        </p:nvSpPr>
        <p:spPr>
          <a:xfrm rot="20250580">
            <a:off x="9570977" y="1809423"/>
            <a:ext cx="1838112" cy="923330"/>
          </a:xfrm>
          <a:prstGeom prst="rect">
            <a:avLst/>
          </a:prstGeom>
          <a:solidFill>
            <a:srgbClr val="D1E7DE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Automated spreadsheet generation</a:t>
            </a:r>
          </a:p>
        </p:txBody>
      </p:sp>
    </p:spTree>
    <p:extLst>
      <p:ext uri="{BB962C8B-B14F-4D97-AF65-F5344CB8AC3E}">
        <p14:creationId xmlns:p14="http://schemas.microsoft.com/office/powerpoint/2010/main" val="297240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5" grpId="0" animBg="1"/>
      <p:bldP spid="11" grpId="0"/>
      <p:bldP spid="14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BC10-46D3-C3CA-D9DE-75B7DA27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/ Origin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970A6-D57D-DD57-9D8B-E4219CA6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88" y="2832101"/>
            <a:ext cx="2619152" cy="3791983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2000" b="1" dirty="0"/>
              <a:t>2023-24:</a:t>
            </a:r>
          </a:p>
          <a:p>
            <a:pPr marL="0" indent="0" algn="r">
              <a:buNone/>
            </a:pPr>
            <a:endParaRPr lang="en-US" sz="2000" b="1" dirty="0"/>
          </a:p>
          <a:p>
            <a:pPr marL="0" indent="0" algn="r">
              <a:buNone/>
            </a:pPr>
            <a:r>
              <a:rPr lang="en-US" sz="2000" b="1" dirty="0"/>
              <a:t>April 2025:</a:t>
            </a:r>
          </a:p>
          <a:p>
            <a:pPr marL="0" indent="0" algn="r">
              <a:buNone/>
            </a:pPr>
            <a:endParaRPr lang="en-US" sz="2000" dirty="0"/>
          </a:p>
          <a:p>
            <a:pPr marL="0" indent="0" algn="r">
              <a:buNone/>
            </a:pPr>
            <a:r>
              <a:rPr lang="en-US" sz="2000" b="1" dirty="0"/>
              <a:t>May 2025:</a:t>
            </a:r>
          </a:p>
          <a:p>
            <a:pPr marL="0" indent="0" algn="r">
              <a:buNone/>
            </a:pPr>
            <a:endParaRPr lang="en-US" sz="2000" dirty="0"/>
          </a:p>
          <a:p>
            <a:pPr marL="0" indent="0" algn="r">
              <a:buNone/>
            </a:pPr>
            <a:r>
              <a:rPr lang="en-US" sz="2000" b="1" dirty="0"/>
              <a:t>May-August 2025:</a:t>
            </a:r>
            <a:endParaRPr lang="en-US" sz="2000" dirty="0"/>
          </a:p>
          <a:p>
            <a:pPr algn="r"/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71C2AC-38BD-21E6-1DDC-70273448FDA2}"/>
              </a:ext>
            </a:extLst>
          </p:cNvPr>
          <p:cNvSpPr txBox="1">
            <a:spLocks/>
          </p:cNvSpPr>
          <p:nvPr/>
        </p:nvSpPr>
        <p:spPr>
          <a:xfrm>
            <a:off x="3040461" y="2587553"/>
            <a:ext cx="8400171" cy="37919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1900" dirty="0"/>
              <a:t>Genesis from a set of standalone Python scripts to scrape the </a:t>
            </a:r>
            <a:r>
              <a:rPr lang="en-US" sz="1900" dirty="0" err="1"/>
              <a:t>Wikidata</a:t>
            </a:r>
            <a:r>
              <a:rPr lang="en-US" sz="1900" dirty="0"/>
              <a:t> archive pages and generate corresponding spreadsheets</a:t>
            </a:r>
          </a:p>
          <a:p>
            <a:pPr marL="0" indent="0">
              <a:buFont typeface="Wingdings 3" charset="2"/>
              <a:buNone/>
            </a:pPr>
            <a:endParaRPr lang="en-US" sz="1900" dirty="0"/>
          </a:p>
          <a:p>
            <a:pPr marL="0" indent="0">
              <a:buFont typeface="Wingdings 3" charset="2"/>
              <a:buNone/>
            </a:pPr>
            <a:r>
              <a:rPr lang="en-US" sz="1900" dirty="0"/>
              <a:t>Proposed the project (to Juliana and Gary) and started development</a:t>
            </a:r>
          </a:p>
          <a:p>
            <a:pPr marL="0" indent="0">
              <a:buFont typeface="Wingdings 3" charset="2"/>
              <a:buNone/>
            </a:pPr>
            <a:endParaRPr lang="en-US" sz="1900" dirty="0"/>
          </a:p>
          <a:p>
            <a:pPr marL="0" indent="0">
              <a:buFont typeface="Wingdings 3" charset="2"/>
              <a:buNone/>
            </a:pPr>
            <a:r>
              <a:rPr lang="en-US" sz="1900" dirty="0"/>
              <a:t>Initial deployment to AWS</a:t>
            </a:r>
          </a:p>
          <a:p>
            <a:pPr marL="0" indent="0">
              <a:buFont typeface="Wingdings 3" charset="2"/>
              <a:buNone/>
            </a:pPr>
            <a:endParaRPr lang="en-US" sz="1900" dirty="0"/>
          </a:p>
          <a:p>
            <a:pPr marL="0" indent="0">
              <a:buFont typeface="Wingdings 3" charset="2"/>
              <a:buNone/>
            </a:pPr>
            <a:r>
              <a:rPr lang="en-US" sz="1900" dirty="0"/>
              <a:t>“Alpha” period to complete initial feature set, with extensive help from Juliana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890438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EECF0-5047-52C8-8AC4-18E14695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8F9A8E-0CF8-C8E3-951E-3A6FD2E44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1DCE82-704E-E48B-C83B-1B28AA2C1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B68F7-2DF3-4066-C9EB-3595AA74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0D9B4A-D876-B295-6958-73AF204CD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8F1E5-E017-180F-644C-7DA55A7D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B62227-F272-7A88-8F13-BDEBBBCE9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FC7DC2-82B0-048D-5F78-85E556C37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E0897-A155-A7DD-5879-10E1BDE4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E54804-8B4D-8421-CE7E-503A60BF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411A-B48F-491D-2600-98DD6C2B8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Automated Wiki page change monitoring and reporting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C6023E-1D9C-4C3B-06F6-B7D561E7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88" y="2009489"/>
            <a:ext cx="4877654" cy="399302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26AE99-78E9-D0CD-4432-41D5634F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7" y="2009489"/>
            <a:ext cx="4877653" cy="399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6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A8427-76DB-4313-12F0-D92924D72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9634D8-6273-57CF-0304-49B27C42B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71FA3B-A970-88C8-5514-F172582BC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DEA1A-B6F0-22D8-DA76-351C155A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07EA75-98A9-443E-80DE-8EA82BAE2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0EBE7-C55E-84E1-8734-75B1D59D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Page change inspector in an easily digestible format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88D142-9E9C-5925-E313-F264665B8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985" y="2009489"/>
            <a:ext cx="4877655" cy="3993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FDA6F-CBF2-FEE2-BF40-94807B962487}"/>
              </a:ext>
            </a:extLst>
          </p:cNvPr>
          <p:cNvSpPr txBox="1"/>
          <p:nvPr/>
        </p:nvSpPr>
        <p:spPr>
          <a:xfrm>
            <a:off x="2060657" y="4640457"/>
            <a:ext cx="3103735" cy="338554"/>
          </a:xfrm>
          <a:prstGeom prst="rect">
            <a:avLst/>
          </a:prstGeom>
          <a:solidFill>
            <a:srgbClr val="FFF3CD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Text changes shown in yellow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E687F-EB0B-1F74-445E-1D15EA972216}"/>
              </a:ext>
            </a:extLst>
          </p:cNvPr>
          <p:cNvSpPr txBox="1"/>
          <p:nvPr/>
        </p:nvSpPr>
        <p:spPr>
          <a:xfrm>
            <a:off x="2060656" y="5211187"/>
            <a:ext cx="3103735" cy="338554"/>
          </a:xfrm>
          <a:prstGeom prst="rect">
            <a:avLst/>
          </a:prstGeom>
          <a:solidFill>
            <a:srgbClr val="D1E7DE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Text additions shown in green</a:t>
            </a:r>
          </a:p>
        </p:txBody>
      </p:sp>
    </p:spTree>
    <p:extLst>
      <p:ext uri="{BB962C8B-B14F-4D97-AF65-F5344CB8AC3E}">
        <p14:creationId xmlns:p14="http://schemas.microsoft.com/office/powerpoint/2010/main" val="36565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67422-BC77-E49F-C38A-6551A2786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BF4EBB-99AC-5AE4-9679-9D9463C02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4DC3BF-C225-6FE7-7487-95105838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1B32D-8007-3873-1BBE-79898559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8649C-09DC-A6D3-21A1-62FFDED9F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F718-73C3-46C3-D2B3-016B3630F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Built-in </a:t>
            </a:r>
            <a:r>
              <a:rPr lang="en-US" sz="2000" dirty="0" err="1">
                <a:solidFill>
                  <a:schemeClr val="tx1"/>
                </a:solidFill>
              </a:rPr>
              <a:t>Ukranian</a:t>
            </a:r>
            <a:r>
              <a:rPr lang="en-US" sz="2000" dirty="0">
                <a:solidFill>
                  <a:schemeClr val="tx1"/>
                </a:solidFill>
              </a:rPr>
              <a:t> to English translation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2FABB3-C665-9831-4BDD-FFF4CA589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4" y="2009489"/>
            <a:ext cx="4877655" cy="399303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DE1FB5C-3156-946B-38F0-7B68A08410C7}"/>
              </a:ext>
            </a:extLst>
          </p:cNvPr>
          <p:cNvGrpSpPr/>
          <p:nvPr/>
        </p:nvGrpSpPr>
        <p:grpSpPr>
          <a:xfrm>
            <a:off x="9013706" y="3074408"/>
            <a:ext cx="437086" cy="573237"/>
            <a:chOff x="9013706" y="3074408"/>
            <a:chExt cx="437086" cy="57323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53C29C7-ED53-7FE9-0DF6-BE34DAF5AAAB}"/>
                </a:ext>
              </a:extLst>
            </p:cNvPr>
            <p:cNvSpPr/>
            <p:nvPr/>
          </p:nvSpPr>
          <p:spPr>
            <a:xfrm>
              <a:off x="9013706" y="3372037"/>
              <a:ext cx="275608" cy="275608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A1335FF8-512D-3865-AC45-320A36DD1D8A}"/>
                </a:ext>
              </a:extLst>
            </p:cNvPr>
            <p:cNvSpPr/>
            <p:nvPr/>
          </p:nvSpPr>
          <p:spPr>
            <a:xfrm rot="2321443">
              <a:off x="9352180" y="3074408"/>
              <a:ext cx="98612" cy="299693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4CFEB8-DCA8-4018-325F-8A7BB5B95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985" y="2009489"/>
            <a:ext cx="4877655" cy="399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6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B8757-8929-2F9E-B6E1-AEF96528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5515C2-6514-B10C-1CF3-FC798816B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B473DA-2F80-B5F9-BB5C-45F6D60D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5A4E3-1795-3C66-F5A4-E299DF5A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Bird Dog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B850A5-07B6-F559-B0EA-6A327957C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F7C3-9327-0403-78F4-83E225731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3721846" cy="13807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Streamlined, yet controllable spreadsheet generation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CA3B1B-B9F3-E8C9-51E7-D92A1E5376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64"/>
          <a:stretch>
            <a:fillRect/>
          </a:stretch>
        </p:blipFill>
        <p:spPr>
          <a:xfrm>
            <a:off x="5451985" y="2009489"/>
            <a:ext cx="4877655" cy="379481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1CBC47C-ACCA-4484-6A70-06D8E1424ACB}"/>
              </a:ext>
            </a:extLst>
          </p:cNvPr>
          <p:cNvGrpSpPr/>
          <p:nvPr/>
        </p:nvGrpSpPr>
        <p:grpSpPr>
          <a:xfrm>
            <a:off x="9265342" y="3074408"/>
            <a:ext cx="437086" cy="573237"/>
            <a:chOff x="9013706" y="3074408"/>
            <a:chExt cx="437086" cy="57323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3CEA538-DB0A-CF56-2A9A-5ABE603DD4FE}"/>
                </a:ext>
              </a:extLst>
            </p:cNvPr>
            <p:cNvSpPr/>
            <p:nvPr/>
          </p:nvSpPr>
          <p:spPr>
            <a:xfrm>
              <a:off x="9013706" y="3372037"/>
              <a:ext cx="275608" cy="275608"/>
            </a:xfrm>
            <a:prstGeom prst="round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C09A1D42-C681-F334-5A96-3347D5E968AA}"/>
                </a:ext>
              </a:extLst>
            </p:cNvPr>
            <p:cNvSpPr/>
            <p:nvPr/>
          </p:nvSpPr>
          <p:spPr>
            <a:xfrm rot="2321443">
              <a:off x="9352180" y="3074408"/>
              <a:ext cx="98612" cy="299693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F2D385-0907-C5F2-DDC8-2C80C5623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5" y="2003198"/>
            <a:ext cx="4877655" cy="379481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138962E-444B-66F9-A6A6-F5F3FB39AF88}"/>
              </a:ext>
            </a:extLst>
          </p:cNvPr>
          <p:cNvGrpSpPr/>
          <p:nvPr/>
        </p:nvGrpSpPr>
        <p:grpSpPr>
          <a:xfrm>
            <a:off x="6945271" y="3372037"/>
            <a:ext cx="4359045" cy="2771190"/>
            <a:chOff x="6037243" y="2798284"/>
            <a:chExt cx="5040217" cy="32042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DB6120-A3F0-2580-CDC6-8549105162D5}"/>
                </a:ext>
              </a:extLst>
            </p:cNvPr>
            <p:cNvSpPr/>
            <p:nvPr/>
          </p:nvSpPr>
          <p:spPr>
            <a:xfrm>
              <a:off x="6037243" y="2798284"/>
              <a:ext cx="5040217" cy="3204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EC56B0F-A722-CFEF-9276-FE05B92A9EED}"/>
                </a:ext>
              </a:extLst>
            </p:cNvPr>
            <p:cNvGrpSpPr/>
            <p:nvPr/>
          </p:nvGrpSpPr>
          <p:grpSpPr>
            <a:xfrm>
              <a:off x="6160398" y="2906904"/>
              <a:ext cx="4876648" cy="2897401"/>
              <a:chOff x="6089795" y="2556274"/>
              <a:chExt cx="4876648" cy="2897401"/>
            </a:xfrm>
          </p:grpSpPr>
          <p:pic>
            <p:nvPicPr>
              <p:cNvPr id="9" name="Picture 8" descr="A screenshot of a spreadsheet&#10;&#10;AI-generated content may be incorrect.">
                <a:extLst>
                  <a:ext uri="{FF2B5EF4-FFF2-40B4-BE49-F238E27FC236}">
                    <a16:creationId xmlns:a16="http://schemas.microsoft.com/office/drawing/2014/main" id="{E4D1C324-E9B9-A351-3F65-26B585A89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9795" y="2556274"/>
                <a:ext cx="4876648" cy="1287883"/>
              </a:xfrm>
              <a:prstGeom prst="rect">
                <a:avLst/>
              </a:prstGeom>
            </p:spPr>
          </p:pic>
          <p:pic>
            <p:nvPicPr>
              <p:cNvPr id="13" name="Picture 12" descr="A screenshot of a spreadsheet&#10;&#10;AI-generated content may be incorrect.">
                <a:extLst>
                  <a:ext uri="{FF2B5EF4-FFF2-40B4-BE49-F238E27FC236}">
                    <a16:creationId xmlns:a16="http://schemas.microsoft.com/office/drawing/2014/main" id="{1C03A700-CA28-2AE4-F09B-F2FCE6EB40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1811"/>
              <a:stretch>
                <a:fillRect/>
              </a:stretch>
            </p:blipFill>
            <p:spPr>
              <a:xfrm>
                <a:off x="6089795" y="4317902"/>
                <a:ext cx="4876648" cy="1135773"/>
              </a:xfrm>
              <a:prstGeom prst="rect">
                <a:avLst/>
              </a:prstGeom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ACD309A-CCB4-95E8-54B9-35F4853375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83836" y="3844157"/>
                <a:ext cx="0" cy="374573"/>
              </a:xfrm>
              <a:prstGeom prst="line">
                <a:avLst/>
              </a:prstGeom>
              <a:ln w="28575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3452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7C84B-24DD-D802-D730-32BBED1A8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B82430-2131-0B1D-5890-175E7FB9B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40226B-272B-D9F7-18E2-4F508BB62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1ACD7-87B3-94C1-17C6-27BF00EF3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81427"/>
            <a:ext cx="11239500" cy="5895148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solidFill>
                  <a:schemeClr val="tx2"/>
                </a:solidFill>
              </a:rPr>
              <a:t>Demo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7F2393-0532-79EC-A346-1ADC39269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2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8127C-C5C0-EEE9-FBEC-1AEF6E25A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5DBC05-06FA-9792-B890-51649B582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D874F0E-ECB7-0FF8-523E-59BC3450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4A4CF-8A07-CB11-2EE5-3740E2322487}"/>
              </a:ext>
            </a:extLst>
          </p:cNvPr>
          <p:cNvSpPr/>
          <p:nvPr/>
        </p:nvSpPr>
        <p:spPr>
          <a:xfrm>
            <a:off x="3900766" y="2334624"/>
            <a:ext cx="4390468" cy="366789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AWS Elastic Beanstalk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98143-9A9C-46EA-2DC1-EF2457B5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Tech Platform and 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EAE17B-47C8-0672-EFBA-514CBC247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3B5A7A-41D5-C3C2-8EEA-569765E38B47}"/>
              </a:ext>
            </a:extLst>
          </p:cNvPr>
          <p:cNvSpPr/>
          <p:nvPr/>
        </p:nvSpPr>
        <p:spPr>
          <a:xfrm>
            <a:off x="5502843" y="2986045"/>
            <a:ext cx="1701210" cy="10951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Flask Server (Python)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55F3F-BE48-757D-5D74-37A524430E51}"/>
              </a:ext>
            </a:extLst>
          </p:cNvPr>
          <p:cNvSpPr/>
          <p:nvPr/>
        </p:nvSpPr>
        <p:spPr>
          <a:xfrm>
            <a:off x="4786139" y="4983019"/>
            <a:ext cx="1433408" cy="8012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S3 (Storage)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143C1-9B22-D9CE-128A-8C77044B29A1}"/>
              </a:ext>
            </a:extLst>
          </p:cNvPr>
          <p:cNvSpPr/>
          <p:nvPr/>
        </p:nvSpPr>
        <p:spPr>
          <a:xfrm>
            <a:off x="8806131" y="2986043"/>
            <a:ext cx="1701210" cy="10951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Client</a:t>
            </a:r>
          </a:p>
          <a:p>
            <a:pPr algn="ctr"/>
            <a:r>
              <a:rPr lang="en-US" sz="1400" dirty="0"/>
              <a:t>(HTML/JS)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5348E0-BD8C-843D-B92E-888923C8F4A5}"/>
              </a:ext>
            </a:extLst>
          </p:cNvPr>
          <p:cNvSpPr/>
          <p:nvPr/>
        </p:nvSpPr>
        <p:spPr>
          <a:xfrm>
            <a:off x="6489338" y="4994951"/>
            <a:ext cx="1433408" cy="8012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DynamoDB (NoSQL database)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4FACDF-2E1D-ABC0-66B2-71C0E130C80D}"/>
              </a:ext>
            </a:extLst>
          </p:cNvPr>
          <p:cNvSpPr/>
          <p:nvPr/>
        </p:nvSpPr>
        <p:spPr>
          <a:xfrm>
            <a:off x="8806130" y="4081195"/>
            <a:ext cx="1701209" cy="70547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Bootstrap UI Framework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CB5A5A-EFAB-321F-71C4-509BDA893397}"/>
              </a:ext>
            </a:extLst>
          </p:cNvPr>
          <p:cNvSpPr/>
          <p:nvPr/>
        </p:nvSpPr>
        <p:spPr>
          <a:xfrm>
            <a:off x="1511579" y="3132980"/>
            <a:ext cx="1895556" cy="8012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Google Cloud Translate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C60FE7-DA5C-9819-352B-061013AFF308}"/>
              </a:ext>
            </a:extLst>
          </p:cNvPr>
          <p:cNvSpPr/>
          <p:nvPr/>
        </p:nvSpPr>
        <p:spPr>
          <a:xfrm>
            <a:off x="1511579" y="4214671"/>
            <a:ext cx="1895556" cy="8012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uk.wikisource.org</a:t>
            </a:r>
            <a:endParaRPr lang="en-US" sz="1400" dirty="0"/>
          </a:p>
          <a:p>
            <a:pPr algn="ctr"/>
            <a:r>
              <a:rPr lang="en-US" sz="1400" dirty="0"/>
              <a:t> API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F7E1DB63-A60F-D561-CF2D-34666B3664D0}"/>
              </a:ext>
            </a:extLst>
          </p:cNvPr>
          <p:cNvCxnSpPr>
            <a:stCxn id="4" idx="1"/>
            <a:endCxn id="11" idx="3"/>
          </p:cNvCxnSpPr>
          <p:nvPr/>
        </p:nvCxnSpPr>
        <p:spPr>
          <a:xfrm rot="10800000">
            <a:off x="3407135" y="3533620"/>
            <a:ext cx="2095708" cy="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78BF020-862F-3C84-500C-31D9AC7A9B74}"/>
              </a:ext>
            </a:extLst>
          </p:cNvPr>
          <p:cNvCxnSpPr>
            <a:cxnSpLocks/>
            <a:stCxn id="4" idx="1"/>
            <a:endCxn id="14" idx="3"/>
          </p:cNvCxnSpPr>
          <p:nvPr/>
        </p:nvCxnSpPr>
        <p:spPr>
          <a:xfrm rot="10800000" flipV="1">
            <a:off x="3407135" y="3533621"/>
            <a:ext cx="2095708" cy="108168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04A76731-CB00-0645-80AB-8A1C961AB722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rot="10800000" flipV="1">
            <a:off x="7204053" y="3533620"/>
            <a:ext cx="1602078" cy="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A8985A2A-9FAE-A238-7127-70D493801E5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5477236" y="4106807"/>
            <a:ext cx="901820" cy="8506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F39471B7-1525-3228-5E7C-6EFB76A457D1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rot="16200000" flipV="1">
            <a:off x="6322869" y="4111778"/>
            <a:ext cx="913752" cy="85259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40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EF453-FC66-6C85-7B47-FEA03DC9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8608EB3-4923-7074-C6C3-1DF628954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0E50C4-56FB-5F41-9A65-CB110AC05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91637-1BBF-3C92-3120-406BCAAA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Open-Source Code Repo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B95F90-ADC7-6193-517E-2CF234B48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DFEF3-D167-1227-549C-582659E34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246" y="2227901"/>
            <a:ext cx="3773507" cy="342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37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ACFCD-677D-7FDC-DA2C-B99C8457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3A7854-BA89-E9B9-4052-0ABF94EE5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D44819-C73A-57A9-364C-92846AB19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A7369-C51C-7424-4441-88CBFFA5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Challenges and Limitations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5986FA-5487-9BC4-7AF6-6941A01F7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DAAF6-63E5-34DB-48DA-1F25E53AB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079173"/>
            <a:ext cx="8563204" cy="373068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No team</a:t>
            </a:r>
          </a:p>
          <a:p>
            <a:r>
              <a:rPr lang="en-US" sz="2000" dirty="0"/>
              <a:t>Poised, but not ready to be scaled to lots of concurrent users</a:t>
            </a:r>
          </a:p>
          <a:p>
            <a:r>
              <a:rPr lang="en-US" sz="2000" dirty="0"/>
              <a:t>Wiki API throttling</a:t>
            </a:r>
          </a:p>
          <a:p>
            <a:r>
              <a:rPr lang="en-US" sz="2000" dirty="0"/>
              <a:t>Variability of people-generated content (i.e. the wiki pages)</a:t>
            </a:r>
          </a:p>
          <a:p>
            <a:r>
              <a:rPr lang="en-US" sz="2000" dirty="0"/>
              <a:t>Google translate challenges (cost and not always accurate)</a:t>
            </a:r>
          </a:p>
        </p:txBody>
      </p:sp>
    </p:spTree>
    <p:extLst>
      <p:ext uri="{BB962C8B-B14F-4D97-AF65-F5344CB8AC3E}">
        <p14:creationId xmlns:p14="http://schemas.microsoft.com/office/powerpoint/2010/main" val="195378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74294-F5CB-1043-18E5-0B8E5F45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D9D6FF-5798-00C6-28A1-A30E225FD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C20433-4610-1927-9925-6DA20AACE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250" y="473745"/>
            <a:ext cx="11227090" cy="59028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CB3839-A572-9A8A-F281-0494BF67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55482"/>
            <a:ext cx="8761413" cy="89867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Possible Futures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309DE-C327-3BD8-A4D2-390D58F8B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75601-7EDA-ECD4-823C-240818067E59}"/>
              </a:ext>
            </a:extLst>
          </p:cNvPr>
          <p:cNvGrpSpPr/>
          <p:nvPr/>
        </p:nvGrpSpPr>
        <p:grpSpPr>
          <a:xfrm>
            <a:off x="960592" y="2227644"/>
            <a:ext cx="3286535" cy="3675442"/>
            <a:chOff x="960592" y="2227644"/>
            <a:chExt cx="3286535" cy="367544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1C8466-D21F-B62A-9061-47E05EDFC64B}"/>
                </a:ext>
              </a:extLst>
            </p:cNvPr>
            <p:cNvSpPr/>
            <p:nvPr/>
          </p:nvSpPr>
          <p:spPr>
            <a:xfrm>
              <a:off x="960592" y="2227644"/>
              <a:ext cx="3286535" cy="367544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/>
                <a:t>Maintain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8C54A6-10B9-7C1E-22F7-ACA82EC0F953}"/>
                </a:ext>
              </a:extLst>
            </p:cNvPr>
            <p:cNvSpPr txBox="1"/>
            <p:nvPr/>
          </p:nvSpPr>
          <p:spPr>
            <a:xfrm>
              <a:off x="1262748" y="3265146"/>
              <a:ext cx="279672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Migrate Birddog into </a:t>
              </a:r>
              <a:r>
                <a:rPr lang="en-US" sz="1400" dirty="0" err="1"/>
                <a:t>JewishGen</a:t>
              </a:r>
              <a:r>
                <a:rPr lang="en-US" sz="1400" dirty="0"/>
                <a:t> IT Infrastructure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Code maintenance / bug fixing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Documentation update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Cover operation costs: ~$50/month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Skills required: Python, </a:t>
              </a:r>
              <a:r>
                <a:rPr lang="en-US" sz="1400" dirty="0" err="1"/>
                <a:t>Javascript</a:t>
              </a:r>
              <a:r>
                <a:rPr lang="en-US" sz="1400" dirty="0"/>
                <a:t>, AWS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F10412-A342-BD62-1844-E153FA81AC33}"/>
              </a:ext>
            </a:extLst>
          </p:cNvPr>
          <p:cNvGrpSpPr/>
          <p:nvPr/>
        </p:nvGrpSpPr>
        <p:grpSpPr>
          <a:xfrm>
            <a:off x="4452732" y="2227644"/>
            <a:ext cx="3286535" cy="3675442"/>
            <a:chOff x="4452732" y="2227644"/>
            <a:chExt cx="3286535" cy="367544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E6674A-AD31-2F04-E8F4-E133940AEA64}"/>
                </a:ext>
              </a:extLst>
            </p:cNvPr>
            <p:cNvSpPr/>
            <p:nvPr/>
          </p:nvSpPr>
          <p:spPr>
            <a:xfrm>
              <a:off x="4452732" y="2227644"/>
              <a:ext cx="3286535" cy="367544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/>
                <a:t>Scale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4FF77F-B41D-6818-CB62-3FAB717DD0BC}"/>
                </a:ext>
              </a:extLst>
            </p:cNvPr>
            <p:cNvSpPr txBox="1"/>
            <p:nvPr/>
          </p:nvSpPr>
          <p:spPr>
            <a:xfrm>
              <a:off x="4863105" y="3265146"/>
              <a:ext cx="279672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App hardening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AWS scale-out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Acquire </a:t>
              </a:r>
              <a:r>
                <a:rPr lang="en-US" sz="1400" dirty="0" err="1"/>
                <a:t>wikidata</a:t>
              </a:r>
              <a:r>
                <a:rPr lang="en-US" sz="1400" dirty="0"/>
                <a:t> API approval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Ongoing maintenance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Increased costs proportional to usage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Skills required: Python, </a:t>
              </a:r>
              <a:r>
                <a:rPr lang="en-US" sz="1400" dirty="0" err="1"/>
                <a:t>Javascript</a:t>
              </a:r>
              <a:r>
                <a:rPr lang="en-US" sz="1400" dirty="0"/>
                <a:t>, AWS, </a:t>
              </a:r>
              <a:r>
                <a:rPr lang="en-US" sz="1400" dirty="0" err="1"/>
                <a:t>devops</a:t>
              </a:r>
              <a:endParaRPr lang="en-US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1435C5-6DA0-DCAE-BBAC-8310687694D5}"/>
              </a:ext>
            </a:extLst>
          </p:cNvPr>
          <p:cNvGrpSpPr/>
          <p:nvPr/>
        </p:nvGrpSpPr>
        <p:grpSpPr>
          <a:xfrm>
            <a:off x="7944871" y="2227644"/>
            <a:ext cx="3286535" cy="3675442"/>
            <a:chOff x="7944871" y="2227644"/>
            <a:chExt cx="3286535" cy="367544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A33344-5678-1D32-CC2C-E84631B899BF}"/>
                </a:ext>
              </a:extLst>
            </p:cNvPr>
            <p:cNvSpPr/>
            <p:nvPr/>
          </p:nvSpPr>
          <p:spPr>
            <a:xfrm>
              <a:off x="7944871" y="2227644"/>
              <a:ext cx="3286535" cy="3675442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2400" dirty="0"/>
                <a:t>Extend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A16CC71-1DA7-167C-D55A-5B6ED2D96885}"/>
                </a:ext>
              </a:extLst>
            </p:cNvPr>
            <p:cNvSpPr txBox="1"/>
            <p:nvPr/>
          </p:nvSpPr>
          <p:spPr>
            <a:xfrm>
              <a:off x="8189775" y="3265146"/>
              <a:ext cx="279672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Sync with Google Sheets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AI-assisted document prioritization, etc.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Align with </a:t>
              </a:r>
              <a:r>
                <a:rPr lang="en-US" sz="1400" dirty="0" err="1"/>
                <a:t>JewishGen</a:t>
              </a:r>
              <a:r>
                <a:rPr lang="en-US" sz="1400" dirty="0"/>
                <a:t> unified database project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Apply to other efforts in </a:t>
              </a:r>
              <a:r>
                <a:rPr lang="en-US" sz="1400" dirty="0" err="1"/>
                <a:t>JewishGen</a:t>
              </a:r>
              <a:endParaRPr lang="en-US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323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A111297-91DF-3A85-0395-DE9316FD0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B0D8C7-AF92-EBB6-086B-1DBA5B3892D0}"/>
              </a:ext>
            </a:extLst>
          </p:cNvPr>
          <p:cNvSpPr txBox="1"/>
          <p:nvPr/>
        </p:nvSpPr>
        <p:spPr>
          <a:xfrm>
            <a:off x="4093535" y="86463"/>
            <a:ext cx="7591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Discussion</a:t>
            </a:r>
            <a:r>
              <a:rPr lang="en-US" sz="3600" dirty="0">
                <a:solidFill>
                  <a:schemeClr val="tx2"/>
                </a:solidFill>
              </a:rPr>
              <a:t>: Birddog’s Future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20254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4492</TotalTime>
  <Words>357</Words>
  <Application>Microsoft Macintosh PowerPoint</Application>
  <PresentationFormat>Widescreen</PresentationFormat>
  <Paragraphs>88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Gothic</vt:lpstr>
      <vt:lpstr>Courier New</vt:lpstr>
      <vt:lpstr>Wingdings 3</vt:lpstr>
      <vt:lpstr>Ion Boardroom</vt:lpstr>
      <vt:lpstr>Bird Dog Review</vt:lpstr>
      <vt:lpstr>Agenda</vt:lpstr>
      <vt:lpstr>Existing Administrator Workflow</vt:lpstr>
      <vt:lpstr>Birddog-Assisted Workflow</vt:lpstr>
      <vt:lpstr>Timeline / Origin Story</vt:lpstr>
      <vt:lpstr>Bird Dog Features</vt:lpstr>
      <vt:lpstr>Bird Dog Features</vt:lpstr>
      <vt:lpstr>Bird Dog Features</vt:lpstr>
      <vt:lpstr>Bird Dog Features</vt:lpstr>
      <vt:lpstr>Bird Dog Features</vt:lpstr>
      <vt:lpstr>Demo</vt:lpstr>
      <vt:lpstr>Tech Platform and Architecture</vt:lpstr>
      <vt:lpstr>Open-Source Code Repo</vt:lpstr>
      <vt:lpstr>Challenges and Limitations</vt:lpstr>
      <vt:lpstr>Possible Futures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Brandt</dc:creator>
  <cp:lastModifiedBy>Jon Brandt</cp:lastModifiedBy>
  <cp:revision>33</cp:revision>
  <dcterms:created xsi:type="dcterms:W3CDTF">2025-03-08T22:39:09Z</dcterms:created>
  <dcterms:modified xsi:type="dcterms:W3CDTF">2025-08-27T17:33:54Z</dcterms:modified>
</cp:coreProperties>
</file>