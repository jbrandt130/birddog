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0" r:id="rId2"/>
    <p:sldId id="298" r:id="rId3"/>
    <p:sldId id="307" r:id="rId4"/>
    <p:sldId id="292" r:id="rId5"/>
    <p:sldId id="258" r:id="rId6"/>
    <p:sldId id="259" r:id="rId7"/>
    <p:sldId id="260" r:id="rId8"/>
    <p:sldId id="281" r:id="rId9"/>
    <p:sldId id="293" r:id="rId10"/>
    <p:sldId id="269" r:id="rId11"/>
    <p:sldId id="302" r:id="rId12"/>
    <p:sldId id="266" r:id="rId13"/>
    <p:sldId id="297" r:id="rId14"/>
    <p:sldId id="308" r:id="rId15"/>
    <p:sldId id="300" r:id="rId16"/>
    <p:sldId id="303" r:id="rId17"/>
    <p:sldId id="304" r:id="rId18"/>
    <p:sldId id="305" r:id="rId19"/>
    <p:sldId id="306" r:id="rId20"/>
    <p:sldId id="299" r:id="rId21"/>
    <p:sldId id="262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7"/>
    <p:restoredTop sz="94375"/>
  </p:normalViewPr>
  <p:slideViewPr>
    <p:cSldViewPr snapToGrid="0">
      <p:cViewPr varScale="1">
        <p:scale>
          <a:sx n="149" d="100"/>
          <a:sy n="14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AE4FAE-FC00-4EB0-BC6F-242874B24A9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80D3DA-C2CF-4069-B4A0-E0829CCC7FC7}">
      <dgm:prSet/>
      <dgm:spPr/>
      <dgm:t>
        <a:bodyPr/>
        <a:lstStyle/>
        <a:p>
          <a:r>
            <a:rPr lang="en-US" dirty="0"/>
            <a:t>Low cost</a:t>
          </a:r>
        </a:p>
      </dgm:t>
    </dgm:pt>
    <dgm:pt modelId="{4E9EB7EA-C62F-44D4-88B9-49265617769D}" type="parTrans" cxnId="{00B84719-675D-48D2-8B4C-ECF5D48AE784}">
      <dgm:prSet/>
      <dgm:spPr/>
      <dgm:t>
        <a:bodyPr/>
        <a:lstStyle/>
        <a:p>
          <a:endParaRPr lang="en-US"/>
        </a:p>
      </dgm:t>
    </dgm:pt>
    <dgm:pt modelId="{0C426F35-3DF3-4E80-96F8-3F4767CF899F}" type="sibTrans" cxnId="{00B84719-675D-48D2-8B4C-ECF5D48AE784}">
      <dgm:prSet/>
      <dgm:spPr/>
      <dgm:t>
        <a:bodyPr/>
        <a:lstStyle/>
        <a:p>
          <a:endParaRPr lang="en-US"/>
        </a:p>
      </dgm:t>
    </dgm:pt>
    <dgm:pt modelId="{21FC33A9-E3AF-4E93-9AF4-DF60D1AE05B4}">
      <dgm:prSet/>
      <dgm:spPr/>
      <dgm:t>
        <a:bodyPr/>
        <a:lstStyle/>
        <a:p>
          <a:r>
            <a:rPr lang="en-US" dirty="0"/>
            <a:t>Multi-user</a:t>
          </a:r>
        </a:p>
      </dgm:t>
    </dgm:pt>
    <dgm:pt modelId="{3E6CBCB5-06A4-4524-BFAC-67FBC3375922}" type="parTrans" cxnId="{511A5D35-CCA2-4579-81AD-F8B22C2F025A}">
      <dgm:prSet/>
      <dgm:spPr/>
      <dgm:t>
        <a:bodyPr/>
        <a:lstStyle/>
        <a:p>
          <a:endParaRPr lang="en-US"/>
        </a:p>
      </dgm:t>
    </dgm:pt>
    <dgm:pt modelId="{A0BCBC19-F305-4261-AF6F-3D50FC547ECB}" type="sibTrans" cxnId="{511A5D35-CCA2-4579-81AD-F8B22C2F025A}">
      <dgm:prSet/>
      <dgm:spPr/>
      <dgm:t>
        <a:bodyPr/>
        <a:lstStyle/>
        <a:p>
          <a:endParaRPr lang="en-US"/>
        </a:p>
      </dgm:t>
    </dgm:pt>
    <dgm:pt modelId="{92A43039-45B7-4C28-A99B-EE92A796E56B}">
      <dgm:prSet/>
      <dgm:spPr/>
      <dgm:t>
        <a:bodyPr/>
        <a:lstStyle/>
        <a:p>
          <a:r>
            <a:rPr lang="en-US" dirty="0"/>
            <a:t>Easy learning curve</a:t>
          </a:r>
        </a:p>
      </dgm:t>
    </dgm:pt>
    <dgm:pt modelId="{2AEC10AC-FB3D-4657-A4DF-9A19B4B2885D}" type="parTrans" cxnId="{0AB144B9-0F7C-4A60-AB52-CEF7BDCEB6A8}">
      <dgm:prSet/>
      <dgm:spPr/>
      <dgm:t>
        <a:bodyPr/>
        <a:lstStyle/>
        <a:p>
          <a:endParaRPr lang="en-US"/>
        </a:p>
      </dgm:t>
    </dgm:pt>
    <dgm:pt modelId="{3EF49942-AB3F-4015-ACFC-219F7BAD8570}" type="sibTrans" cxnId="{0AB144B9-0F7C-4A60-AB52-CEF7BDCEB6A8}">
      <dgm:prSet/>
      <dgm:spPr/>
      <dgm:t>
        <a:bodyPr/>
        <a:lstStyle/>
        <a:p>
          <a:endParaRPr lang="en-US"/>
        </a:p>
      </dgm:t>
    </dgm:pt>
    <dgm:pt modelId="{8C8FF572-D483-428F-B9B8-61E2DC038557}">
      <dgm:prSet/>
      <dgm:spPr/>
      <dgm:t>
        <a:bodyPr/>
        <a:lstStyle/>
        <a:p>
          <a:r>
            <a:rPr lang="en-US" dirty="0"/>
            <a:t>Sufficient variety of views</a:t>
          </a:r>
        </a:p>
      </dgm:t>
    </dgm:pt>
    <dgm:pt modelId="{06774C9D-BB41-40F8-9ECF-9C4AD17538F7}" type="parTrans" cxnId="{6605566F-911D-4EBE-BBA0-09372905E8A1}">
      <dgm:prSet/>
      <dgm:spPr/>
      <dgm:t>
        <a:bodyPr/>
        <a:lstStyle/>
        <a:p>
          <a:endParaRPr lang="en-US"/>
        </a:p>
      </dgm:t>
    </dgm:pt>
    <dgm:pt modelId="{1C7E150B-7427-47A9-A11F-AA1095A6339A}" type="sibTrans" cxnId="{6605566F-911D-4EBE-BBA0-09372905E8A1}">
      <dgm:prSet/>
      <dgm:spPr/>
      <dgm:t>
        <a:bodyPr/>
        <a:lstStyle/>
        <a:p>
          <a:endParaRPr lang="en-US"/>
        </a:p>
      </dgm:t>
    </dgm:pt>
    <dgm:pt modelId="{2F9EF435-CF70-40B3-AC25-AE4D83A2CC10}">
      <dgm:prSet/>
      <dgm:spPr/>
      <dgm:t>
        <a:bodyPr/>
        <a:lstStyle/>
        <a:p>
          <a:r>
            <a:rPr lang="en-US" dirty="0"/>
            <a:t>Coexists with Birddog and Google Drive</a:t>
          </a:r>
        </a:p>
      </dgm:t>
    </dgm:pt>
    <dgm:pt modelId="{8CAEF53E-67B3-4155-9853-FF4342C2F313}" type="parTrans" cxnId="{5668782A-3463-43BA-8E09-9120D2122986}">
      <dgm:prSet/>
      <dgm:spPr/>
      <dgm:t>
        <a:bodyPr/>
        <a:lstStyle/>
        <a:p>
          <a:endParaRPr lang="en-US"/>
        </a:p>
      </dgm:t>
    </dgm:pt>
    <dgm:pt modelId="{5D963A10-DE60-4EB4-92FC-4B12A2CED81E}" type="sibTrans" cxnId="{5668782A-3463-43BA-8E09-9120D2122986}">
      <dgm:prSet/>
      <dgm:spPr/>
      <dgm:t>
        <a:bodyPr/>
        <a:lstStyle/>
        <a:p>
          <a:endParaRPr lang="en-US"/>
        </a:p>
      </dgm:t>
    </dgm:pt>
    <dgm:pt modelId="{89930480-602F-43DA-A996-8402CE3F75B0}">
      <dgm:prSet/>
      <dgm:spPr/>
      <dgm:t>
        <a:bodyPr/>
        <a:lstStyle/>
        <a:p>
          <a:r>
            <a:rPr lang="en-US" dirty="0"/>
            <a:t>Easily grow and transform with evolving needs</a:t>
          </a:r>
        </a:p>
      </dgm:t>
    </dgm:pt>
    <dgm:pt modelId="{E24DB92E-EAA1-4DC5-8C58-8B1275E10EC6}" type="parTrans" cxnId="{725E4CCC-14EC-4F97-B466-FB05965B2367}">
      <dgm:prSet/>
      <dgm:spPr/>
      <dgm:t>
        <a:bodyPr/>
        <a:lstStyle/>
        <a:p>
          <a:endParaRPr lang="en-US"/>
        </a:p>
      </dgm:t>
    </dgm:pt>
    <dgm:pt modelId="{21A3E326-CF37-42D4-9663-5E700DBA522F}" type="sibTrans" cxnId="{725E4CCC-14EC-4F97-B466-FB05965B2367}">
      <dgm:prSet/>
      <dgm:spPr/>
      <dgm:t>
        <a:bodyPr/>
        <a:lstStyle/>
        <a:p>
          <a:endParaRPr lang="en-US"/>
        </a:p>
      </dgm:t>
    </dgm:pt>
    <dgm:pt modelId="{E8234D1E-B433-4BA5-8CD7-BD0821C9F26F}">
      <dgm:prSet/>
      <dgm:spPr/>
      <dgm:t>
        <a:bodyPr/>
        <a:lstStyle/>
        <a:p>
          <a:r>
            <a:rPr lang="en-US" dirty="0"/>
            <a:t>No lock-in: possible to migrate out down the road</a:t>
          </a:r>
        </a:p>
      </dgm:t>
    </dgm:pt>
    <dgm:pt modelId="{97F15419-12A1-411D-8936-3BBF1C7E0262}" type="parTrans" cxnId="{5730C2FC-040D-412A-84D4-5342C75F5E91}">
      <dgm:prSet/>
      <dgm:spPr/>
      <dgm:t>
        <a:bodyPr/>
        <a:lstStyle/>
        <a:p>
          <a:endParaRPr lang="en-US"/>
        </a:p>
      </dgm:t>
    </dgm:pt>
    <dgm:pt modelId="{46BFB7FF-6D60-4F26-9945-9E07B65A4F51}" type="sibTrans" cxnId="{5730C2FC-040D-412A-84D4-5342C75F5E91}">
      <dgm:prSet/>
      <dgm:spPr/>
      <dgm:t>
        <a:bodyPr/>
        <a:lstStyle/>
        <a:p>
          <a:endParaRPr lang="en-US"/>
        </a:p>
      </dgm:t>
    </dgm:pt>
    <dgm:pt modelId="{3BF7A4A8-82F2-A04D-8B36-044290AA49A5}">
      <dgm:prSet/>
      <dgm:spPr/>
      <dgm:t>
        <a:bodyPr/>
        <a:lstStyle/>
        <a:p>
          <a:r>
            <a:rPr lang="en-US"/>
            <a:t>Role-based access rights</a:t>
          </a:r>
        </a:p>
      </dgm:t>
    </dgm:pt>
    <dgm:pt modelId="{EA6FA496-E93B-2A4F-A4A8-CF4C385DEDC0}" type="parTrans" cxnId="{1A71B790-6A34-EF49-AA12-1F1B119694CA}">
      <dgm:prSet/>
      <dgm:spPr/>
      <dgm:t>
        <a:bodyPr/>
        <a:lstStyle/>
        <a:p>
          <a:endParaRPr lang="en-US"/>
        </a:p>
      </dgm:t>
    </dgm:pt>
    <dgm:pt modelId="{58F33D3E-C6DE-0F4A-8168-4F7D9F982742}" type="sibTrans" cxnId="{1A71B790-6A34-EF49-AA12-1F1B119694CA}">
      <dgm:prSet/>
      <dgm:spPr/>
      <dgm:t>
        <a:bodyPr/>
        <a:lstStyle/>
        <a:p>
          <a:endParaRPr lang="en-US"/>
        </a:p>
      </dgm:t>
    </dgm:pt>
    <dgm:pt modelId="{7703F7B3-330C-CC4E-ABF1-737CA8A8DDEC}" type="pres">
      <dgm:prSet presAssocID="{7CAE4FAE-FC00-4EB0-BC6F-242874B24A95}" presName="linear" presStyleCnt="0">
        <dgm:presLayoutVars>
          <dgm:animLvl val="lvl"/>
          <dgm:resizeHandles val="exact"/>
        </dgm:presLayoutVars>
      </dgm:prSet>
      <dgm:spPr/>
    </dgm:pt>
    <dgm:pt modelId="{2D0374B0-C494-8440-88E8-67F4520527F7}" type="pres">
      <dgm:prSet presAssocID="{7580D3DA-C2CF-4069-B4A0-E0829CCC7FC7}" presName="parentText" presStyleLbl="node1" presStyleIdx="0" presStyleCnt="8" custLinFactNeighborX="-7537" custLinFactNeighborY="39295">
        <dgm:presLayoutVars>
          <dgm:chMax val="0"/>
          <dgm:bulletEnabled val="1"/>
        </dgm:presLayoutVars>
      </dgm:prSet>
      <dgm:spPr/>
    </dgm:pt>
    <dgm:pt modelId="{34DB7F71-8ABA-5847-AF0F-CF126F5C81CE}" type="pres">
      <dgm:prSet presAssocID="{0C426F35-3DF3-4E80-96F8-3F4767CF899F}" presName="spacer" presStyleCnt="0"/>
      <dgm:spPr/>
    </dgm:pt>
    <dgm:pt modelId="{55440235-5102-A647-B840-76A6FE265E04}" type="pres">
      <dgm:prSet presAssocID="{21FC33A9-E3AF-4E93-9AF4-DF60D1AE05B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5F5121A-E855-904D-8179-A16CF81DB522}" type="pres">
      <dgm:prSet presAssocID="{A0BCBC19-F305-4261-AF6F-3D50FC547ECB}" presName="spacer" presStyleCnt="0"/>
      <dgm:spPr/>
    </dgm:pt>
    <dgm:pt modelId="{1C5A1FC1-B56E-B145-B54D-AEEF9622FCE3}" type="pres">
      <dgm:prSet presAssocID="{3BF7A4A8-82F2-A04D-8B36-044290AA49A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70D8A40-265B-E546-B0EB-BEE04F2E1457}" type="pres">
      <dgm:prSet presAssocID="{58F33D3E-C6DE-0F4A-8168-4F7D9F982742}" presName="spacer" presStyleCnt="0"/>
      <dgm:spPr/>
    </dgm:pt>
    <dgm:pt modelId="{AA73FAE6-AE40-4C4D-88AE-FF84A0FE3827}" type="pres">
      <dgm:prSet presAssocID="{92A43039-45B7-4C28-A99B-EE92A796E56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6E98A9B-7F44-BB47-B9FB-AD4F054C4270}" type="pres">
      <dgm:prSet presAssocID="{3EF49942-AB3F-4015-ACFC-219F7BAD8570}" presName="spacer" presStyleCnt="0"/>
      <dgm:spPr/>
    </dgm:pt>
    <dgm:pt modelId="{EE834651-91CB-E64E-B23A-7A1D290C0E95}" type="pres">
      <dgm:prSet presAssocID="{8C8FF572-D483-428F-B9B8-61E2DC03855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9D3FA58-B6AE-434B-9923-0EAB8772A7A5}" type="pres">
      <dgm:prSet presAssocID="{1C7E150B-7427-47A9-A11F-AA1095A6339A}" presName="spacer" presStyleCnt="0"/>
      <dgm:spPr/>
    </dgm:pt>
    <dgm:pt modelId="{2A683C36-DC3E-CA4A-B5DC-2716D07CE74C}" type="pres">
      <dgm:prSet presAssocID="{2F9EF435-CF70-40B3-AC25-AE4D83A2CC1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F0226DD-A90C-FF45-A643-0A69B27EE73D}" type="pres">
      <dgm:prSet presAssocID="{5D963A10-DE60-4EB4-92FC-4B12A2CED81E}" presName="spacer" presStyleCnt="0"/>
      <dgm:spPr/>
    </dgm:pt>
    <dgm:pt modelId="{168DC006-0F42-0746-A1E3-AF42CDABAF9E}" type="pres">
      <dgm:prSet presAssocID="{89930480-602F-43DA-A996-8402CE3F75B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1A165DDE-690C-764F-96DC-018E59EE19E5}" type="pres">
      <dgm:prSet presAssocID="{21A3E326-CF37-42D4-9663-5E700DBA522F}" presName="spacer" presStyleCnt="0"/>
      <dgm:spPr/>
    </dgm:pt>
    <dgm:pt modelId="{EFF0323C-1D44-C34F-946F-B726C5F3CF14}" type="pres">
      <dgm:prSet presAssocID="{E8234D1E-B433-4BA5-8CD7-BD0821C9F26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1059110-CCB3-7748-BE62-CD767364EAB4}" type="presOf" srcId="{7CAE4FAE-FC00-4EB0-BC6F-242874B24A95}" destId="{7703F7B3-330C-CC4E-ABF1-737CA8A8DDEC}" srcOrd="0" destOrd="0" presId="urn:microsoft.com/office/officeart/2005/8/layout/vList2"/>
    <dgm:cxn modelId="{00B84719-675D-48D2-8B4C-ECF5D48AE784}" srcId="{7CAE4FAE-FC00-4EB0-BC6F-242874B24A95}" destId="{7580D3DA-C2CF-4069-B4A0-E0829CCC7FC7}" srcOrd="0" destOrd="0" parTransId="{4E9EB7EA-C62F-44D4-88B9-49265617769D}" sibTransId="{0C426F35-3DF3-4E80-96F8-3F4767CF899F}"/>
    <dgm:cxn modelId="{5668782A-3463-43BA-8E09-9120D2122986}" srcId="{7CAE4FAE-FC00-4EB0-BC6F-242874B24A95}" destId="{2F9EF435-CF70-40B3-AC25-AE4D83A2CC10}" srcOrd="5" destOrd="0" parTransId="{8CAEF53E-67B3-4155-9853-FF4342C2F313}" sibTransId="{5D963A10-DE60-4EB4-92FC-4B12A2CED81E}"/>
    <dgm:cxn modelId="{511A5D35-CCA2-4579-81AD-F8B22C2F025A}" srcId="{7CAE4FAE-FC00-4EB0-BC6F-242874B24A95}" destId="{21FC33A9-E3AF-4E93-9AF4-DF60D1AE05B4}" srcOrd="1" destOrd="0" parTransId="{3E6CBCB5-06A4-4524-BFAC-67FBC3375922}" sibTransId="{A0BCBC19-F305-4261-AF6F-3D50FC547ECB}"/>
    <dgm:cxn modelId="{002EFD52-D03C-0E4A-8525-7E51D4319F3E}" type="presOf" srcId="{2F9EF435-CF70-40B3-AC25-AE4D83A2CC10}" destId="{2A683C36-DC3E-CA4A-B5DC-2716D07CE74C}" srcOrd="0" destOrd="0" presId="urn:microsoft.com/office/officeart/2005/8/layout/vList2"/>
    <dgm:cxn modelId="{FA1DE065-9846-5746-B918-4BE81879B71A}" type="presOf" srcId="{8C8FF572-D483-428F-B9B8-61E2DC038557}" destId="{EE834651-91CB-E64E-B23A-7A1D290C0E95}" srcOrd="0" destOrd="0" presId="urn:microsoft.com/office/officeart/2005/8/layout/vList2"/>
    <dgm:cxn modelId="{C16F3467-8AFB-D049-BB30-550F9CDF8817}" type="presOf" srcId="{E8234D1E-B433-4BA5-8CD7-BD0821C9F26F}" destId="{EFF0323C-1D44-C34F-946F-B726C5F3CF14}" srcOrd="0" destOrd="0" presId="urn:microsoft.com/office/officeart/2005/8/layout/vList2"/>
    <dgm:cxn modelId="{6605566F-911D-4EBE-BBA0-09372905E8A1}" srcId="{7CAE4FAE-FC00-4EB0-BC6F-242874B24A95}" destId="{8C8FF572-D483-428F-B9B8-61E2DC038557}" srcOrd="4" destOrd="0" parTransId="{06774C9D-BB41-40F8-9ECF-9C4AD17538F7}" sibTransId="{1C7E150B-7427-47A9-A11F-AA1095A6339A}"/>
    <dgm:cxn modelId="{BA2D2473-D31E-154C-8D5C-8A2621698CA9}" type="presOf" srcId="{92A43039-45B7-4C28-A99B-EE92A796E56B}" destId="{AA73FAE6-AE40-4C4D-88AE-FF84A0FE3827}" srcOrd="0" destOrd="0" presId="urn:microsoft.com/office/officeart/2005/8/layout/vList2"/>
    <dgm:cxn modelId="{3DC47C81-40D1-AA40-92D0-0E5413853EF4}" type="presOf" srcId="{3BF7A4A8-82F2-A04D-8B36-044290AA49A5}" destId="{1C5A1FC1-B56E-B145-B54D-AEEF9622FCE3}" srcOrd="0" destOrd="0" presId="urn:microsoft.com/office/officeart/2005/8/layout/vList2"/>
    <dgm:cxn modelId="{1D3C3483-2213-6245-8F6A-4664CCA68585}" type="presOf" srcId="{7580D3DA-C2CF-4069-B4A0-E0829CCC7FC7}" destId="{2D0374B0-C494-8440-88E8-67F4520527F7}" srcOrd="0" destOrd="0" presId="urn:microsoft.com/office/officeart/2005/8/layout/vList2"/>
    <dgm:cxn modelId="{1A71B790-6A34-EF49-AA12-1F1B119694CA}" srcId="{7CAE4FAE-FC00-4EB0-BC6F-242874B24A95}" destId="{3BF7A4A8-82F2-A04D-8B36-044290AA49A5}" srcOrd="2" destOrd="0" parTransId="{EA6FA496-E93B-2A4F-A4A8-CF4C385DEDC0}" sibTransId="{58F33D3E-C6DE-0F4A-8168-4F7D9F982742}"/>
    <dgm:cxn modelId="{DD6011A4-289E-9147-9B76-45B8A42B1FE0}" type="presOf" srcId="{89930480-602F-43DA-A996-8402CE3F75B0}" destId="{168DC006-0F42-0746-A1E3-AF42CDABAF9E}" srcOrd="0" destOrd="0" presId="urn:microsoft.com/office/officeart/2005/8/layout/vList2"/>
    <dgm:cxn modelId="{0AB144B9-0F7C-4A60-AB52-CEF7BDCEB6A8}" srcId="{7CAE4FAE-FC00-4EB0-BC6F-242874B24A95}" destId="{92A43039-45B7-4C28-A99B-EE92A796E56B}" srcOrd="3" destOrd="0" parTransId="{2AEC10AC-FB3D-4657-A4DF-9A19B4B2885D}" sibTransId="{3EF49942-AB3F-4015-ACFC-219F7BAD8570}"/>
    <dgm:cxn modelId="{6B4BAFC0-E8D8-4546-BC94-D8B177B10D66}" type="presOf" srcId="{21FC33A9-E3AF-4E93-9AF4-DF60D1AE05B4}" destId="{55440235-5102-A647-B840-76A6FE265E04}" srcOrd="0" destOrd="0" presId="urn:microsoft.com/office/officeart/2005/8/layout/vList2"/>
    <dgm:cxn modelId="{725E4CCC-14EC-4F97-B466-FB05965B2367}" srcId="{7CAE4FAE-FC00-4EB0-BC6F-242874B24A95}" destId="{89930480-602F-43DA-A996-8402CE3F75B0}" srcOrd="6" destOrd="0" parTransId="{E24DB92E-EAA1-4DC5-8C58-8B1275E10EC6}" sibTransId="{21A3E326-CF37-42D4-9663-5E700DBA522F}"/>
    <dgm:cxn modelId="{5730C2FC-040D-412A-84D4-5342C75F5E91}" srcId="{7CAE4FAE-FC00-4EB0-BC6F-242874B24A95}" destId="{E8234D1E-B433-4BA5-8CD7-BD0821C9F26F}" srcOrd="7" destOrd="0" parTransId="{97F15419-12A1-411D-8936-3BBF1C7E0262}" sibTransId="{46BFB7FF-6D60-4F26-9945-9E07B65A4F51}"/>
    <dgm:cxn modelId="{EACAF32E-E803-9442-8635-A20905D28833}" type="presParOf" srcId="{7703F7B3-330C-CC4E-ABF1-737CA8A8DDEC}" destId="{2D0374B0-C494-8440-88E8-67F4520527F7}" srcOrd="0" destOrd="0" presId="urn:microsoft.com/office/officeart/2005/8/layout/vList2"/>
    <dgm:cxn modelId="{FFCEB70D-5010-AB40-94B7-C6059D4565D1}" type="presParOf" srcId="{7703F7B3-330C-CC4E-ABF1-737CA8A8DDEC}" destId="{34DB7F71-8ABA-5847-AF0F-CF126F5C81CE}" srcOrd="1" destOrd="0" presId="urn:microsoft.com/office/officeart/2005/8/layout/vList2"/>
    <dgm:cxn modelId="{BDAB5798-1E16-F348-82D9-AADC23F72119}" type="presParOf" srcId="{7703F7B3-330C-CC4E-ABF1-737CA8A8DDEC}" destId="{55440235-5102-A647-B840-76A6FE265E04}" srcOrd="2" destOrd="0" presId="urn:microsoft.com/office/officeart/2005/8/layout/vList2"/>
    <dgm:cxn modelId="{E6DE5857-AA66-614F-8E80-A68E303EBCEF}" type="presParOf" srcId="{7703F7B3-330C-CC4E-ABF1-737CA8A8DDEC}" destId="{15F5121A-E855-904D-8179-A16CF81DB522}" srcOrd="3" destOrd="0" presId="urn:microsoft.com/office/officeart/2005/8/layout/vList2"/>
    <dgm:cxn modelId="{1708E3AC-2619-A74D-98A0-4A3D3AD2C4C5}" type="presParOf" srcId="{7703F7B3-330C-CC4E-ABF1-737CA8A8DDEC}" destId="{1C5A1FC1-B56E-B145-B54D-AEEF9622FCE3}" srcOrd="4" destOrd="0" presId="urn:microsoft.com/office/officeart/2005/8/layout/vList2"/>
    <dgm:cxn modelId="{1C846379-4456-3C43-B447-5D54D5E2749E}" type="presParOf" srcId="{7703F7B3-330C-CC4E-ABF1-737CA8A8DDEC}" destId="{870D8A40-265B-E546-B0EB-BEE04F2E1457}" srcOrd="5" destOrd="0" presId="urn:microsoft.com/office/officeart/2005/8/layout/vList2"/>
    <dgm:cxn modelId="{8BFC62E3-46E7-604A-A1DB-4FAF78852A12}" type="presParOf" srcId="{7703F7B3-330C-CC4E-ABF1-737CA8A8DDEC}" destId="{AA73FAE6-AE40-4C4D-88AE-FF84A0FE3827}" srcOrd="6" destOrd="0" presId="urn:microsoft.com/office/officeart/2005/8/layout/vList2"/>
    <dgm:cxn modelId="{D620B113-9BDC-DD4F-B9F4-6EBE207DCE94}" type="presParOf" srcId="{7703F7B3-330C-CC4E-ABF1-737CA8A8DDEC}" destId="{66E98A9B-7F44-BB47-B9FB-AD4F054C4270}" srcOrd="7" destOrd="0" presId="urn:microsoft.com/office/officeart/2005/8/layout/vList2"/>
    <dgm:cxn modelId="{B4D15E26-DE68-D548-BE03-3E42B1706850}" type="presParOf" srcId="{7703F7B3-330C-CC4E-ABF1-737CA8A8DDEC}" destId="{EE834651-91CB-E64E-B23A-7A1D290C0E95}" srcOrd="8" destOrd="0" presId="urn:microsoft.com/office/officeart/2005/8/layout/vList2"/>
    <dgm:cxn modelId="{63BEBADE-B92A-6548-B67B-5BB6B00BFA3B}" type="presParOf" srcId="{7703F7B3-330C-CC4E-ABF1-737CA8A8DDEC}" destId="{09D3FA58-B6AE-434B-9923-0EAB8772A7A5}" srcOrd="9" destOrd="0" presId="urn:microsoft.com/office/officeart/2005/8/layout/vList2"/>
    <dgm:cxn modelId="{8B82B1CA-ED94-D44B-8EAC-445A447F9B71}" type="presParOf" srcId="{7703F7B3-330C-CC4E-ABF1-737CA8A8DDEC}" destId="{2A683C36-DC3E-CA4A-B5DC-2716D07CE74C}" srcOrd="10" destOrd="0" presId="urn:microsoft.com/office/officeart/2005/8/layout/vList2"/>
    <dgm:cxn modelId="{46798C3C-7FFE-C948-9F93-C9FA1A8661DF}" type="presParOf" srcId="{7703F7B3-330C-CC4E-ABF1-737CA8A8DDEC}" destId="{BF0226DD-A90C-FF45-A643-0A69B27EE73D}" srcOrd="11" destOrd="0" presId="urn:microsoft.com/office/officeart/2005/8/layout/vList2"/>
    <dgm:cxn modelId="{450EAE37-A604-2D4D-8DDB-7F5992350300}" type="presParOf" srcId="{7703F7B3-330C-CC4E-ABF1-737CA8A8DDEC}" destId="{168DC006-0F42-0746-A1E3-AF42CDABAF9E}" srcOrd="12" destOrd="0" presId="urn:microsoft.com/office/officeart/2005/8/layout/vList2"/>
    <dgm:cxn modelId="{32ED2CAF-F503-8148-BA43-A064DADC8B66}" type="presParOf" srcId="{7703F7B3-330C-CC4E-ABF1-737CA8A8DDEC}" destId="{1A165DDE-690C-764F-96DC-018E59EE19E5}" srcOrd="13" destOrd="0" presId="urn:microsoft.com/office/officeart/2005/8/layout/vList2"/>
    <dgm:cxn modelId="{D2AAD870-5692-7A4D-9C22-393AD909AA3D}" type="presParOf" srcId="{7703F7B3-330C-CC4E-ABF1-737CA8A8DDEC}" destId="{EFF0323C-1D44-C34F-946F-B726C5F3CF1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FE65A7-971E-42F3-8C14-B429C08F4B3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F9CF9-F242-4F06-9C3D-A80DFA9FA7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Validate the platform choice incrementally.</a:t>
          </a:r>
        </a:p>
      </dgm:t>
    </dgm:pt>
    <dgm:pt modelId="{46E75E4A-4B3F-4467-8D12-741DB192667D}" type="parTrans" cxnId="{2757682B-4010-4B96-A6CC-D0707FA08FE7}">
      <dgm:prSet/>
      <dgm:spPr/>
      <dgm:t>
        <a:bodyPr/>
        <a:lstStyle/>
        <a:p>
          <a:endParaRPr lang="en-US"/>
        </a:p>
      </dgm:t>
    </dgm:pt>
    <dgm:pt modelId="{C075A6D8-5C96-4843-9375-8DB327C2EEFF}" type="sibTrans" cxnId="{2757682B-4010-4B96-A6CC-D0707FA08FE7}">
      <dgm:prSet/>
      <dgm:spPr/>
      <dgm:t>
        <a:bodyPr/>
        <a:lstStyle/>
        <a:p>
          <a:endParaRPr lang="en-US"/>
        </a:p>
      </dgm:t>
    </dgm:pt>
    <dgm:pt modelId="{0D00CB84-D664-49C4-A02E-381924259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Information gathering from team(s)</a:t>
          </a:r>
        </a:p>
      </dgm:t>
    </dgm:pt>
    <dgm:pt modelId="{5C469E34-DECA-4BD8-87CF-1E125D141B38}" type="parTrans" cxnId="{4D3092CB-DC35-4551-A269-C684BF727965}">
      <dgm:prSet/>
      <dgm:spPr/>
      <dgm:t>
        <a:bodyPr/>
        <a:lstStyle/>
        <a:p>
          <a:endParaRPr lang="en-US"/>
        </a:p>
      </dgm:t>
    </dgm:pt>
    <dgm:pt modelId="{DE576032-F961-44EA-839B-3D23800095C4}" type="sibTrans" cxnId="{4D3092CB-DC35-4551-A269-C684BF727965}">
      <dgm:prSet/>
      <dgm:spPr/>
      <dgm:t>
        <a:bodyPr/>
        <a:lstStyle/>
        <a:p>
          <a:endParaRPr lang="en-US"/>
        </a:p>
      </dgm:t>
    </dgm:pt>
    <dgm:pt modelId="{D289C1B0-5328-4C8C-864B-33120B663E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Birddog integration experiments</a:t>
          </a:r>
        </a:p>
      </dgm:t>
    </dgm:pt>
    <dgm:pt modelId="{DA84B1BC-DE01-4EB9-85FC-4E065AA64364}" type="parTrans" cxnId="{D2F728CD-F279-4CB1-8DD0-407C4CC395C1}">
      <dgm:prSet/>
      <dgm:spPr/>
      <dgm:t>
        <a:bodyPr/>
        <a:lstStyle/>
        <a:p>
          <a:endParaRPr lang="en-US"/>
        </a:p>
      </dgm:t>
    </dgm:pt>
    <dgm:pt modelId="{E6174B7B-502D-41C5-8DD3-DF57C09B6D48}" type="sibTrans" cxnId="{D2F728CD-F279-4CB1-8DD0-407C4CC395C1}">
      <dgm:prSet/>
      <dgm:spPr/>
      <dgm:t>
        <a:bodyPr/>
        <a:lstStyle/>
        <a:p>
          <a:endParaRPr lang="en-US"/>
        </a:p>
      </dgm:t>
    </dgm:pt>
    <dgm:pt modelId="{58CC9691-ECBE-4A2A-9F8A-5BA592C623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and flesh out roles and views</a:t>
          </a:r>
        </a:p>
      </dgm:t>
    </dgm:pt>
    <dgm:pt modelId="{14391992-0B63-4F49-B176-25080A11C236}" type="parTrans" cxnId="{2C97B7DD-60BA-4B60-A3F5-4F23CDC59424}">
      <dgm:prSet/>
      <dgm:spPr/>
      <dgm:t>
        <a:bodyPr/>
        <a:lstStyle/>
        <a:p>
          <a:endParaRPr lang="en-US"/>
        </a:p>
      </dgm:t>
    </dgm:pt>
    <dgm:pt modelId="{6EB5362F-4C23-4282-A03E-D76486D7208E}" type="sibTrans" cxnId="{2C97B7DD-60BA-4B60-A3F5-4F23CDC59424}">
      <dgm:prSet/>
      <dgm:spPr/>
      <dgm:t>
        <a:bodyPr/>
        <a:lstStyle/>
        <a:p>
          <a:endParaRPr lang="en-US"/>
        </a:p>
      </dgm:t>
    </dgm:pt>
    <dgm:pt modelId="{E0476BD6-4BF0-46B5-8549-EC132BB86A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Develop in parallel with ongoing Google Drive-based workflows.</a:t>
          </a:r>
        </a:p>
      </dgm:t>
    </dgm:pt>
    <dgm:pt modelId="{BD2FD5E6-8D9B-4CD7-8C9A-0C90AC393D2B}" type="parTrans" cxnId="{492BF80F-3183-4083-BAC2-D2098B560FF3}">
      <dgm:prSet/>
      <dgm:spPr/>
      <dgm:t>
        <a:bodyPr/>
        <a:lstStyle/>
        <a:p>
          <a:endParaRPr lang="en-US"/>
        </a:p>
      </dgm:t>
    </dgm:pt>
    <dgm:pt modelId="{02AE263F-4BCA-4351-8AF5-4D3BBECEC255}" type="sibTrans" cxnId="{492BF80F-3183-4083-BAC2-D2098B560FF3}">
      <dgm:prSet/>
      <dgm:spPr/>
      <dgm:t>
        <a:bodyPr/>
        <a:lstStyle/>
        <a:p>
          <a:endParaRPr lang="en-US"/>
        </a:p>
      </dgm:t>
    </dgm:pt>
    <dgm:pt modelId="{F86973ED-ACBD-42EC-863B-AE43A30E67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Transition when we’re ready.</a:t>
          </a:r>
        </a:p>
      </dgm:t>
    </dgm:pt>
    <dgm:pt modelId="{93D4A2C1-070C-452D-BC82-F5ED9D0C41C5}" type="parTrans" cxnId="{F005654D-5DBB-470C-BBDC-4AEFB7766083}">
      <dgm:prSet/>
      <dgm:spPr/>
      <dgm:t>
        <a:bodyPr/>
        <a:lstStyle/>
        <a:p>
          <a:endParaRPr lang="en-US"/>
        </a:p>
      </dgm:t>
    </dgm:pt>
    <dgm:pt modelId="{FB57CFEB-0D66-43F5-945E-702B89802DC3}" type="sibTrans" cxnId="{F005654D-5DBB-470C-BBDC-4AEFB7766083}">
      <dgm:prSet/>
      <dgm:spPr/>
      <dgm:t>
        <a:bodyPr/>
        <a:lstStyle/>
        <a:p>
          <a:endParaRPr lang="en-US"/>
        </a:p>
      </dgm:t>
    </dgm:pt>
    <dgm:pt modelId="{92AD0AD7-BFE6-4C04-9C30-E7B7E5AF56D3}" type="pres">
      <dgm:prSet presAssocID="{31FE65A7-971E-42F3-8C14-B429C08F4B3B}" presName="root" presStyleCnt="0">
        <dgm:presLayoutVars>
          <dgm:dir/>
          <dgm:resizeHandles val="exact"/>
        </dgm:presLayoutVars>
      </dgm:prSet>
      <dgm:spPr/>
    </dgm:pt>
    <dgm:pt modelId="{990087F0-9FEE-4F1F-843E-2645BDDA617F}" type="pres">
      <dgm:prSet presAssocID="{464F9CF9-F242-4F06-9C3D-A80DFA9FA79A}" presName="compNode" presStyleCnt="0"/>
      <dgm:spPr/>
    </dgm:pt>
    <dgm:pt modelId="{04E159F2-8CF6-489F-ADA6-D0DFD7FEB09B}" type="pres">
      <dgm:prSet presAssocID="{464F9CF9-F242-4F06-9C3D-A80DFA9FA79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39DFB78B-F320-4DCB-A6D8-A761CAC7F0ED}" type="pres">
      <dgm:prSet presAssocID="{464F9CF9-F242-4F06-9C3D-A80DFA9FA79A}" presName="iconSpace" presStyleCnt="0"/>
      <dgm:spPr/>
    </dgm:pt>
    <dgm:pt modelId="{9173C4B8-825C-4EBD-B77F-50FE3A4E585E}" type="pres">
      <dgm:prSet presAssocID="{464F9CF9-F242-4F06-9C3D-A80DFA9FA79A}" presName="parTx" presStyleLbl="revTx" presStyleIdx="0" presStyleCnt="6">
        <dgm:presLayoutVars>
          <dgm:chMax val="0"/>
          <dgm:chPref val="0"/>
        </dgm:presLayoutVars>
      </dgm:prSet>
      <dgm:spPr/>
    </dgm:pt>
    <dgm:pt modelId="{44295DD2-1D2D-44CD-883F-0BA579E94692}" type="pres">
      <dgm:prSet presAssocID="{464F9CF9-F242-4F06-9C3D-A80DFA9FA79A}" presName="txSpace" presStyleCnt="0"/>
      <dgm:spPr/>
    </dgm:pt>
    <dgm:pt modelId="{397AA66B-5AD9-4FAD-84E3-1B8463411C25}" type="pres">
      <dgm:prSet presAssocID="{464F9CF9-F242-4F06-9C3D-A80DFA9FA79A}" presName="desTx" presStyleLbl="revTx" presStyleIdx="1" presStyleCnt="6">
        <dgm:presLayoutVars/>
      </dgm:prSet>
      <dgm:spPr/>
    </dgm:pt>
    <dgm:pt modelId="{744717E4-5FAA-4A1F-9D82-45276507FB69}" type="pres">
      <dgm:prSet presAssocID="{C075A6D8-5C96-4843-9375-8DB327C2EEFF}" presName="sibTrans" presStyleCnt="0"/>
      <dgm:spPr/>
    </dgm:pt>
    <dgm:pt modelId="{B4B7F62B-0F65-4801-B4D6-040182F33D82}" type="pres">
      <dgm:prSet presAssocID="{E0476BD6-4BF0-46B5-8549-EC132BB86A0D}" presName="compNode" presStyleCnt="0"/>
      <dgm:spPr/>
    </dgm:pt>
    <dgm:pt modelId="{58880F47-E6BC-44B3-8A1B-5637FC8FB6B6}" type="pres">
      <dgm:prSet presAssocID="{E0476BD6-4BF0-46B5-8549-EC132BB86A0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C8C9F4-DAE1-4819-A1EC-1C4DCA3837D8}" type="pres">
      <dgm:prSet presAssocID="{E0476BD6-4BF0-46B5-8549-EC132BB86A0D}" presName="iconSpace" presStyleCnt="0"/>
      <dgm:spPr/>
    </dgm:pt>
    <dgm:pt modelId="{6AE415BC-0F60-4B01-9D4C-56BD08C71CF1}" type="pres">
      <dgm:prSet presAssocID="{E0476BD6-4BF0-46B5-8549-EC132BB86A0D}" presName="parTx" presStyleLbl="revTx" presStyleIdx="2" presStyleCnt="6">
        <dgm:presLayoutVars>
          <dgm:chMax val="0"/>
          <dgm:chPref val="0"/>
        </dgm:presLayoutVars>
      </dgm:prSet>
      <dgm:spPr/>
    </dgm:pt>
    <dgm:pt modelId="{4245C156-79BE-481F-AE52-6E37628DCDE8}" type="pres">
      <dgm:prSet presAssocID="{E0476BD6-4BF0-46B5-8549-EC132BB86A0D}" presName="txSpace" presStyleCnt="0"/>
      <dgm:spPr/>
    </dgm:pt>
    <dgm:pt modelId="{F900913E-19F8-4ED5-A394-03F039018FD9}" type="pres">
      <dgm:prSet presAssocID="{E0476BD6-4BF0-46B5-8549-EC132BB86A0D}" presName="desTx" presStyleLbl="revTx" presStyleIdx="3" presStyleCnt="6">
        <dgm:presLayoutVars/>
      </dgm:prSet>
      <dgm:spPr/>
    </dgm:pt>
    <dgm:pt modelId="{22F455E3-C1B7-4E5A-A7DE-691041E1D36A}" type="pres">
      <dgm:prSet presAssocID="{02AE263F-4BCA-4351-8AF5-4D3BBECEC255}" presName="sibTrans" presStyleCnt="0"/>
      <dgm:spPr/>
    </dgm:pt>
    <dgm:pt modelId="{4EA744B6-B0BD-4AFF-8B7A-CF524B3A0C29}" type="pres">
      <dgm:prSet presAssocID="{F86973ED-ACBD-42EC-863B-AE43A30E67F0}" presName="compNode" presStyleCnt="0"/>
      <dgm:spPr/>
    </dgm:pt>
    <dgm:pt modelId="{664DF7AD-8B67-4159-AB86-144C59B9448B}" type="pres">
      <dgm:prSet presAssocID="{F86973ED-ACBD-42EC-863B-AE43A30E67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4E73144-33D1-4AA3-BF7E-DAA696EA6B56}" type="pres">
      <dgm:prSet presAssocID="{F86973ED-ACBD-42EC-863B-AE43A30E67F0}" presName="iconSpace" presStyleCnt="0"/>
      <dgm:spPr/>
    </dgm:pt>
    <dgm:pt modelId="{5542BC11-AD73-4F04-8F19-9EF68BA72DC2}" type="pres">
      <dgm:prSet presAssocID="{F86973ED-ACBD-42EC-863B-AE43A30E67F0}" presName="parTx" presStyleLbl="revTx" presStyleIdx="4" presStyleCnt="6">
        <dgm:presLayoutVars>
          <dgm:chMax val="0"/>
          <dgm:chPref val="0"/>
        </dgm:presLayoutVars>
      </dgm:prSet>
      <dgm:spPr/>
    </dgm:pt>
    <dgm:pt modelId="{916A3AC9-7CEF-4916-8954-6F751FE38F6A}" type="pres">
      <dgm:prSet presAssocID="{F86973ED-ACBD-42EC-863B-AE43A30E67F0}" presName="txSpace" presStyleCnt="0"/>
      <dgm:spPr/>
    </dgm:pt>
    <dgm:pt modelId="{2FDCAC75-18FA-48CB-A90E-703C0C3C90BB}" type="pres">
      <dgm:prSet presAssocID="{F86973ED-ACBD-42EC-863B-AE43A30E67F0}" presName="desTx" presStyleLbl="revTx" presStyleIdx="5" presStyleCnt="6">
        <dgm:presLayoutVars/>
      </dgm:prSet>
      <dgm:spPr/>
    </dgm:pt>
  </dgm:ptLst>
  <dgm:cxnLst>
    <dgm:cxn modelId="{B7BE4808-BE7A-4086-848B-CCBDC1F19049}" type="presOf" srcId="{F86973ED-ACBD-42EC-863B-AE43A30E67F0}" destId="{5542BC11-AD73-4F04-8F19-9EF68BA72DC2}" srcOrd="0" destOrd="0" presId="urn:microsoft.com/office/officeart/2018/5/layout/CenteredIconLabelDescriptionList"/>
    <dgm:cxn modelId="{492BF80F-3183-4083-BAC2-D2098B560FF3}" srcId="{31FE65A7-971E-42F3-8C14-B429C08F4B3B}" destId="{E0476BD6-4BF0-46B5-8549-EC132BB86A0D}" srcOrd="1" destOrd="0" parTransId="{BD2FD5E6-8D9B-4CD7-8C9A-0C90AC393D2B}" sibTransId="{02AE263F-4BCA-4351-8AF5-4D3BBECEC255}"/>
    <dgm:cxn modelId="{42F48D1D-7420-4995-902D-40E78370993F}" type="presOf" srcId="{464F9CF9-F242-4F06-9C3D-A80DFA9FA79A}" destId="{9173C4B8-825C-4EBD-B77F-50FE3A4E585E}" srcOrd="0" destOrd="0" presId="urn:microsoft.com/office/officeart/2018/5/layout/CenteredIconLabelDescriptionList"/>
    <dgm:cxn modelId="{0B01CF22-2806-4D78-900B-B835757F9B47}" type="presOf" srcId="{E0476BD6-4BF0-46B5-8549-EC132BB86A0D}" destId="{6AE415BC-0F60-4B01-9D4C-56BD08C71CF1}" srcOrd="0" destOrd="0" presId="urn:microsoft.com/office/officeart/2018/5/layout/CenteredIconLabelDescriptionList"/>
    <dgm:cxn modelId="{2757682B-4010-4B96-A6CC-D0707FA08FE7}" srcId="{31FE65A7-971E-42F3-8C14-B429C08F4B3B}" destId="{464F9CF9-F242-4F06-9C3D-A80DFA9FA79A}" srcOrd="0" destOrd="0" parTransId="{46E75E4A-4B3F-4467-8D12-741DB192667D}" sibTransId="{C075A6D8-5C96-4843-9375-8DB327C2EEFF}"/>
    <dgm:cxn modelId="{F005654D-5DBB-470C-BBDC-4AEFB7766083}" srcId="{31FE65A7-971E-42F3-8C14-B429C08F4B3B}" destId="{F86973ED-ACBD-42EC-863B-AE43A30E67F0}" srcOrd="2" destOrd="0" parTransId="{93D4A2C1-070C-452D-BC82-F5ED9D0C41C5}" sibTransId="{FB57CFEB-0D66-43F5-945E-702B89802DC3}"/>
    <dgm:cxn modelId="{C680A371-D335-4DB1-9998-D76CC96DEAE9}" type="presOf" srcId="{0D00CB84-D664-49C4-A02E-381924259233}" destId="{397AA66B-5AD9-4FAD-84E3-1B8463411C25}" srcOrd="0" destOrd="0" presId="urn:microsoft.com/office/officeart/2018/5/layout/CenteredIconLabelDescriptionList"/>
    <dgm:cxn modelId="{4D3092CB-DC35-4551-A269-C684BF727965}" srcId="{464F9CF9-F242-4F06-9C3D-A80DFA9FA79A}" destId="{0D00CB84-D664-49C4-A02E-381924259233}" srcOrd="0" destOrd="0" parTransId="{5C469E34-DECA-4BD8-87CF-1E125D141B38}" sibTransId="{DE576032-F961-44EA-839B-3D23800095C4}"/>
    <dgm:cxn modelId="{D2F728CD-F279-4CB1-8DD0-407C4CC395C1}" srcId="{464F9CF9-F242-4F06-9C3D-A80DFA9FA79A}" destId="{D289C1B0-5328-4C8C-864B-33120B663E43}" srcOrd="1" destOrd="0" parTransId="{DA84B1BC-DE01-4EB9-85FC-4E065AA64364}" sibTransId="{E6174B7B-502D-41C5-8DD3-DF57C09B6D48}"/>
    <dgm:cxn modelId="{2F4762CF-60AD-4348-A6DE-19B135E8396F}" type="presOf" srcId="{58CC9691-ECBE-4A2A-9F8A-5BA592C6237C}" destId="{397AA66B-5AD9-4FAD-84E3-1B8463411C25}" srcOrd="0" destOrd="2" presId="urn:microsoft.com/office/officeart/2018/5/layout/CenteredIconLabelDescriptionList"/>
    <dgm:cxn modelId="{2C97B7DD-60BA-4B60-A3F5-4F23CDC59424}" srcId="{464F9CF9-F242-4F06-9C3D-A80DFA9FA79A}" destId="{58CC9691-ECBE-4A2A-9F8A-5BA592C6237C}" srcOrd="2" destOrd="0" parTransId="{14391992-0B63-4F49-B176-25080A11C236}" sibTransId="{6EB5362F-4C23-4282-A03E-D76486D7208E}"/>
    <dgm:cxn modelId="{ED4F51F2-B0D7-47F2-933C-1F3827948502}" type="presOf" srcId="{D289C1B0-5328-4C8C-864B-33120B663E43}" destId="{397AA66B-5AD9-4FAD-84E3-1B8463411C25}" srcOrd="0" destOrd="1" presId="urn:microsoft.com/office/officeart/2018/5/layout/CenteredIconLabelDescriptionList"/>
    <dgm:cxn modelId="{93E36DF4-5B8F-40E7-BA5B-8ED82C750A2A}" type="presOf" srcId="{31FE65A7-971E-42F3-8C14-B429C08F4B3B}" destId="{92AD0AD7-BFE6-4C04-9C30-E7B7E5AF56D3}" srcOrd="0" destOrd="0" presId="urn:microsoft.com/office/officeart/2018/5/layout/CenteredIconLabelDescriptionList"/>
    <dgm:cxn modelId="{05BB96EA-282F-45D5-8625-4B191A796F8E}" type="presParOf" srcId="{92AD0AD7-BFE6-4C04-9C30-E7B7E5AF56D3}" destId="{990087F0-9FEE-4F1F-843E-2645BDDA617F}" srcOrd="0" destOrd="0" presId="urn:microsoft.com/office/officeart/2018/5/layout/CenteredIconLabelDescriptionList"/>
    <dgm:cxn modelId="{0E431E02-4AD4-46E2-8D96-24923758C0D7}" type="presParOf" srcId="{990087F0-9FEE-4F1F-843E-2645BDDA617F}" destId="{04E159F2-8CF6-489F-ADA6-D0DFD7FEB09B}" srcOrd="0" destOrd="0" presId="urn:microsoft.com/office/officeart/2018/5/layout/CenteredIconLabelDescriptionList"/>
    <dgm:cxn modelId="{4CBF9B95-CA51-4379-AC95-71A7E4971E34}" type="presParOf" srcId="{990087F0-9FEE-4F1F-843E-2645BDDA617F}" destId="{39DFB78B-F320-4DCB-A6D8-A761CAC7F0ED}" srcOrd="1" destOrd="0" presId="urn:microsoft.com/office/officeart/2018/5/layout/CenteredIconLabelDescriptionList"/>
    <dgm:cxn modelId="{57565D61-9EC7-46FF-A05F-479B5BA85F8C}" type="presParOf" srcId="{990087F0-9FEE-4F1F-843E-2645BDDA617F}" destId="{9173C4B8-825C-4EBD-B77F-50FE3A4E585E}" srcOrd="2" destOrd="0" presId="urn:microsoft.com/office/officeart/2018/5/layout/CenteredIconLabelDescriptionList"/>
    <dgm:cxn modelId="{FB53AD95-B979-43A5-BD33-E3D7ECE00CC6}" type="presParOf" srcId="{990087F0-9FEE-4F1F-843E-2645BDDA617F}" destId="{44295DD2-1D2D-44CD-883F-0BA579E94692}" srcOrd="3" destOrd="0" presId="urn:microsoft.com/office/officeart/2018/5/layout/CenteredIconLabelDescriptionList"/>
    <dgm:cxn modelId="{9BF0FBF3-8096-430E-8666-7DA137892D34}" type="presParOf" srcId="{990087F0-9FEE-4F1F-843E-2645BDDA617F}" destId="{397AA66B-5AD9-4FAD-84E3-1B8463411C25}" srcOrd="4" destOrd="0" presId="urn:microsoft.com/office/officeart/2018/5/layout/CenteredIconLabelDescriptionList"/>
    <dgm:cxn modelId="{FF1F4E01-5B36-4535-8B6B-0FE9A0C826CA}" type="presParOf" srcId="{92AD0AD7-BFE6-4C04-9C30-E7B7E5AF56D3}" destId="{744717E4-5FAA-4A1F-9D82-45276507FB69}" srcOrd="1" destOrd="0" presId="urn:microsoft.com/office/officeart/2018/5/layout/CenteredIconLabelDescriptionList"/>
    <dgm:cxn modelId="{F344D56C-FEE0-4C59-BCC5-3EE6600BC980}" type="presParOf" srcId="{92AD0AD7-BFE6-4C04-9C30-E7B7E5AF56D3}" destId="{B4B7F62B-0F65-4801-B4D6-040182F33D82}" srcOrd="2" destOrd="0" presId="urn:microsoft.com/office/officeart/2018/5/layout/CenteredIconLabelDescriptionList"/>
    <dgm:cxn modelId="{04BA48C3-937C-4F5C-B507-0D0368179646}" type="presParOf" srcId="{B4B7F62B-0F65-4801-B4D6-040182F33D82}" destId="{58880F47-E6BC-44B3-8A1B-5637FC8FB6B6}" srcOrd="0" destOrd="0" presId="urn:microsoft.com/office/officeart/2018/5/layout/CenteredIconLabelDescriptionList"/>
    <dgm:cxn modelId="{FDEFD19B-437F-412B-91F4-BC0872106F5B}" type="presParOf" srcId="{B4B7F62B-0F65-4801-B4D6-040182F33D82}" destId="{C2C8C9F4-DAE1-4819-A1EC-1C4DCA3837D8}" srcOrd="1" destOrd="0" presId="urn:microsoft.com/office/officeart/2018/5/layout/CenteredIconLabelDescriptionList"/>
    <dgm:cxn modelId="{7F42CBE3-9FF1-4DB8-AA01-F1D690845D61}" type="presParOf" srcId="{B4B7F62B-0F65-4801-B4D6-040182F33D82}" destId="{6AE415BC-0F60-4B01-9D4C-56BD08C71CF1}" srcOrd="2" destOrd="0" presId="urn:microsoft.com/office/officeart/2018/5/layout/CenteredIconLabelDescriptionList"/>
    <dgm:cxn modelId="{799D30F9-D064-4642-9576-051DE90F3287}" type="presParOf" srcId="{B4B7F62B-0F65-4801-B4D6-040182F33D82}" destId="{4245C156-79BE-481F-AE52-6E37628DCDE8}" srcOrd="3" destOrd="0" presId="urn:microsoft.com/office/officeart/2018/5/layout/CenteredIconLabelDescriptionList"/>
    <dgm:cxn modelId="{DCE35D6A-886A-4A80-81EC-A20CA6CBB500}" type="presParOf" srcId="{B4B7F62B-0F65-4801-B4D6-040182F33D82}" destId="{F900913E-19F8-4ED5-A394-03F039018FD9}" srcOrd="4" destOrd="0" presId="urn:microsoft.com/office/officeart/2018/5/layout/CenteredIconLabelDescriptionList"/>
    <dgm:cxn modelId="{3A29074F-244A-47C8-A81B-84B9A6B12A7F}" type="presParOf" srcId="{92AD0AD7-BFE6-4C04-9C30-E7B7E5AF56D3}" destId="{22F455E3-C1B7-4E5A-A7DE-691041E1D36A}" srcOrd="3" destOrd="0" presId="urn:microsoft.com/office/officeart/2018/5/layout/CenteredIconLabelDescriptionList"/>
    <dgm:cxn modelId="{4A975AF6-5396-4DDC-B6BB-BCFA862124B6}" type="presParOf" srcId="{92AD0AD7-BFE6-4C04-9C30-E7B7E5AF56D3}" destId="{4EA744B6-B0BD-4AFF-8B7A-CF524B3A0C29}" srcOrd="4" destOrd="0" presId="urn:microsoft.com/office/officeart/2018/5/layout/CenteredIconLabelDescriptionList"/>
    <dgm:cxn modelId="{1F3D40C2-9A21-4FD1-BE91-D055CDEC1A96}" type="presParOf" srcId="{4EA744B6-B0BD-4AFF-8B7A-CF524B3A0C29}" destId="{664DF7AD-8B67-4159-AB86-144C59B9448B}" srcOrd="0" destOrd="0" presId="urn:microsoft.com/office/officeart/2018/5/layout/CenteredIconLabelDescriptionList"/>
    <dgm:cxn modelId="{AB36EFC3-836F-46F4-87A2-B3D427E21274}" type="presParOf" srcId="{4EA744B6-B0BD-4AFF-8B7A-CF524B3A0C29}" destId="{E4E73144-33D1-4AA3-BF7E-DAA696EA6B56}" srcOrd="1" destOrd="0" presId="urn:microsoft.com/office/officeart/2018/5/layout/CenteredIconLabelDescriptionList"/>
    <dgm:cxn modelId="{8B5DD262-ADF5-425E-884D-DB05C9A355C0}" type="presParOf" srcId="{4EA744B6-B0BD-4AFF-8B7A-CF524B3A0C29}" destId="{5542BC11-AD73-4F04-8F19-9EF68BA72DC2}" srcOrd="2" destOrd="0" presId="urn:microsoft.com/office/officeart/2018/5/layout/CenteredIconLabelDescriptionList"/>
    <dgm:cxn modelId="{820AD1A4-FFC3-42E2-A48B-44E53D65959C}" type="presParOf" srcId="{4EA744B6-B0BD-4AFF-8B7A-CF524B3A0C29}" destId="{916A3AC9-7CEF-4916-8954-6F751FE38F6A}" srcOrd="3" destOrd="0" presId="urn:microsoft.com/office/officeart/2018/5/layout/CenteredIconLabelDescriptionList"/>
    <dgm:cxn modelId="{696C258E-7569-441C-A8A3-0D7085C43BE9}" type="presParOf" srcId="{4EA744B6-B0BD-4AFF-8B7A-CF524B3A0C29}" destId="{2FDCAC75-18FA-48CB-A90E-703C0C3C90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74B0-C494-8440-88E8-67F4520527F7}">
      <dsp:nvSpPr>
        <dsp:cNvPr id="0" name=""/>
        <dsp:cNvSpPr/>
      </dsp:nvSpPr>
      <dsp:spPr>
        <a:xfrm>
          <a:off x="0" y="26070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Low cost</a:t>
          </a:r>
        </a:p>
      </dsp:txBody>
      <dsp:txXfrm>
        <a:off x="27586" y="288295"/>
        <a:ext cx="6611661" cy="509938"/>
      </dsp:txXfrm>
    </dsp:sp>
    <dsp:sp modelId="{55440235-5102-A647-B840-76A6FE265E04}">
      <dsp:nvSpPr>
        <dsp:cNvPr id="0" name=""/>
        <dsp:cNvSpPr/>
      </dsp:nvSpPr>
      <dsp:spPr>
        <a:xfrm>
          <a:off x="0" y="8660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Multi-user</a:t>
          </a:r>
        </a:p>
      </dsp:txBody>
      <dsp:txXfrm>
        <a:off x="27586" y="893615"/>
        <a:ext cx="6611661" cy="509938"/>
      </dsp:txXfrm>
    </dsp:sp>
    <dsp:sp modelId="{1C5A1FC1-B56E-B145-B54D-AEEF9622FCE3}">
      <dsp:nvSpPr>
        <dsp:cNvPr id="0" name=""/>
        <dsp:cNvSpPr/>
      </dsp:nvSpPr>
      <dsp:spPr>
        <a:xfrm>
          <a:off x="0" y="14973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Role-based access rights</a:t>
          </a:r>
        </a:p>
      </dsp:txBody>
      <dsp:txXfrm>
        <a:off x="27586" y="1524965"/>
        <a:ext cx="6611661" cy="509938"/>
      </dsp:txXfrm>
    </dsp:sp>
    <dsp:sp modelId="{AA73FAE6-AE40-4C4D-88AE-FF84A0FE3827}">
      <dsp:nvSpPr>
        <dsp:cNvPr id="0" name=""/>
        <dsp:cNvSpPr/>
      </dsp:nvSpPr>
      <dsp:spPr>
        <a:xfrm>
          <a:off x="0" y="21287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Easy learning curve</a:t>
          </a:r>
        </a:p>
      </dsp:txBody>
      <dsp:txXfrm>
        <a:off x="27586" y="2156315"/>
        <a:ext cx="6611661" cy="509938"/>
      </dsp:txXfrm>
    </dsp:sp>
    <dsp:sp modelId="{EE834651-91CB-E64E-B23A-7A1D290C0E95}">
      <dsp:nvSpPr>
        <dsp:cNvPr id="0" name=""/>
        <dsp:cNvSpPr/>
      </dsp:nvSpPr>
      <dsp:spPr>
        <a:xfrm>
          <a:off x="0" y="27600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Sufficient variety of views</a:t>
          </a:r>
        </a:p>
      </dsp:txBody>
      <dsp:txXfrm>
        <a:off x="27586" y="2787665"/>
        <a:ext cx="6611661" cy="509938"/>
      </dsp:txXfrm>
    </dsp:sp>
    <dsp:sp modelId="{2A683C36-DC3E-CA4A-B5DC-2716D07CE74C}">
      <dsp:nvSpPr>
        <dsp:cNvPr id="0" name=""/>
        <dsp:cNvSpPr/>
      </dsp:nvSpPr>
      <dsp:spPr>
        <a:xfrm>
          <a:off x="0" y="33914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Coexists with Birddog and Google Drive</a:t>
          </a:r>
        </a:p>
      </dsp:txBody>
      <dsp:txXfrm>
        <a:off x="27586" y="3419016"/>
        <a:ext cx="6611661" cy="509938"/>
      </dsp:txXfrm>
    </dsp:sp>
    <dsp:sp modelId="{168DC006-0F42-0746-A1E3-AF42CDABAF9E}">
      <dsp:nvSpPr>
        <dsp:cNvPr id="0" name=""/>
        <dsp:cNvSpPr/>
      </dsp:nvSpPr>
      <dsp:spPr>
        <a:xfrm>
          <a:off x="0" y="402278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Easily grow and transform with evolving needs</a:t>
          </a:r>
        </a:p>
      </dsp:txBody>
      <dsp:txXfrm>
        <a:off x="27586" y="4050366"/>
        <a:ext cx="6611661" cy="509938"/>
      </dsp:txXfrm>
    </dsp:sp>
    <dsp:sp modelId="{EFF0323C-1D44-C34F-946F-B726C5F3CF14}">
      <dsp:nvSpPr>
        <dsp:cNvPr id="0" name=""/>
        <dsp:cNvSpPr/>
      </dsp:nvSpPr>
      <dsp:spPr>
        <a:xfrm>
          <a:off x="0" y="46541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 lock-in: possible to migrate out down the road</a:t>
          </a:r>
        </a:p>
      </dsp:txBody>
      <dsp:txXfrm>
        <a:off x="27586" y="4681716"/>
        <a:ext cx="6611661" cy="509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159F2-8CF6-489F-ADA6-D0DFD7FEB09B}">
      <dsp:nvSpPr>
        <dsp:cNvPr id="0" name=""/>
        <dsp:cNvSpPr/>
      </dsp:nvSpPr>
      <dsp:spPr>
        <a:xfrm>
          <a:off x="738793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3C4B8-825C-4EBD-B77F-50FE3A4E585E}">
      <dsp:nvSpPr>
        <dsp:cNvPr id="0" name=""/>
        <dsp:cNvSpPr/>
      </dsp:nvSpPr>
      <dsp:spPr>
        <a:xfrm>
          <a:off x="2516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Validate the platform choice incrementally.</a:t>
          </a:r>
        </a:p>
      </dsp:txBody>
      <dsp:txXfrm>
        <a:off x="2516" y="1623013"/>
        <a:ext cx="2265468" cy="653092"/>
      </dsp:txXfrm>
    </dsp:sp>
    <dsp:sp modelId="{397AA66B-5AD9-4FAD-84E3-1B8463411C25}">
      <dsp:nvSpPr>
        <dsp:cNvPr id="0" name=""/>
        <dsp:cNvSpPr/>
      </dsp:nvSpPr>
      <dsp:spPr>
        <a:xfrm>
          <a:off x="2516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Information gathering from team(s)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Birddog integration experiments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Identify and flesh out roles and views</a:t>
          </a:r>
        </a:p>
      </dsp:txBody>
      <dsp:txXfrm>
        <a:off x="2516" y="2320573"/>
        <a:ext cx="2265468" cy="637339"/>
      </dsp:txXfrm>
    </dsp:sp>
    <dsp:sp modelId="{58880F47-E6BC-44B3-8A1B-5637FC8FB6B6}">
      <dsp:nvSpPr>
        <dsp:cNvPr id="0" name=""/>
        <dsp:cNvSpPr/>
      </dsp:nvSpPr>
      <dsp:spPr>
        <a:xfrm>
          <a:off x="3400719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415BC-0F60-4B01-9D4C-56BD08C71CF1}">
      <dsp:nvSpPr>
        <dsp:cNvPr id="0" name=""/>
        <dsp:cNvSpPr/>
      </dsp:nvSpPr>
      <dsp:spPr>
        <a:xfrm>
          <a:off x="2664442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Develop in parallel with ongoing Google Drive-based workflows.</a:t>
          </a:r>
        </a:p>
      </dsp:txBody>
      <dsp:txXfrm>
        <a:off x="2664442" y="1623013"/>
        <a:ext cx="2265468" cy="653092"/>
      </dsp:txXfrm>
    </dsp:sp>
    <dsp:sp modelId="{F900913E-19F8-4ED5-A394-03F039018FD9}">
      <dsp:nvSpPr>
        <dsp:cNvPr id="0" name=""/>
        <dsp:cNvSpPr/>
      </dsp:nvSpPr>
      <dsp:spPr>
        <a:xfrm>
          <a:off x="2664442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DF7AD-8B67-4159-AB86-144C59B9448B}">
      <dsp:nvSpPr>
        <dsp:cNvPr id="0" name=""/>
        <dsp:cNvSpPr/>
      </dsp:nvSpPr>
      <dsp:spPr>
        <a:xfrm>
          <a:off x="6062645" y="734492"/>
          <a:ext cx="792914" cy="792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2BC11-AD73-4F04-8F19-9EF68BA72DC2}">
      <dsp:nvSpPr>
        <dsp:cNvPr id="0" name=""/>
        <dsp:cNvSpPr/>
      </dsp:nvSpPr>
      <dsp:spPr>
        <a:xfrm>
          <a:off x="5326367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Transition when we’re ready.</a:t>
          </a:r>
        </a:p>
      </dsp:txBody>
      <dsp:txXfrm>
        <a:off x="5326367" y="1623013"/>
        <a:ext cx="2265468" cy="653092"/>
      </dsp:txXfrm>
    </dsp:sp>
    <dsp:sp modelId="{2FDCAC75-18FA-48CB-A90E-703C0C3C90BB}">
      <dsp:nvSpPr>
        <dsp:cNvPr id="0" name=""/>
        <dsp:cNvSpPr/>
      </dsp:nvSpPr>
      <dsp:spPr>
        <a:xfrm>
          <a:off x="5326367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24592-18D4-1E40-83A5-612DC83F068C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2F6B-794B-FB47-A697-4796376EE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2F6B-794B-FB47-A697-4796376EE9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24.png"/><Relationship Id="rId4" Type="http://schemas.openxmlformats.org/officeDocument/2006/relationships/diagramData" Target="../diagrams/data2.xm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062622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URD Database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May 29, 2026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50FF-40A1-891E-5FEF-077F08F6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173D5-5367-994F-CF1E-39C8A9602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URD Mission and Process Overview (Juliana)</a:t>
            </a:r>
          </a:p>
          <a:p>
            <a:r>
              <a:rPr lang="en-US" dirty="0"/>
              <a:t>Database Project Overview (Jon)</a:t>
            </a:r>
          </a:p>
          <a:p>
            <a:r>
              <a:rPr lang="en-US" dirty="0"/>
              <a:t>Next Steps – Requests (Jon)</a:t>
            </a:r>
          </a:p>
        </p:txBody>
      </p:sp>
    </p:spTree>
    <p:extLst>
      <p:ext uri="{BB962C8B-B14F-4D97-AF65-F5344CB8AC3E}">
        <p14:creationId xmlns:p14="http://schemas.microsoft.com/office/powerpoint/2010/main" val="175161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6F01-75F2-C791-B752-AB7552D6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8C8F-1C0F-A8E8-049B-1D3A0CA0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URD Mission and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55C0-E29F-B82E-FB82-B0E0C5A41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816" y="1770761"/>
            <a:ext cx="1566672" cy="5518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Mission: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C0C88-5F03-8CFC-1FB7-F4394FD1B940}"/>
              </a:ext>
            </a:extLst>
          </p:cNvPr>
          <p:cNvSpPr txBox="1"/>
          <p:nvPr/>
        </p:nvSpPr>
        <p:spPr>
          <a:xfrm>
            <a:off x="838200" y="2534674"/>
            <a:ext cx="9559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</a:rPr>
              <a:t>Acquire and preserve Jewish Ukrainian genealogical records.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DE7C3-8875-8423-DC25-2523C0AB3162}"/>
              </a:ext>
            </a:extLst>
          </p:cNvPr>
          <p:cNvSpPr txBox="1"/>
          <p:nvPr/>
        </p:nvSpPr>
        <p:spPr>
          <a:xfrm>
            <a:off x="1978152" y="3840325"/>
            <a:ext cx="79095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Entails monitoring archives for changes, identifying relevant documents, acquiring the documents, and extracting the metadata.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Involves a volunteer team using a central set of Google Drive spreadsheets to manage and track the data.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Scale has grown to many thousands of documents, with a growing influx of new documents to be processed every day.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E4E369-37A3-12B0-ABDC-A4CD6FF16EDA}"/>
              </a:ext>
            </a:extLst>
          </p:cNvPr>
          <p:cNvSpPr txBox="1">
            <a:spLocks/>
          </p:cNvSpPr>
          <p:nvPr/>
        </p:nvSpPr>
        <p:spPr>
          <a:xfrm>
            <a:off x="1194816" y="3297654"/>
            <a:ext cx="1566672" cy="55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/>
              <a:t>Process: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398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54FD-5C9A-A4AB-9F2D-8BA1AC5A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CEBB-AB90-BD96-6D87-0967EDD5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86" y="535243"/>
            <a:ext cx="4376337" cy="898674"/>
          </a:xfrm>
        </p:spPr>
        <p:txBody>
          <a:bodyPr anchor="b">
            <a:normAutofit fontScale="90000"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JewishGen</a:t>
            </a:r>
            <a:r>
              <a:rPr lang="en-US" sz="4800" dirty="0">
                <a:solidFill>
                  <a:schemeClr val="tx2"/>
                </a:solidFill>
              </a:rPr>
              <a:t> URD Birds-Eye 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892516-064C-67A6-8FAF-13BA7BCA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22" y="2528775"/>
            <a:ext cx="3047754" cy="1820430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6871A744-B639-4431-4630-9763C0021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90" y="4523711"/>
            <a:ext cx="1025239" cy="833779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B5569AD7-5253-9D0D-D326-0D3E381FCC7C}"/>
              </a:ext>
            </a:extLst>
          </p:cNvPr>
          <p:cNvSpPr/>
          <p:nvPr/>
        </p:nvSpPr>
        <p:spPr>
          <a:xfrm rot="20348449">
            <a:off x="4101994" y="4454958"/>
            <a:ext cx="875224" cy="232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2A669B34-53B2-75F6-4B8D-891A9406DD00}"/>
              </a:ext>
            </a:extLst>
          </p:cNvPr>
          <p:cNvSpPr/>
          <p:nvPr/>
        </p:nvSpPr>
        <p:spPr>
          <a:xfrm rot="5400000">
            <a:off x="1957839" y="4598818"/>
            <a:ext cx="589538" cy="568552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787E0B-954C-00E1-3614-87C33B023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199" y="1280669"/>
            <a:ext cx="2787450" cy="1370367"/>
          </a:xfrm>
          <a:prstGeom prst="rect">
            <a:avLst/>
          </a:prstGeom>
        </p:spPr>
      </p:pic>
      <p:sp>
        <p:nvSpPr>
          <p:cNvPr id="12" name="Cloud 11">
            <a:extLst>
              <a:ext uri="{FF2B5EF4-FFF2-40B4-BE49-F238E27FC236}">
                <a16:creationId xmlns:a16="http://schemas.microsoft.com/office/drawing/2014/main" id="{140754D1-3F7F-3945-21AD-09830E85593B}"/>
              </a:ext>
            </a:extLst>
          </p:cNvPr>
          <p:cNvSpPr/>
          <p:nvPr/>
        </p:nvSpPr>
        <p:spPr>
          <a:xfrm>
            <a:off x="4989874" y="80863"/>
            <a:ext cx="7202126" cy="5790538"/>
          </a:xfrm>
          <a:prstGeom prst="cloud">
            <a:avLst/>
          </a:prstGeom>
          <a:solidFill>
            <a:srgbClr val="E8E8E8">
              <a:alpha val="2902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C320CD-5237-5299-0C70-F10D1CC64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109" y="2725786"/>
            <a:ext cx="5159156" cy="2214815"/>
          </a:xfrm>
          <a:prstGeom prst="rect">
            <a:avLst/>
          </a:prstGeom>
        </p:spPr>
      </p:pic>
      <p:pic>
        <p:nvPicPr>
          <p:cNvPr id="16" name="Picture 1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6BDE08-5E77-9F60-CC0E-684AD741B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022" y="6064510"/>
            <a:ext cx="721452" cy="586723"/>
          </a:xfrm>
          <a:prstGeom prst="rect">
            <a:avLst/>
          </a:prstGeom>
        </p:spPr>
      </p:pic>
      <p:pic>
        <p:nvPicPr>
          <p:cNvPr id="18" name="Picture 17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D2C117C-F8FF-D656-313F-8740BFF6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67" y="6059297"/>
            <a:ext cx="721452" cy="586723"/>
          </a:xfrm>
          <a:prstGeom prst="rect">
            <a:avLst/>
          </a:prstGeom>
        </p:spPr>
      </p:pic>
      <p:pic>
        <p:nvPicPr>
          <p:cNvPr id="19" name="Picture 18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222B890F-2985-9135-C7EA-F3C50389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505" y="5687564"/>
            <a:ext cx="721452" cy="586723"/>
          </a:xfrm>
          <a:prstGeom prst="rect">
            <a:avLst/>
          </a:prstGeom>
        </p:spPr>
      </p:pic>
      <p:sp>
        <p:nvSpPr>
          <p:cNvPr id="20" name="Left-Right Arrow 19">
            <a:extLst>
              <a:ext uri="{FF2B5EF4-FFF2-40B4-BE49-F238E27FC236}">
                <a16:creationId xmlns:a16="http://schemas.microsoft.com/office/drawing/2014/main" id="{3CBAEFD3-FE10-F1F4-6D93-81DDC333C624}"/>
              </a:ext>
            </a:extLst>
          </p:cNvPr>
          <p:cNvSpPr/>
          <p:nvPr/>
        </p:nvSpPr>
        <p:spPr>
          <a:xfrm rot="3136357">
            <a:off x="9913560" y="4956227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07D5C28A-5EDD-E5AA-4030-B95139BD1CAD}"/>
              </a:ext>
            </a:extLst>
          </p:cNvPr>
          <p:cNvSpPr/>
          <p:nvPr/>
        </p:nvSpPr>
        <p:spPr>
          <a:xfrm rot="4660625">
            <a:off x="8453761" y="520941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>
            <a:extLst>
              <a:ext uri="{FF2B5EF4-FFF2-40B4-BE49-F238E27FC236}">
                <a16:creationId xmlns:a16="http://schemas.microsoft.com/office/drawing/2014/main" id="{EDE47C4D-5338-E97A-356C-A0CDD2AA47EC}"/>
              </a:ext>
            </a:extLst>
          </p:cNvPr>
          <p:cNvSpPr/>
          <p:nvPr/>
        </p:nvSpPr>
        <p:spPr>
          <a:xfrm rot="3957520">
            <a:off x="9213068" y="5261193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30860C-5A57-5872-E7B0-BF1DDC5D6DB5}"/>
              </a:ext>
            </a:extLst>
          </p:cNvPr>
          <p:cNvGrpSpPr/>
          <p:nvPr/>
        </p:nvGrpSpPr>
        <p:grpSpPr>
          <a:xfrm>
            <a:off x="8096777" y="855482"/>
            <a:ext cx="3137747" cy="1553018"/>
            <a:chOff x="4584873" y="4735296"/>
            <a:chExt cx="3137747" cy="155301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3BD02FA-FFE3-8832-5EAC-3FE9058D0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FE6EC4F-DC0F-B4C6-2CF0-9ECB35BE5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A817E49-32BA-426C-FFC8-EE920FED9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4F01611-32A1-8C3E-F49C-4ABB767E9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7DE728E-49D5-8E0E-885D-C7A7407F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4586E6B-EF32-AA41-A051-CAE90E1E4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805" y="374585"/>
            <a:ext cx="643977" cy="712975"/>
          </a:xfrm>
          <a:prstGeom prst="rect">
            <a:avLst/>
          </a:prstGeom>
        </p:spPr>
      </p:pic>
      <p:pic>
        <p:nvPicPr>
          <p:cNvPr id="35" name="Picture 3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9BB0C7-0687-A57E-D305-75758418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256" y="5992158"/>
            <a:ext cx="721452" cy="586723"/>
          </a:xfrm>
          <a:prstGeom prst="rect">
            <a:avLst/>
          </a:prstGeom>
        </p:spPr>
      </p:pic>
      <p:pic>
        <p:nvPicPr>
          <p:cNvPr id="36" name="Picture 3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5C265BCF-CDFA-2ED1-397B-8CB1A7530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1" y="5871401"/>
            <a:ext cx="721452" cy="586723"/>
          </a:xfrm>
          <a:prstGeom prst="rect">
            <a:avLst/>
          </a:prstGeom>
        </p:spPr>
      </p:pic>
      <p:pic>
        <p:nvPicPr>
          <p:cNvPr id="37" name="Picture 36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FAE5461-55F2-E90D-3B13-EC642EF5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1" y="6097930"/>
            <a:ext cx="721452" cy="586723"/>
          </a:xfrm>
          <a:prstGeom prst="rect">
            <a:avLst/>
          </a:prstGeom>
        </p:spPr>
      </p:pic>
      <p:sp>
        <p:nvSpPr>
          <p:cNvPr id="38" name="Left-Right Arrow 37">
            <a:extLst>
              <a:ext uri="{FF2B5EF4-FFF2-40B4-BE49-F238E27FC236}">
                <a16:creationId xmlns:a16="http://schemas.microsoft.com/office/drawing/2014/main" id="{C0FC1311-9485-D7A8-59C5-BA796D239E1B}"/>
              </a:ext>
            </a:extLst>
          </p:cNvPr>
          <p:cNvSpPr/>
          <p:nvPr/>
        </p:nvSpPr>
        <p:spPr>
          <a:xfrm rot="7126337">
            <a:off x="6204145" y="555603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FFD1B384-8D38-8A59-C851-A06B1B510874}"/>
              </a:ext>
            </a:extLst>
          </p:cNvPr>
          <p:cNvSpPr/>
          <p:nvPr/>
        </p:nvSpPr>
        <p:spPr>
          <a:xfrm rot="5887104">
            <a:off x="7443205" y="543189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CA0E6F-3155-F8BF-7242-6B00E249E543}"/>
              </a:ext>
            </a:extLst>
          </p:cNvPr>
          <p:cNvGrpSpPr/>
          <p:nvPr/>
        </p:nvGrpSpPr>
        <p:grpSpPr>
          <a:xfrm>
            <a:off x="9442799" y="1397760"/>
            <a:ext cx="2219966" cy="1098765"/>
            <a:chOff x="4584873" y="4735296"/>
            <a:chExt cx="3137747" cy="15530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C1F8F9-1BC1-E63B-E3B6-6D913C7F0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1C2582-3B3D-A9D5-FCB9-CECB7D75A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C8B862-002F-6D1E-A949-69E4AD87E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08B8B1-C0D9-2EF1-E985-6E87EA36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EA1D2E7-2DB6-6C03-DA25-EBE081361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60A7D-CFFE-F2F8-9AAB-5E481AD4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8" y="2065917"/>
            <a:ext cx="3047754" cy="1820430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379468-FD34-E439-E1FC-249DB2C8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37" y="2311809"/>
            <a:ext cx="3047754" cy="182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7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70F1-AF25-38CC-FFC1-DAD8405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URD Data 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5F6F-8FF7-6B39-D41A-FAFAC934643F}"/>
              </a:ext>
            </a:extLst>
          </p:cNvPr>
          <p:cNvSpPr txBox="1"/>
          <p:nvPr/>
        </p:nvSpPr>
        <p:spPr>
          <a:xfrm>
            <a:off x="292231" y="2599509"/>
            <a:ext cx="5619302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With Google Drive spreadsheets,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C00000"/>
                </a:solidFill>
              </a:rPr>
              <a:t>View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are not separated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Labor intensive to maintain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Fragile multi-tab relationships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amenable to multi-person access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revise sheet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355E-5CA5-7435-D557-FFDF19203C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13968" y="2984778"/>
            <a:ext cx="3868831" cy="27438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037A7-AA00-8647-F45E-984DD032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212709"/>
            <a:ext cx="8232296" cy="1337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E39B0-22F9-0748-9E12-85DD06BC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248166"/>
            <a:ext cx="1410402" cy="1337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30F781-42C4-8AC5-F9B5-AFB4F7807C48}"/>
              </a:ext>
            </a:extLst>
          </p:cNvPr>
          <p:cNvSpPr txBox="1"/>
          <p:nvPr/>
        </p:nvSpPr>
        <p:spPr>
          <a:xfrm>
            <a:off x="2910690" y="1051582"/>
            <a:ext cx="8315250" cy="3395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3000" b="1" dirty="0"/>
              <a:t>Replace </a:t>
            </a:r>
            <a:r>
              <a:rPr lang="en-US" sz="3000" b="1" dirty="0">
                <a:solidFill>
                  <a:srgbClr val="C00000"/>
                </a:solidFill>
              </a:rPr>
              <a:t>Google Drive</a:t>
            </a:r>
            <a:r>
              <a:rPr lang="en-US" sz="3000" b="1" dirty="0"/>
              <a:t> with a </a:t>
            </a:r>
            <a:r>
              <a:rPr lang="en-US" sz="3000" b="1" dirty="0">
                <a:solidFill>
                  <a:srgbClr val="C00000"/>
                </a:solidFill>
              </a:rPr>
              <a:t>Database</a:t>
            </a:r>
            <a:r>
              <a:rPr lang="en-US" sz="3000" b="1" dirty="0"/>
              <a:t> that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Separates data from view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Is easy to maintain and evolve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Can scale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Correctly handles multiple concurrent users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multi-tab spreadsheets with evolvable, role-specific views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cross-sheet process reporting formulas with automated roll-ups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Provides built-in back-up, journaling of data changes, and commenting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Facilitates further automation, such as AI-assisted triage, etc.</a:t>
            </a:r>
          </a:p>
        </p:txBody>
      </p:sp>
    </p:spTree>
    <p:extLst>
      <p:ext uri="{BB962C8B-B14F-4D97-AF65-F5344CB8AC3E}">
        <p14:creationId xmlns:p14="http://schemas.microsoft.com/office/powerpoint/2010/main" val="94311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7313-819F-1AF0-DC36-91C21D9C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/>
              <a:t>Database Requirements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40E469C-5270-449E-FACA-12C9A8A5E2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17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8283A-E5EE-9C28-74FF-F36CCC2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Platform: </a:t>
            </a:r>
            <a:r>
              <a:rPr lang="en-US" sz="2800" b="1" kern="1200" dirty="0" err="1">
                <a:solidFill>
                  <a:srgbClr val="383BCB"/>
                </a:solidFill>
                <a:latin typeface="+mj-lt"/>
                <a:ea typeface="+mj-ea"/>
                <a:cs typeface="+mj-cs"/>
              </a:rPr>
              <a:t>NocoDB</a:t>
            </a:r>
            <a:endParaRPr lang="en-US" sz="2800" b="1" kern="1200" dirty="0">
              <a:solidFill>
                <a:srgbClr val="383BC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E8B5-E666-0207-6437-0A5F23362B5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cost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to learn (like </a:t>
            </a:r>
            <a:r>
              <a:rPr lang="en-US" sz="1700" dirty="0" err="1"/>
              <a:t>AirTable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Opensource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Available as hosted solution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Can be self-hosted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801B8-8BF9-C0FB-6FB8-E76DF44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26663"/>
            <a:ext cx="6922008" cy="3305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07A52-3A45-21E3-3235-724EF0EFFE87}"/>
              </a:ext>
            </a:extLst>
          </p:cNvPr>
          <p:cNvSpPr txBox="1"/>
          <p:nvPr/>
        </p:nvSpPr>
        <p:spPr>
          <a:xfrm>
            <a:off x="6653501" y="5512326"/>
            <a:ext cx="341737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nocodb.com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5910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859-35B6-60B2-D963-B8ED62B8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Web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7083-CD46-8363-52C6-258AC86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89" y="1577353"/>
            <a:ext cx="6904022" cy="48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AED1-D5DA-9181-C2C3-26C52417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Customizable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9FB6C-9DFE-BF9A-F0A6-E1CA56BF7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13" y="1488027"/>
            <a:ext cx="2868439" cy="927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36134-EE1D-390D-0DCC-914ED105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13" y="2584852"/>
            <a:ext cx="2740536" cy="886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F93BC-763E-E53D-14AF-DA034DA08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13" y="3640302"/>
            <a:ext cx="2740536" cy="886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B6174-A459-3F39-9BA3-8625BA830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13" y="4695752"/>
            <a:ext cx="2740537" cy="886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391F4-D018-5D14-E21B-CC07E6ADA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13" y="5751203"/>
            <a:ext cx="2740537" cy="886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7A08B-C682-DF2F-4ED9-21B14B186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767" y="1488027"/>
            <a:ext cx="3922501" cy="232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ABA8F4-AE90-611F-855C-243044F14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986" y="1488028"/>
            <a:ext cx="3922500" cy="2328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F1A0AF-5266-BD12-C739-DBE1E906CC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903" y="3974700"/>
            <a:ext cx="3922500" cy="232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8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C909F-044F-B66D-EF93-2F054A81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EA39-341C-6DD5-479E-66C429B9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BFF2-A461-23EF-A50B-A5BD72F3E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1. Increase efficiency through technology and workflow improvements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2. Build a structured and scalable acquisition infrastructure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3. Strengthen organizational capacity and volunteer infrastructure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4. Ensure data integrity and quality standards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3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91F0B0-144B-6B3A-6C5A-0F06BD276FCC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3559F-AD00-F8AF-C6C4-93869A1AF4DA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204C1B8-FC0E-C74F-9B2D-DF4C9F3D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7FED33E-E45F-6715-C57D-5196DB268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7284F-9EA7-49D7-8504-DA9FFD6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Strategy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7EDAECC-3188-1B55-D922-8682E5B8F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497071"/>
              </p:ext>
            </p:extLst>
          </p:nvPr>
        </p:nvGraphicFramePr>
        <p:xfrm>
          <a:off x="1054992" y="2800469"/>
          <a:ext cx="7594353" cy="3692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0D4963-7766-60E4-8C02-014CFD684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406C2-91B5-C3D4-741B-8CEA410A9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FB1EEFFB-B1A4-810B-A61E-DD09F5581ABA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0C9F9E1-65F7-9930-30C4-7C3C56244E44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2E763CE-AA4E-54EF-A09D-A9F71C4D1D1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45933AD-E368-9FE4-EE10-F11EC4DB0D50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528A3E-55B2-2CED-D4E0-36B7EA772C8D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D1860B-9240-1F57-BD03-43C52ED1F7C8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B43357-7B13-B95F-8461-5BE53F90648F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850928-B97A-5AAA-54F8-6C0F50BD8F2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6BCB8F-4CA0-5434-A4F7-D050805FF53C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CC27D8-537B-6E86-9577-89301709ABE5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D22CE2A-7A14-CFCF-2EA8-C834944A0119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F1005ED-02C5-BC94-866D-092F22BAF85C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89818-F438-866C-E3FF-B32A8E958546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6489B-5360-4BDF-EA70-CD2151A96B32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9AE5B74F-6781-BD43-36A4-056D0472C055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75E551-E4E8-152B-416B-58813A5371EE}"/>
              </a:ext>
            </a:extLst>
          </p:cNvPr>
          <p:cNvSpPr txBox="1"/>
          <p:nvPr/>
        </p:nvSpPr>
        <p:spPr>
          <a:xfrm>
            <a:off x="1482971" y="1964726"/>
            <a:ext cx="48546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Database development work began in December 2025 using a self-managed </a:t>
            </a:r>
            <a:r>
              <a:rPr lang="en-US" sz="2400" b="1" dirty="0" err="1">
                <a:solidFill>
                  <a:schemeClr val="accent1"/>
                </a:solidFill>
              </a:rPr>
              <a:t>Nocodb</a:t>
            </a:r>
            <a:r>
              <a:rPr lang="en-US" sz="2400" b="1" dirty="0">
                <a:solidFill>
                  <a:schemeClr val="accent1"/>
                </a:solidFill>
              </a:rPr>
              <a:t> instance.</a:t>
            </a:r>
          </a:p>
        </p:txBody>
      </p:sp>
    </p:spTree>
    <p:extLst>
      <p:ext uri="{BB962C8B-B14F-4D97-AF65-F5344CB8AC3E}">
        <p14:creationId xmlns:p14="http://schemas.microsoft.com/office/powerpoint/2010/main" val="4173676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6B0-4264-016B-C138-4CC8550E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25A624-5774-E5B9-A23D-6BEEC2E149C0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1E399-DFC2-8F95-CE64-4A4FDD1A105F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480B6F-F435-DC52-C61D-AE0AAF77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1E70BA2-4B3B-2BAB-9238-2D1EE8E8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0CAD1-8F19-41DD-7271-E04C2B0E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B00B3-2310-7E76-762F-042912F3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EB1D6-C84B-3796-4E2D-FE7237A88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3DD66D-C60C-B008-DFBB-F7CEA34B593B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BDC8674-2DF1-1317-4050-AF765D97866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504EAFC-7499-2B4F-1279-72F01DD7D92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4FC8E7F-DA1B-37D3-1F3E-82D4032D0766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AC49B-18BA-CCAB-DCB4-F7BCD31818DB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B82CE-3A28-2A9F-70CC-86373E232397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9C8EA0-C31E-9A5E-35B7-7AC25113A5A2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A9B8ED-CD72-B2DF-F285-30D0618A5FC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944114-6791-D214-4C23-CC171FCDD27D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C25971-295E-095A-CC32-98EAAC45331D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3613C19-51C7-081C-71EA-6FD9C546214C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E58E81-CB20-CD7D-7498-1FF2BA535CE9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0C465-A9C8-95E3-4F09-99AD8114718C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7BC63C-6615-1B45-25D2-9600B9723004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B141C3B5-6520-77C0-6478-F5E2CD1DBD83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B301B7A-4C14-E82B-7831-6FA10CC6151A}"/>
              </a:ext>
            </a:extLst>
          </p:cNvPr>
          <p:cNvSpPr/>
          <p:nvPr/>
        </p:nvSpPr>
        <p:spPr>
          <a:xfrm>
            <a:off x="1208638" y="3075077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E84B0-6953-FE3E-88E8-86002AEF9DEC}"/>
              </a:ext>
            </a:extLst>
          </p:cNvPr>
          <p:cNvSpPr/>
          <p:nvPr/>
        </p:nvSpPr>
        <p:spPr>
          <a:xfrm>
            <a:off x="1208638" y="3875685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9CC97-C8B9-7EDF-4363-DC710D068EA5}"/>
              </a:ext>
            </a:extLst>
          </p:cNvPr>
          <p:cNvSpPr/>
          <p:nvPr/>
        </p:nvSpPr>
        <p:spPr>
          <a:xfrm>
            <a:off x="1208638" y="4676294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24CCA-ADA5-8963-3B37-75C1B232DB9B}"/>
              </a:ext>
            </a:extLst>
          </p:cNvPr>
          <p:cNvSpPr txBox="1"/>
          <p:nvPr/>
        </p:nvSpPr>
        <p:spPr>
          <a:xfrm>
            <a:off x="1996401" y="3960476"/>
            <a:ext cx="363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import from spreadsheets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9B084-6858-D43A-D225-B6EF9C54C59A}"/>
              </a:ext>
            </a:extLst>
          </p:cNvPr>
          <p:cNvSpPr txBox="1"/>
          <p:nvPr/>
        </p:nvSpPr>
        <p:spPr>
          <a:xfrm>
            <a:off x="1996401" y="3121686"/>
            <a:ext cx="5667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Birddog Integration - automatic updates from Wiki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DE1CA-1539-1120-5647-108503A343CE}"/>
              </a:ext>
            </a:extLst>
          </p:cNvPr>
          <p:cNvSpPr txBox="1"/>
          <p:nvPr/>
        </p:nvSpPr>
        <p:spPr>
          <a:xfrm>
            <a:off x="1996401" y="4725406"/>
            <a:ext cx="5733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Workflow development (views, roles, streamlining)</a:t>
            </a:r>
          </a:p>
        </p:txBody>
      </p:sp>
      <p:pic>
        <p:nvPicPr>
          <p:cNvPr id="23" name="Graphic 22" descr="Checkbox Checked with solid fill">
            <a:extLst>
              <a:ext uri="{FF2B5EF4-FFF2-40B4-BE49-F238E27FC236}">
                <a16:creationId xmlns:a16="http://schemas.microsoft.com/office/drawing/2014/main" id="{570121F7-C793-8292-5517-DA4C61D2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41" y="2943157"/>
            <a:ext cx="777972" cy="777972"/>
          </a:xfrm>
          <a:prstGeom prst="rect">
            <a:avLst/>
          </a:prstGeom>
        </p:spPr>
      </p:pic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6CD02740-3125-9E41-6255-8E302506E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63" y="3741579"/>
            <a:ext cx="777972" cy="7779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953FA5-9C5E-15D4-49F7-9F6E51DD3465}"/>
              </a:ext>
            </a:extLst>
          </p:cNvPr>
          <p:cNvSpPr/>
          <p:nvPr/>
        </p:nvSpPr>
        <p:spPr>
          <a:xfrm>
            <a:off x="1208638" y="5387649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1B2AE-652D-8B27-4C26-904CAA0BDFCB}"/>
              </a:ext>
            </a:extLst>
          </p:cNvPr>
          <p:cNvSpPr txBox="1"/>
          <p:nvPr/>
        </p:nvSpPr>
        <p:spPr>
          <a:xfrm>
            <a:off x="1996401" y="5436761"/>
            <a:ext cx="6017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Transition the URD process to the database platform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27EE90-A648-B738-B150-72930BACE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017" y="4717289"/>
            <a:ext cx="435446" cy="43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5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4098D-F956-71E2-B468-BAE5F9F34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6" y="1815232"/>
            <a:ext cx="7772400" cy="444673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3A3ABE-18E6-403F-D6A9-C9AFD0AC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Database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D74BF-1CA4-F153-38E8-95B8E79858F7}"/>
              </a:ext>
            </a:extLst>
          </p:cNvPr>
          <p:cNvSpPr txBox="1"/>
          <p:nvPr/>
        </p:nvSpPr>
        <p:spPr>
          <a:xfrm>
            <a:off x="8413228" y="3438434"/>
            <a:ext cx="33757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358k Page records</a:t>
            </a:r>
          </a:p>
          <a:p>
            <a:endParaRPr lang="en-US" sz="2400" dirty="0"/>
          </a:p>
          <a:p>
            <a:r>
              <a:rPr lang="en-US" sz="2400" dirty="0"/>
              <a:t>171k Document records</a:t>
            </a:r>
          </a:p>
        </p:txBody>
      </p:sp>
    </p:spTree>
    <p:extLst>
      <p:ext uri="{BB962C8B-B14F-4D97-AF65-F5344CB8AC3E}">
        <p14:creationId xmlns:p14="http://schemas.microsoft.com/office/powerpoint/2010/main" val="2876637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CAD4-5CFD-3D1C-0EA9-BF2B198B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AE1C-B28E-7FA8-69B4-48AFDC03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Steps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B9E01-D60A-01CF-1E56-CA30BA97C38E}"/>
              </a:ext>
            </a:extLst>
          </p:cNvPr>
          <p:cNvSpPr txBox="1"/>
          <p:nvPr/>
        </p:nvSpPr>
        <p:spPr>
          <a:xfrm>
            <a:off x="1426464" y="1690688"/>
            <a:ext cx="101041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Migrate Birddog application into </a:t>
            </a:r>
            <a:r>
              <a:rPr lang="en-US" sz="2400" dirty="0" err="1"/>
              <a:t>JewishGen</a:t>
            </a:r>
            <a:r>
              <a:rPr lang="en-US" sz="2400" dirty="0"/>
              <a:t> IT infrastructure.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AWS deployment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Integrate </a:t>
            </a:r>
            <a:r>
              <a:rPr lang="en-US" sz="2400" dirty="0" err="1"/>
              <a:t>JewishGen</a:t>
            </a:r>
            <a:r>
              <a:rPr lang="en-US" sz="2400" dirty="0"/>
              <a:t> identity management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Migrate database to </a:t>
            </a:r>
            <a:r>
              <a:rPr lang="en-US" sz="2400" dirty="0" err="1"/>
              <a:t>Nocodb</a:t>
            </a:r>
            <a:r>
              <a:rPr lang="en-US" sz="2400" dirty="0"/>
              <a:t> cloud hosting.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Establish Enterprise cloud hosting plan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Data migration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Roles / permissions implementation</a:t>
            </a:r>
          </a:p>
          <a:p>
            <a:pPr lvl="1"/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Onboard and train the team.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Establish an ongoing tech operations process.</a:t>
            </a:r>
          </a:p>
        </p:txBody>
      </p:sp>
    </p:spTree>
    <p:extLst>
      <p:ext uri="{BB962C8B-B14F-4D97-AF65-F5344CB8AC3E}">
        <p14:creationId xmlns:p14="http://schemas.microsoft.com/office/powerpoint/2010/main" val="180061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15D5-151C-19A3-BF52-16BCEB73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9CE6-6A9D-BAE7-AF3D-19CFFD0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to Move Forward</a:t>
            </a:r>
          </a:p>
        </p:txBody>
      </p:sp>
    </p:spTree>
    <p:extLst>
      <p:ext uri="{BB962C8B-B14F-4D97-AF65-F5344CB8AC3E}">
        <p14:creationId xmlns:p14="http://schemas.microsoft.com/office/powerpoint/2010/main" val="136299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2924-2D72-1AE3-1F53-537F92B9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F569-1C52-66B3-2DB4-C164F790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to Move Forward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9D842-66BA-BDB6-2230-CF8C45E0901C}"/>
              </a:ext>
            </a:extLst>
          </p:cNvPr>
          <p:cNvSpPr txBox="1"/>
          <p:nvPr/>
        </p:nvSpPr>
        <p:spPr>
          <a:xfrm>
            <a:off x="1282466" y="2323696"/>
            <a:ext cx="9843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1. </a:t>
            </a:r>
            <a:r>
              <a:rPr lang="en-US" sz="3200" dirty="0" err="1"/>
              <a:t>JewishGen</a:t>
            </a:r>
            <a:r>
              <a:rPr lang="en-US" sz="3200" dirty="0"/>
              <a:t> IT technical contact for Birddog migration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ED98-9E2D-AAA1-DF0F-A0602F0D2D8F}"/>
              </a:ext>
            </a:extLst>
          </p:cNvPr>
          <p:cNvSpPr txBox="1"/>
          <p:nvPr/>
        </p:nvSpPr>
        <p:spPr>
          <a:xfrm>
            <a:off x="1884485" y="3341076"/>
            <a:ext cx="10178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Assistance with JG-hosted AWS EC2 deployment</a:t>
            </a:r>
          </a:p>
          <a:p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Assistance with integration of JG identity management into Birddog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Absorb ongoing Birddog operating costs (currently $30/month)</a:t>
            </a:r>
          </a:p>
        </p:txBody>
      </p:sp>
    </p:spTree>
    <p:extLst>
      <p:ext uri="{BB962C8B-B14F-4D97-AF65-F5344CB8AC3E}">
        <p14:creationId xmlns:p14="http://schemas.microsoft.com/office/powerpoint/2010/main" val="35343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891C-D2B1-BD71-8106-7439C4AD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21EA-1F93-C6C5-D04E-27891688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to Move Forward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D2B9E-612A-C429-68D8-17CC6C1E090A}"/>
              </a:ext>
            </a:extLst>
          </p:cNvPr>
          <p:cNvSpPr txBox="1"/>
          <p:nvPr/>
        </p:nvSpPr>
        <p:spPr>
          <a:xfrm>
            <a:off x="1282466" y="2323696"/>
            <a:ext cx="10349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 Support to establish </a:t>
            </a:r>
            <a:r>
              <a:rPr lang="en-US" sz="3200" dirty="0" err="1"/>
              <a:t>Nocodb</a:t>
            </a:r>
            <a:r>
              <a:rPr lang="en-US" sz="3200" dirty="0"/>
              <a:t> Cloud Enterprise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C246C-AC8C-F759-0ED1-10EC882FF250}"/>
              </a:ext>
            </a:extLst>
          </p:cNvPr>
          <p:cNvSpPr txBox="1"/>
          <p:nvPr/>
        </p:nvSpPr>
        <p:spPr>
          <a:xfrm>
            <a:off x="1884486" y="3341076"/>
            <a:ext cx="93374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Business liaison to establish enterprise license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Technical support for integration with JG identity management</a:t>
            </a:r>
          </a:p>
          <a:p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Ongoing license payments (estimated to be ~$200-400/month)</a:t>
            </a:r>
          </a:p>
        </p:txBody>
      </p:sp>
    </p:spTree>
    <p:extLst>
      <p:ext uri="{BB962C8B-B14F-4D97-AF65-F5344CB8AC3E}">
        <p14:creationId xmlns:p14="http://schemas.microsoft.com/office/powerpoint/2010/main" val="239418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6FEF-54E7-3BC5-6E2D-A84D8412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D9FA-6420-9F84-392D-39DA62EC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to Move Forward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6191D-9929-BC4A-42B2-ECB5399028A6}"/>
              </a:ext>
            </a:extLst>
          </p:cNvPr>
          <p:cNvSpPr txBox="1"/>
          <p:nvPr/>
        </p:nvSpPr>
        <p:spPr>
          <a:xfrm>
            <a:off x="1282466" y="2323696"/>
            <a:ext cx="10349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JewishGen</a:t>
            </a:r>
            <a:r>
              <a:rPr lang="en-US" sz="3200" dirty="0"/>
              <a:t> IT partnership for ongoing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2BF2C-98BF-88B8-F802-60496AB44F90}"/>
              </a:ext>
            </a:extLst>
          </p:cNvPr>
          <p:cNvSpPr txBox="1"/>
          <p:nvPr/>
        </p:nvSpPr>
        <p:spPr>
          <a:xfrm>
            <a:off x="1884486" y="3341076"/>
            <a:ext cx="9337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IT contact for Birddog operations issues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IT contact for </a:t>
            </a:r>
            <a:r>
              <a:rPr lang="en-US" sz="2400" dirty="0" err="1"/>
              <a:t>Nocodb</a:t>
            </a:r>
            <a:r>
              <a:rPr lang="en-US" sz="2400" dirty="0"/>
              <a:t> operations issues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5209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1D79F9-DEF6-8017-440B-D4EE23DF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58F0-B09F-EE78-CF84-FDECE082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Cloud Hosting Plans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299DE-FE2F-57EE-3039-E216A308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55522"/>
            <a:ext cx="7772400" cy="3746955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C8F23A-8CE8-1059-934F-C58679A448AC}"/>
              </a:ext>
            </a:extLst>
          </p:cNvPr>
          <p:cNvSpPr/>
          <p:nvPr/>
        </p:nvSpPr>
        <p:spPr>
          <a:xfrm>
            <a:off x="7943850" y="1508010"/>
            <a:ext cx="2038350" cy="384197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8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5582-DCE4-EDC4-CC3C-F312A342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652"/>
            <a:ext cx="10515600" cy="926347"/>
          </a:xfrm>
        </p:spPr>
        <p:txBody>
          <a:bodyPr>
            <a:normAutofit/>
          </a:bodyPr>
          <a:lstStyle/>
          <a:p>
            <a:r>
              <a:rPr lang="en-US" sz="4800" dirty="0"/>
              <a:t>Database Schema 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D74F5A-0DEA-0FD1-0717-F4542718DA3A}"/>
              </a:ext>
            </a:extLst>
          </p:cNvPr>
          <p:cNvSpPr/>
          <p:nvPr/>
        </p:nvSpPr>
        <p:spPr>
          <a:xfrm>
            <a:off x="682863" y="2666744"/>
            <a:ext cx="4846066" cy="352469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“Page”</a:t>
            </a:r>
          </a:p>
          <a:p>
            <a:pPr algn="ctr"/>
            <a:r>
              <a:rPr lang="en-US" sz="2400" dirty="0"/>
              <a:t>A Wiki or Archive web page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URL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(archive, fund, opus, case)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Availability (linked, unlinked)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Parent (page)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Children (pages)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DCFFB3-F838-AE64-B769-ACC9AD070601}"/>
              </a:ext>
            </a:extLst>
          </p:cNvPr>
          <p:cNvSpPr/>
          <p:nvPr/>
        </p:nvSpPr>
        <p:spPr>
          <a:xfrm>
            <a:off x="6170427" y="2666744"/>
            <a:ext cx="5487564" cy="3524693"/>
          </a:xfrm>
          <a:prstGeom prst="round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“Document”</a:t>
            </a:r>
            <a:endParaRPr lang="en-US" sz="2400" dirty="0"/>
          </a:p>
          <a:p>
            <a:pPr algn="ctr"/>
            <a:r>
              <a:rPr lang="en-US" sz="2400" dirty="0"/>
              <a:t>An attached scanned document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Pages processed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Owning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5D963-D30A-DC51-EBC2-B1976F7A3551}"/>
              </a:ext>
            </a:extLst>
          </p:cNvPr>
          <p:cNvSpPr txBox="1"/>
          <p:nvPr/>
        </p:nvSpPr>
        <p:spPr>
          <a:xfrm>
            <a:off x="0" y="160977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Separate </a:t>
            </a:r>
            <a:r>
              <a:rPr lang="en-US" sz="3600" b="1" dirty="0">
                <a:solidFill>
                  <a:schemeClr val="accent4"/>
                </a:solidFill>
              </a:rPr>
              <a:t>Page</a:t>
            </a:r>
            <a:r>
              <a:rPr lang="en-US" sz="3600" dirty="0"/>
              <a:t> data from </a:t>
            </a:r>
            <a:r>
              <a:rPr lang="en-US" sz="3600" b="1" dirty="0">
                <a:solidFill>
                  <a:schemeClr val="accent6"/>
                </a:solidFill>
              </a:rPr>
              <a:t>Scanned Document</a:t>
            </a:r>
            <a:r>
              <a:rPr lang="en-US" sz="36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98759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D195-98A3-548D-4516-EE543E11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7" y="2147308"/>
            <a:ext cx="10881207" cy="3996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A978B0-C862-9C80-7A7D-000669D2586E}"/>
              </a:ext>
            </a:extLst>
          </p:cNvPr>
          <p:cNvSpPr/>
          <p:nvPr/>
        </p:nvSpPr>
        <p:spPr>
          <a:xfrm>
            <a:off x="731520" y="3206012"/>
            <a:ext cx="3868760" cy="174623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32795-8C08-F2D9-1514-D74C3D6FC3D0}"/>
              </a:ext>
            </a:extLst>
          </p:cNvPr>
          <p:cNvSpPr/>
          <p:nvPr/>
        </p:nvSpPr>
        <p:spPr>
          <a:xfrm>
            <a:off x="4698749" y="3206012"/>
            <a:ext cx="6716745" cy="1746234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09072-65B3-7E28-18EF-5419A2A70DC0}"/>
              </a:ext>
            </a:extLst>
          </p:cNvPr>
          <p:cNvSpPr txBox="1"/>
          <p:nvPr/>
        </p:nvSpPr>
        <p:spPr>
          <a:xfrm>
            <a:off x="1508289" y="1395009"/>
            <a:ext cx="1819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4"/>
                </a:solidFill>
              </a:rPr>
              <a:t>Page</a:t>
            </a:r>
            <a:r>
              <a:rPr lang="en-US" sz="2800" b="1" dirty="0">
                <a:solidFill>
                  <a:schemeClr val="accent4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B9FE2C6-9773-A1D6-C7F5-B79A7B272384}"/>
              </a:ext>
            </a:extLst>
          </p:cNvPr>
          <p:cNvSpPr/>
          <p:nvPr/>
        </p:nvSpPr>
        <p:spPr>
          <a:xfrm>
            <a:off x="2320839" y="1865792"/>
            <a:ext cx="194244" cy="697714"/>
          </a:xfrm>
          <a:prstGeom prst="down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082E-BF14-3E11-4A28-773A865FF9E9}"/>
              </a:ext>
            </a:extLst>
          </p:cNvPr>
          <p:cNvSpPr txBox="1"/>
          <p:nvPr/>
        </p:nvSpPr>
        <p:spPr>
          <a:xfrm>
            <a:off x="6324865" y="1328773"/>
            <a:ext cx="2753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EE5852E-3A9E-ACED-658A-5BDAB0404A06}"/>
              </a:ext>
            </a:extLst>
          </p:cNvPr>
          <p:cNvSpPr/>
          <p:nvPr/>
        </p:nvSpPr>
        <p:spPr>
          <a:xfrm>
            <a:off x="7604466" y="1814108"/>
            <a:ext cx="194244" cy="10653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BB361-7CAD-C9C5-94D4-08439385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Autofit/>
          </a:bodyPr>
          <a:lstStyle/>
          <a:p>
            <a:r>
              <a:rPr lang="en-US" sz="3600" dirty="0"/>
              <a:t>Mapping Spreadsheet Columns to Database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743D1-08C5-8C21-41B7-CF651505A2D1}"/>
              </a:ext>
            </a:extLst>
          </p:cNvPr>
          <p:cNvSpPr/>
          <p:nvPr/>
        </p:nvSpPr>
        <p:spPr>
          <a:xfrm>
            <a:off x="1398760" y="2933323"/>
            <a:ext cx="3508218" cy="15814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7C8B3-4A08-7881-3BD5-EF843F3A9E6C}"/>
              </a:ext>
            </a:extLst>
          </p:cNvPr>
          <p:cNvSpPr/>
          <p:nvPr/>
        </p:nvSpPr>
        <p:spPr>
          <a:xfrm>
            <a:off x="4600279" y="2778589"/>
            <a:ext cx="2321095" cy="158149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179E3-DB2C-E86C-310E-57227F55032E}"/>
              </a:ext>
            </a:extLst>
          </p:cNvPr>
          <p:cNvSpPr/>
          <p:nvPr/>
        </p:nvSpPr>
        <p:spPr>
          <a:xfrm>
            <a:off x="1436095" y="3564272"/>
            <a:ext cx="2348254" cy="128838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C068975-19A4-A1F4-291A-D604A2BA8DE8}"/>
              </a:ext>
            </a:extLst>
          </p:cNvPr>
          <p:cNvSpPr/>
          <p:nvPr/>
        </p:nvSpPr>
        <p:spPr>
          <a:xfrm rot="8625628">
            <a:off x="3846565" y="4411262"/>
            <a:ext cx="194244" cy="2122915"/>
          </a:xfrm>
          <a:prstGeom prst="downArrow">
            <a:avLst>
              <a:gd name="adj1" fmla="val 30456"/>
              <a:gd name="adj2" fmla="val 75439"/>
            </a:avLst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7070E-0EDC-0225-4E61-D405EA2EC096}"/>
              </a:ext>
            </a:extLst>
          </p:cNvPr>
          <p:cNvSpPr txBox="1"/>
          <p:nvPr/>
        </p:nvSpPr>
        <p:spPr>
          <a:xfrm>
            <a:off x="4450475" y="6231265"/>
            <a:ext cx="284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Links</a:t>
            </a:r>
          </a:p>
        </p:txBody>
      </p:sp>
    </p:spTree>
    <p:extLst>
      <p:ext uri="{BB962C8B-B14F-4D97-AF65-F5344CB8AC3E}">
        <p14:creationId xmlns:p14="http://schemas.microsoft.com/office/powerpoint/2010/main" val="25455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/>
      <p:bldP spid="11" grpId="0" animBg="1"/>
      <p:bldP spid="3" grpId="0" animBg="1"/>
      <p:bldP spid="8" grpId="0" animBg="1"/>
      <p:bldP spid="12" grpId="0" animBg="1"/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6484</TotalTime>
  <Words>666</Words>
  <Application>Microsoft Macintosh PowerPoint</Application>
  <PresentationFormat>Widescreen</PresentationFormat>
  <Paragraphs>154</Paragraphs>
  <Slides>22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URD Database Project</vt:lpstr>
      <vt:lpstr>Agenda</vt:lpstr>
      <vt:lpstr>URD Mission and Process Overview</vt:lpstr>
      <vt:lpstr>JewishGen URD Birds-Eye View</vt:lpstr>
      <vt:lpstr>URD Data Problem</vt:lpstr>
      <vt:lpstr>Proposed Solution</vt:lpstr>
      <vt:lpstr>Database Requirements</vt:lpstr>
      <vt:lpstr>Proposed Platform: NocoDB</vt:lpstr>
      <vt:lpstr>NocoDB Web App</vt:lpstr>
      <vt:lpstr>Customizable Views</vt:lpstr>
      <vt:lpstr>Database Project Goals</vt:lpstr>
      <vt:lpstr>Development Strategy</vt:lpstr>
      <vt:lpstr>Development Status</vt:lpstr>
      <vt:lpstr>Database Status</vt:lpstr>
      <vt:lpstr>Transition Steps</vt:lpstr>
      <vt:lpstr>Needs to Move Forward</vt:lpstr>
      <vt:lpstr>Needs to Move Forward</vt:lpstr>
      <vt:lpstr>Needs to Move Forward</vt:lpstr>
      <vt:lpstr>Needs to Move Forward</vt:lpstr>
      <vt:lpstr>NocoDB Cloud Hosting Plans</vt:lpstr>
      <vt:lpstr>Database Schema </vt:lpstr>
      <vt:lpstr>Mapping Spreadsheet Columns to Database 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51</cp:revision>
  <dcterms:created xsi:type="dcterms:W3CDTF">2025-09-28T01:29:04Z</dcterms:created>
  <dcterms:modified xsi:type="dcterms:W3CDTF">2026-05-29T15:50:20Z</dcterms:modified>
</cp:coreProperties>
</file>