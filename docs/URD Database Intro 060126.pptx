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80" r:id="rId2"/>
    <p:sldId id="309" r:id="rId3"/>
    <p:sldId id="292" r:id="rId4"/>
    <p:sldId id="289" r:id="rId5"/>
    <p:sldId id="290" r:id="rId6"/>
    <p:sldId id="310" r:id="rId7"/>
    <p:sldId id="258" r:id="rId8"/>
    <p:sldId id="293" r:id="rId9"/>
    <p:sldId id="297" r:id="rId10"/>
    <p:sldId id="308" r:id="rId11"/>
    <p:sldId id="3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  <a:srgbClr val="383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440"/>
    <p:restoredTop sz="94387"/>
  </p:normalViewPr>
  <p:slideViewPr>
    <p:cSldViewPr snapToGrid="0">
      <p:cViewPr varScale="1">
        <p:scale>
          <a:sx n="136" d="100"/>
          <a:sy n="136" d="100"/>
        </p:scale>
        <p:origin x="232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5D1102-9C75-4F5E-8FD1-22C7D662DB07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66080A6-160E-45F7-8A52-FED3AD6CFDD4}">
      <dgm:prSet/>
      <dgm:spPr/>
      <dgm:t>
        <a:bodyPr/>
        <a:lstStyle/>
        <a:p>
          <a:r>
            <a:rPr lang="en-US"/>
            <a:t>JewishGen IT technical contact for Birddog migration</a:t>
          </a:r>
        </a:p>
      </dgm:t>
    </dgm:pt>
    <dgm:pt modelId="{6C6D0196-2D1A-4999-8E5F-43DC35083D86}" type="parTrans" cxnId="{FD945E03-C2B2-4FB0-91A2-69096F44AD43}">
      <dgm:prSet/>
      <dgm:spPr/>
      <dgm:t>
        <a:bodyPr/>
        <a:lstStyle/>
        <a:p>
          <a:endParaRPr lang="en-US"/>
        </a:p>
      </dgm:t>
    </dgm:pt>
    <dgm:pt modelId="{F7E43CB6-CCB4-47B6-973A-D205C8D29104}" type="sibTrans" cxnId="{FD945E03-C2B2-4FB0-91A2-69096F44AD43}">
      <dgm:prSet/>
      <dgm:spPr/>
      <dgm:t>
        <a:bodyPr/>
        <a:lstStyle/>
        <a:p>
          <a:endParaRPr lang="en-US"/>
        </a:p>
      </dgm:t>
    </dgm:pt>
    <dgm:pt modelId="{51D892A9-721B-4B9D-B03B-542142FC7E58}">
      <dgm:prSet/>
      <dgm:spPr/>
      <dgm:t>
        <a:bodyPr/>
        <a:lstStyle/>
        <a:p>
          <a:r>
            <a:rPr lang="en-US"/>
            <a:t>Support to establish Nocodb Cloud Enterprise plan</a:t>
          </a:r>
        </a:p>
      </dgm:t>
    </dgm:pt>
    <dgm:pt modelId="{B5881679-6009-4518-9C85-82A300EA799D}" type="parTrans" cxnId="{C55C2035-F959-4D2E-937A-FD7396A12B4F}">
      <dgm:prSet/>
      <dgm:spPr/>
      <dgm:t>
        <a:bodyPr/>
        <a:lstStyle/>
        <a:p>
          <a:endParaRPr lang="en-US"/>
        </a:p>
      </dgm:t>
    </dgm:pt>
    <dgm:pt modelId="{4C831976-9116-4384-9497-9B105366B70C}" type="sibTrans" cxnId="{C55C2035-F959-4D2E-937A-FD7396A12B4F}">
      <dgm:prSet/>
      <dgm:spPr/>
      <dgm:t>
        <a:bodyPr/>
        <a:lstStyle/>
        <a:p>
          <a:endParaRPr lang="en-US"/>
        </a:p>
      </dgm:t>
    </dgm:pt>
    <dgm:pt modelId="{2DF6AAC8-CF3E-4FC4-9EF7-1C37A2E895AE}">
      <dgm:prSet/>
      <dgm:spPr/>
      <dgm:t>
        <a:bodyPr/>
        <a:lstStyle/>
        <a:p>
          <a:r>
            <a:rPr lang="en-US"/>
            <a:t>JewishGen IT partnership for ongoing operations</a:t>
          </a:r>
        </a:p>
      </dgm:t>
    </dgm:pt>
    <dgm:pt modelId="{D273237A-5AE4-49F6-B7AF-82037066CC35}" type="parTrans" cxnId="{519CBD99-D992-4B5A-81BA-8443366E60D0}">
      <dgm:prSet/>
      <dgm:spPr/>
      <dgm:t>
        <a:bodyPr/>
        <a:lstStyle/>
        <a:p>
          <a:endParaRPr lang="en-US"/>
        </a:p>
      </dgm:t>
    </dgm:pt>
    <dgm:pt modelId="{E9B37A89-E192-463E-953A-B145FE959D24}" type="sibTrans" cxnId="{519CBD99-D992-4B5A-81BA-8443366E60D0}">
      <dgm:prSet/>
      <dgm:spPr/>
      <dgm:t>
        <a:bodyPr/>
        <a:lstStyle/>
        <a:p>
          <a:endParaRPr lang="en-US"/>
        </a:p>
      </dgm:t>
    </dgm:pt>
    <dgm:pt modelId="{644E6C62-2FBF-CE48-B984-E4A6F046F570}" type="pres">
      <dgm:prSet presAssocID="{9A5D1102-9C75-4F5E-8FD1-22C7D662DB07}" presName="outerComposite" presStyleCnt="0">
        <dgm:presLayoutVars>
          <dgm:chMax val="5"/>
          <dgm:dir/>
          <dgm:resizeHandles val="exact"/>
        </dgm:presLayoutVars>
      </dgm:prSet>
      <dgm:spPr/>
    </dgm:pt>
    <dgm:pt modelId="{0BE30400-3D0B-914D-AAB4-5BFE905125C7}" type="pres">
      <dgm:prSet presAssocID="{9A5D1102-9C75-4F5E-8FD1-22C7D662DB07}" presName="dummyMaxCanvas" presStyleCnt="0">
        <dgm:presLayoutVars/>
      </dgm:prSet>
      <dgm:spPr/>
    </dgm:pt>
    <dgm:pt modelId="{0B797600-6463-7E4B-8906-86398685C647}" type="pres">
      <dgm:prSet presAssocID="{9A5D1102-9C75-4F5E-8FD1-22C7D662DB07}" presName="ThreeNodes_1" presStyleLbl="node1" presStyleIdx="0" presStyleCnt="3">
        <dgm:presLayoutVars>
          <dgm:bulletEnabled val="1"/>
        </dgm:presLayoutVars>
      </dgm:prSet>
      <dgm:spPr/>
    </dgm:pt>
    <dgm:pt modelId="{56834D57-A9A4-914F-B0D5-3AFB85CC70E7}" type="pres">
      <dgm:prSet presAssocID="{9A5D1102-9C75-4F5E-8FD1-22C7D662DB07}" presName="ThreeNodes_2" presStyleLbl="node1" presStyleIdx="1" presStyleCnt="3">
        <dgm:presLayoutVars>
          <dgm:bulletEnabled val="1"/>
        </dgm:presLayoutVars>
      </dgm:prSet>
      <dgm:spPr/>
    </dgm:pt>
    <dgm:pt modelId="{610E681B-C5EB-2746-9316-4443289A9DF5}" type="pres">
      <dgm:prSet presAssocID="{9A5D1102-9C75-4F5E-8FD1-22C7D662DB07}" presName="ThreeNodes_3" presStyleLbl="node1" presStyleIdx="2" presStyleCnt="3">
        <dgm:presLayoutVars>
          <dgm:bulletEnabled val="1"/>
        </dgm:presLayoutVars>
      </dgm:prSet>
      <dgm:spPr/>
    </dgm:pt>
    <dgm:pt modelId="{36E0B655-E7C7-7349-9E48-BD87C0F97E7A}" type="pres">
      <dgm:prSet presAssocID="{9A5D1102-9C75-4F5E-8FD1-22C7D662DB07}" presName="ThreeConn_1-2" presStyleLbl="fgAccFollowNode1" presStyleIdx="0" presStyleCnt="2">
        <dgm:presLayoutVars>
          <dgm:bulletEnabled val="1"/>
        </dgm:presLayoutVars>
      </dgm:prSet>
      <dgm:spPr/>
    </dgm:pt>
    <dgm:pt modelId="{29AA8B9E-65C8-8B47-BAC7-BC237C5E615A}" type="pres">
      <dgm:prSet presAssocID="{9A5D1102-9C75-4F5E-8FD1-22C7D662DB07}" presName="ThreeConn_2-3" presStyleLbl="fgAccFollowNode1" presStyleIdx="1" presStyleCnt="2">
        <dgm:presLayoutVars>
          <dgm:bulletEnabled val="1"/>
        </dgm:presLayoutVars>
      </dgm:prSet>
      <dgm:spPr/>
    </dgm:pt>
    <dgm:pt modelId="{DC2A7137-2481-9847-91AD-26A3766CA3BF}" type="pres">
      <dgm:prSet presAssocID="{9A5D1102-9C75-4F5E-8FD1-22C7D662DB07}" presName="ThreeNodes_1_text" presStyleLbl="node1" presStyleIdx="2" presStyleCnt="3">
        <dgm:presLayoutVars>
          <dgm:bulletEnabled val="1"/>
        </dgm:presLayoutVars>
      </dgm:prSet>
      <dgm:spPr/>
    </dgm:pt>
    <dgm:pt modelId="{88C0A80E-21C7-124A-8E82-ED17511F9CFD}" type="pres">
      <dgm:prSet presAssocID="{9A5D1102-9C75-4F5E-8FD1-22C7D662DB07}" presName="ThreeNodes_2_text" presStyleLbl="node1" presStyleIdx="2" presStyleCnt="3">
        <dgm:presLayoutVars>
          <dgm:bulletEnabled val="1"/>
        </dgm:presLayoutVars>
      </dgm:prSet>
      <dgm:spPr/>
    </dgm:pt>
    <dgm:pt modelId="{AE270B87-CF4F-F44B-A00B-D501B55FC0C5}" type="pres">
      <dgm:prSet presAssocID="{9A5D1102-9C75-4F5E-8FD1-22C7D662DB07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FD945E03-C2B2-4FB0-91A2-69096F44AD43}" srcId="{9A5D1102-9C75-4F5E-8FD1-22C7D662DB07}" destId="{366080A6-160E-45F7-8A52-FED3AD6CFDD4}" srcOrd="0" destOrd="0" parTransId="{6C6D0196-2D1A-4999-8E5F-43DC35083D86}" sibTransId="{F7E43CB6-CCB4-47B6-973A-D205C8D29104}"/>
    <dgm:cxn modelId="{C55C2035-F959-4D2E-937A-FD7396A12B4F}" srcId="{9A5D1102-9C75-4F5E-8FD1-22C7D662DB07}" destId="{51D892A9-721B-4B9D-B03B-542142FC7E58}" srcOrd="1" destOrd="0" parTransId="{B5881679-6009-4518-9C85-82A300EA799D}" sibTransId="{4C831976-9116-4384-9497-9B105366B70C}"/>
    <dgm:cxn modelId="{60F95139-9876-DD4E-B2F3-A52957274B96}" type="presOf" srcId="{2DF6AAC8-CF3E-4FC4-9EF7-1C37A2E895AE}" destId="{AE270B87-CF4F-F44B-A00B-D501B55FC0C5}" srcOrd="1" destOrd="0" presId="urn:microsoft.com/office/officeart/2005/8/layout/vProcess5"/>
    <dgm:cxn modelId="{E2E5FC44-C734-D54D-93D1-A76FB01C1226}" type="presOf" srcId="{366080A6-160E-45F7-8A52-FED3AD6CFDD4}" destId="{DC2A7137-2481-9847-91AD-26A3766CA3BF}" srcOrd="1" destOrd="0" presId="urn:microsoft.com/office/officeart/2005/8/layout/vProcess5"/>
    <dgm:cxn modelId="{D571BC53-8B91-C442-8639-03617BE6E38D}" type="presOf" srcId="{F7E43CB6-CCB4-47B6-973A-D205C8D29104}" destId="{36E0B655-E7C7-7349-9E48-BD87C0F97E7A}" srcOrd="0" destOrd="0" presId="urn:microsoft.com/office/officeart/2005/8/layout/vProcess5"/>
    <dgm:cxn modelId="{39373869-0F41-C540-A3E2-C38C74C6D61C}" type="presOf" srcId="{2DF6AAC8-CF3E-4FC4-9EF7-1C37A2E895AE}" destId="{610E681B-C5EB-2746-9316-4443289A9DF5}" srcOrd="0" destOrd="0" presId="urn:microsoft.com/office/officeart/2005/8/layout/vProcess5"/>
    <dgm:cxn modelId="{1C36CB78-30FD-5940-8B38-069716418944}" type="presOf" srcId="{4C831976-9116-4384-9497-9B105366B70C}" destId="{29AA8B9E-65C8-8B47-BAC7-BC237C5E615A}" srcOrd="0" destOrd="0" presId="urn:microsoft.com/office/officeart/2005/8/layout/vProcess5"/>
    <dgm:cxn modelId="{519CBD99-D992-4B5A-81BA-8443366E60D0}" srcId="{9A5D1102-9C75-4F5E-8FD1-22C7D662DB07}" destId="{2DF6AAC8-CF3E-4FC4-9EF7-1C37A2E895AE}" srcOrd="2" destOrd="0" parTransId="{D273237A-5AE4-49F6-B7AF-82037066CC35}" sibTransId="{E9B37A89-E192-463E-953A-B145FE959D24}"/>
    <dgm:cxn modelId="{CD3177C8-6F8A-094F-A4C5-DC424D528CB2}" type="presOf" srcId="{9A5D1102-9C75-4F5E-8FD1-22C7D662DB07}" destId="{644E6C62-2FBF-CE48-B984-E4A6F046F570}" srcOrd="0" destOrd="0" presId="urn:microsoft.com/office/officeart/2005/8/layout/vProcess5"/>
    <dgm:cxn modelId="{CA05E8CC-163B-F041-89A3-BA74E9E93449}" type="presOf" srcId="{51D892A9-721B-4B9D-B03B-542142FC7E58}" destId="{56834D57-A9A4-914F-B0D5-3AFB85CC70E7}" srcOrd="0" destOrd="0" presId="urn:microsoft.com/office/officeart/2005/8/layout/vProcess5"/>
    <dgm:cxn modelId="{3A8A10EE-8C5D-FF44-884F-002511E5216F}" type="presOf" srcId="{51D892A9-721B-4B9D-B03B-542142FC7E58}" destId="{88C0A80E-21C7-124A-8E82-ED17511F9CFD}" srcOrd="1" destOrd="0" presId="urn:microsoft.com/office/officeart/2005/8/layout/vProcess5"/>
    <dgm:cxn modelId="{736C29F4-2EEA-7040-AA58-5397FD02C235}" type="presOf" srcId="{366080A6-160E-45F7-8A52-FED3AD6CFDD4}" destId="{0B797600-6463-7E4B-8906-86398685C647}" srcOrd="0" destOrd="0" presId="urn:microsoft.com/office/officeart/2005/8/layout/vProcess5"/>
    <dgm:cxn modelId="{AD767B84-061C-B64B-B6A8-F684D4A6C364}" type="presParOf" srcId="{644E6C62-2FBF-CE48-B984-E4A6F046F570}" destId="{0BE30400-3D0B-914D-AAB4-5BFE905125C7}" srcOrd="0" destOrd="0" presId="urn:microsoft.com/office/officeart/2005/8/layout/vProcess5"/>
    <dgm:cxn modelId="{60B189C7-5751-464A-B072-3BAE3A23A030}" type="presParOf" srcId="{644E6C62-2FBF-CE48-B984-E4A6F046F570}" destId="{0B797600-6463-7E4B-8906-86398685C647}" srcOrd="1" destOrd="0" presId="urn:microsoft.com/office/officeart/2005/8/layout/vProcess5"/>
    <dgm:cxn modelId="{37EC89C5-AD80-2E49-891D-B5E5A26D60D4}" type="presParOf" srcId="{644E6C62-2FBF-CE48-B984-E4A6F046F570}" destId="{56834D57-A9A4-914F-B0D5-3AFB85CC70E7}" srcOrd="2" destOrd="0" presId="urn:microsoft.com/office/officeart/2005/8/layout/vProcess5"/>
    <dgm:cxn modelId="{F3D98F4F-D7ED-BC45-AB5E-AB5FFF601617}" type="presParOf" srcId="{644E6C62-2FBF-CE48-B984-E4A6F046F570}" destId="{610E681B-C5EB-2746-9316-4443289A9DF5}" srcOrd="3" destOrd="0" presId="urn:microsoft.com/office/officeart/2005/8/layout/vProcess5"/>
    <dgm:cxn modelId="{2DBD8342-299D-0A49-B054-3A8813EFFCCC}" type="presParOf" srcId="{644E6C62-2FBF-CE48-B984-E4A6F046F570}" destId="{36E0B655-E7C7-7349-9E48-BD87C0F97E7A}" srcOrd="4" destOrd="0" presId="urn:microsoft.com/office/officeart/2005/8/layout/vProcess5"/>
    <dgm:cxn modelId="{51CA3338-69E1-CE47-B184-58C67CB662C2}" type="presParOf" srcId="{644E6C62-2FBF-CE48-B984-E4A6F046F570}" destId="{29AA8B9E-65C8-8B47-BAC7-BC237C5E615A}" srcOrd="5" destOrd="0" presId="urn:microsoft.com/office/officeart/2005/8/layout/vProcess5"/>
    <dgm:cxn modelId="{65C7FE49-30D6-BA45-B959-89A849BEC73B}" type="presParOf" srcId="{644E6C62-2FBF-CE48-B984-E4A6F046F570}" destId="{DC2A7137-2481-9847-91AD-26A3766CA3BF}" srcOrd="6" destOrd="0" presId="urn:microsoft.com/office/officeart/2005/8/layout/vProcess5"/>
    <dgm:cxn modelId="{E5814DC9-0AA3-DE43-9F0A-532F7A7674F5}" type="presParOf" srcId="{644E6C62-2FBF-CE48-B984-E4A6F046F570}" destId="{88C0A80E-21C7-124A-8E82-ED17511F9CFD}" srcOrd="7" destOrd="0" presId="urn:microsoft.com/office/officeart/2005/8/layout/vProcess5"/>
    <dgm:cxn modelId="{DDED0713-DF63-474A-B050-33EC6B9FC029}" type="presParOf" srcId="{644E6C62-2FBF-CE48-B984-E4A6F046F570}" destId="{AE270B87-CF4F-F44B-A00B-D501B55FC0C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797600-6463-7E4B-8906-86398685C647}">
      <dsp:nvSpPr>
        <dsp:cNvPr id="0" name=""/>
        <dsp:cNvSpPr/>
      </dsp:nvSpPr>
      <dsp:spPr>
        <a:xfrm>
          <a:off x="0" y="0"/>
          <a:ext cx="8938260" cy="1305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JewishGen IT technical contact for Birddog migration</a:t>
          </a:r>
        </a:p>
      </dsp:txBody>
      <dsp:txXfrm>
        <a:off x="38234" y="38234"/>
        <a:ext cx="7529629" cy="1228933"/>
      </dsp:txXfrm>
    </dsp:sp>
    <dsp:sp modelId="{56834D57-A9A4-914F-B0D5-3AFB85CC70E7}">
      <dsp:nvSpPr>
        <dsp:cNvPr id="0" name=""/>
        <dsp:cNvSpPr/>
      </dsp:nvSpPr>
      <dsp:spPr>
        <a:xfrm>
          <a:off x="788669" y="1522968"/>
          <a:ext cx="8938260" cy="13054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Support to establish Nocodb Cloud Enterprise plan</a:t>
          </a:r>
        </a:p>
      </dsp:txBody>
      <dsp:txXfrm>
        <a:off x="826903" y="1561202"/>
        <a:ext cx="7224611" cy="1228933"/>
      </dsp:txXfrm>
    </dsp:sp>
    <dsp:sp modelId="{610E681B-C5EB-2746-9316-4443289A9DF5}">
      <dsp:nvSpPr>
        <dsp:cNvPr id="0" name=""/>
        <dsp:cNvSpPr/>
      </dsp:nvSpPr>
      <dsp:spPr>
        <a:xfrm>
          <a:off x="1577339" y="3045936"/>
          <a:ext cx="8938260" cy="130540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JewishGen IT partnership for ongoing operations</a:t>
          </a:r>
        </a:p>
      </dsp:txBody>
      <dsp:txXfrm>
        <a:off x="1615573" y="3084170"/>
        <a:ext cx="7224611" cy="1228933"/>
      </dsp:txXfrm>
    </dsp:sp>
    <dsp:sp modelId="{36E0B655-E7C7-7349-9E48-BD87C0F97E7A}">
      <dsp:nvSpPr>
        <dsp:cNvPr id="0" name=""/>
        <dsp:cNvSpPr/>
      </dsp:nvSpPr>
      <dsp:spPr>
        <a:xfrm>
          <a:off x="8089749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280664" y="989929"/>
        <a:ext cx="466680" cy="638504"/>
      </dsp:txXfrm>
    </dsp:sp>
    <dsp:sp modelId="{29AA8B9E-65C8-8B47-BAC7-BC237C5E615A}">
      <dsp:nvSpPr>
        <dsp:cNvPr id="0" name=""/>
        <dsp:cNvSpPr/>
      </dsp:nvSpPr>
      <dsp:spPr>
        <a:xfrm>
          <a:off x="8878419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069334" y="2504195"/>
        <a:ext cx="466680" cy="6385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824592-18D4-1E40-83A5-612DC83F068C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122F6B-794B-FB47-A697-4796376EE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68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C451-E130-F795-F360-4A2DF9683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06226-9F54-415E-7A95-1B908D383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C75C7-3BEB-9ECB-2F00-0F82F16A8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195B4-490A-42F6-F2CA-898163E16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FD4BC-A6A2-9DFA-8A5B-E575B4A0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67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6C3F0-A82B-BE87-4224-6559FDD8A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13B6A-47B7-FD4D-0B6B-D1946881D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68513-410D-5C52-86FC-4A0A0D31E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4412E-0EB1-FA7E-8864-A371D5ABE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4FDBE-1437-1D93-0695-31DAFB00B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82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60406-A648-96CF-E16B-3C1782FED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EB216-0BAF-A0EA-CC45-B15B4FECA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274F6-6338-9158-5AB1-40FC46623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039D0-45ED-3ED9-ADA3-2FCCA6F5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75588-0B19-84FF-C670-DA64C03C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10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C023-7737-59F7-4A2A-4DCDAD9CF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192D3-7CD0-F163-A348-A0A9BFD77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70A68-4BB0-7679-C97E-83A8DAD37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8ED4B-4F03-03AA-7C20-8D2AFE540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EC6F2-894E-E031-3191-C4373C639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2FD71-B51A-22CF-2853-496FB1EE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7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39D36-6872-B233-6D53-785F79E6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843D9-7B6C-CDC1-7672-B80632151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7A8B4-7F17-4F3F-016E-F25D5A968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64A36-C85D-4FB1-0C83-11DB395350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8B4ABA-8CB6-9FEA-EE5B-DDA28B04E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172189-7CCC-B7C5-37DF-C81446C9C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4A1169-A036-D242-3F50-12705C634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E28561-DEFD-0598-4A59-D08503A1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96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76B1E-2478-CF1C-EA63-E77C973EC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C5498-97BB-6487-F2A6-B271C85A5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FBB946-243E-65CF-C437-4B28ED1A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97B63-90DD-80F4-14F1-80E0CDBD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675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869ED7-6909-2A07-9759-4161232D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92CA8-4580-0EA6-0549-0BFA10E1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1FE23-1C72-70E3-9BAD-06892D8D5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45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A3C22-97DD-79BF-11EE-08327EEB6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071D-CABD-62EF-7580-8D20D4C4A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84A57-487B-1A9F-AB05-5D471A405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63006-06A2-DF55-00F7-B0F5829A4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50BF2-8EBD-28A2-ECBA-A7AB796BB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AC47C-7006-0F47-F739-252E95B02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2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D42CD-7CE1-CA2D-D03B-1DF123D81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1F329-71F0-0347-3AED-349D2E506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A3FCC-C614-1E47-F50B-910CB4C63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C24FC-DF9E-1531-5659-2C60A8864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AABAD-1115-1971-FE97-5D0C12BFD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5FA0-2B64-D346-A484-45AC5BEE2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3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1C9A9-D86F-8C94-E988-6CA20A7F1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181A7D-5769-AEAC-A08D-A80F5C54C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9B7EF-E212-1FC3-D119-4E8F28612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A401F-9BF7-26BA-E336-20D1C52E0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9BCCF-0C08-8C48-9298-6CB1B4FD6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73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4EA036-C597-DA22-045A-C300AAFEBF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D0C75-A66E-4E8E-829B-D533A9918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42942-A67E-9413-ED3A-B5D6134DB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9E362-12F4-3C53-803C-40A08DF6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5246E-C416-B91A-78BE-54EE6A80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1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50B139-5D97-E4D8-57EC-88A0F5BCC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7F61F-EC13-6DBC-F7E7-7BC1092B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F983E-D44D-E8D6-E70F-2C742CA30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B8F1D-DD19-6141-88EB-5503D68369BF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737BD-B89C-A95E-63CC-42D223C0E4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A61A4-4296-D76E-AD9A-957350309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F2432-E36D-E2DB-B99C-FF9BCF386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5062622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URD Database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FE28C4-1B4D-D171-0105-9A8A30917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June 1, 2026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1F2B7498-209B-7502-FB1E-32F3750DD6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6445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2018E1B-E0B9-4440-AFF3-4112E50A2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9CFEDF-3371-B96D-F9A1-2F5652978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4357812"/>
            <a:ext cx="10506456" cy="14855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URD Database Team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776CF2-B269-7402-2E38-A3BF1D102F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11" r="14365" b="-1"/>
          <a:stretch>
            <a:fillRect/>
          </a:stretch>
        </p:blipFill>
        <p:spPr>
          <a:xfrm>
            <a:off x="184558" y="571358"/>
            <a:ext cx="2255462" cy="31552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18C587-BC89-34BC-C30C-1E37AC5ACB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04" r="11972" b="-1"/>
          <a:stretch>
            <a:fillRect/>
          </a:stretch>
        </p:blipFill>
        <p:spPr>
          <a:xfrm>
            <a:off x="2575696" y="571358"/>
            <a:ext cx="2255462" cy="31552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6A826B-56F2-25FA-C686-8889CCE744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603" r="12825" b="-1"/>
          <a:stretch>
            <a:fillRect/>
          </a:stretch>
        </p:blipFill>
        <p:spPr>
          <a:xfrm>
            <a:off x="4966833" y="571358"/>
            <a:ext cx="2255462" cy="31552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1D97B4-B28A-AC94-17A1-BD1D891F78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034" r="17393" b="-1"/>
          <a:stretch>
            <a:fillRect/>
          </a:stretch>
        </p:blipFill>
        <p:spPr>
          <a:xfrm>
            <a:off x="7357971" y="571358"/>
            <a:ext cx="2255462" cy="3155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5E7E53-153D-265C-3276-E7DF49BE0EE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252" r="11175" b="-1"/>
          <a:stretch>
            <a:fillRect/>
          </a:stretch>
        </p:blipFill>
        <p:spPr>
          <a:xfrm>
            <a:off x="9749109" y="571358"/>
            <a:ext cx="2255462" cy="31552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F2176A-CB81-0FD3-D24D-BF113248F8F6}"/>
              </a:ext>
            </a:extLst>
          </p:cNvPr>
          <p:cNvSpPr txBox="1"/>
          <p:nvPr/>
        </p:nvSpPr>
        <p:spPr>
          <a:xfrm>
            <a:off x="424065" y="3837420"/>
            <a:ext cx="17764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Alex Zaslavsky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86D293-F0E9-DA67-4C95-77EC204D1D55}"/>
              </a:ext>
            </a:extLst>
          </p:cNvPr>
          <p:cNvSpPr txBox="1"/>
          <p:nvPr/>
        </p:nvSpPr>
        <p:spPr>
          <a:xfrm>
            <a:off x="2716362" y="3837420"/>
            <a:ext cx="19741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Oxana Fedorova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A16CE1-7379-27B2-4429-84BD7F51377F}"/>
              </a:ext>
            </a:extLst>
          </p:cNvPr>
          <p:cNvSpPr txBox="1"/>
          <p:nvPr/>
        </p:nvSpPr>
        <p:spPr>
          <a:xfrm>
            <a:off x="5158160" y="3837420"/>
            <a:ext cx="1872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Juliana Berland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B1D2DE-2902-CB3E-AE5A-5669F14B5361}"/>
              </a:ext>
            </a:extLst>
          </p:cNvPr>
          <p:cNvSpPr txBox="1"/>
          <p:nvPr/>
        </p:nvSpPr>
        <p:spPr>
          <a:xfrm>
            <a:off x="7644125" y="3837420"/>
            <a:ext cx="16831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Wendy Citron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35AAB9-14F5-D4DD-46E5-D07FA7A0E879}"/>
              </a:ext>
            </a:extLst>
          </p:cNvPr>
          <p:cNvSpPr txBox="1"/>
          <p:nvPr/>
        </p:nvSpPr>
        <p:spPr>
          <a:xfrm>
            <a:off x="10204829" y="3837420"/>
            <a:ext cx="13440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Jon Brandt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452008-66A1-36ED-5E3A-F8457F17E9A3}"/>
              </a:ext>
            </a:extLst>
          </p:cNvPr>
          <p:cNvSpPr txBox="1"/>
          <p:nvPr/>
        </p:nvSpPr>
        <p:spPr>
          <a:xfrm>
            <a:off x="710650" y="4160434"/>
            <a:ext cx="1203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Developer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79B049-514D-4747-3B12-CAD1415897FE}"/>
              </a:ext>
            </a:extLst>
          </p:cNvPr>
          <p:cNvSpPr txBox="1"/>
          <p:nvPr/>
        </p:nvSpPr>
        <p:spPr>
          <a:xfrm>
            <a:off x="2764035" y="4160434"/>
            <a:ext cx="1878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Content Checker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94452A-5EA4-DECA-D1BC-13164D746977}"/>
              </a:ext>
            </a:extLst>
          </p:cNvPr>
          <p:cNvSpPr txBox="1"/>
          <p:nvPr/>
        </p:nvSpPr>
        <p:spPr>
          <a:xfrm>
            <a:off x="5173100" y="4171720"/>
            <a:ext cx="1842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Acquisition Lead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E1573E-31EB-081F-F5BB-C0FFA23431D0}"/>
              </a:ext>
            </a:extLst>
          </p:cNvPr>
          <p:cNvSpPr txBox="1"/>
          <p:nvPr/>
        </p:nvSpPr>
        <p:spPr>
          <a:xfrm>
            <a:off x="7584973" y="4171720"/>
            <a:ext cx="1801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Project Manager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8331FF-CF6E-04FD-EBB6-BADEE8685330}"/>
              </a:ext>
            </a:extLst>
          </p:cNvPr>
          <p:cNvSpPr txBox="1"/>
          <p:nvPr/>
        </p:nvSpPr>
        <p:spPr>
          <a:xfrm>
            <a:off x="10275201" y="4149042"/>
            <a:ext cx="1203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Developer</a:t>
            </a:r>
          </a:p>
        </p:txBody>
      </p:sp>
    </p:spTree>
    <p:extLst>
      <p:ext uri="{BB962C8B-B14F-4D97-AF65-F5344CB8AC3E}">
        <p14:creationId xmlns:p14="http://schemas.microsoft.com/office/powerpoint/2010/main" val="3206715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854FD-5C9A-A4AB-9F2D-8BA1AC5A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7CEBB-AB90-BD96-6D87-0967EDD5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386" y="535242"/>
            <a:ext cx="4376337" cy="1872775"/>
          </a:xfrm>
        </p:spPr>
        <p:txBody>
          <a:bodyPr anchor="b">
            <a:normAutofit fontScale="90000"/>
          </a:bodyPr>
          <a:lstStyle/>
          <a:p>
            <a:r>
              <a:rPr lang="en-US" sz="4800" dirty="0" err="1">
                <a:solidFill>
                  <a:schemeClr val="tx2"/>
                </a:solidFill>
              </a:rPr>
              <a:t>JewishGen</a:t>
            </a:r>
            <a:r>
              <a:rPr lang="en-US" sz="4800" dirty="0">
                <a:solidFill>
                  <a:schemeClr val="tx2"/>
                </a:solidFill>
              </a:rPr>
              <a:t> URD</a:t>
            </a:r>
            <a:br>
              <a:rPr lang="en-US" sz="4800" dirty="0">
                <a:solidFill>
                  <a:schemeClr val="tx2"/>
                </a:solidFill>
              </a:rPr>
            </a:br>
            <a:r>
              <a:rPr lang="en-US" sz="4800" dirty="0">
                <a:solidFill>
                  <a:schemeClr val="tx2"/>
                </a:solidFill>
              </a:rPr>
              <a:t>Acquisition</a:t>
            </a:r>
            <a:br>
              <a:rPr lang="en-US" sz="4800" dirty="0">
                <a:solidFill>
                  <a:schemeClr val="tx2"/>
                </a:solidFill>
              </a:rPr>
            </a:br>
            <a:r>
              <a:rPr lang="en-US" sz="4800" dirty="0">
                <a:solidFill>
                  <a:schemeClr val="tx2"/>
                </a:solidFill>
              </a:rPr>
              <a:t>Birds-Eye View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892516-064C-67A6-8FAF-13BA7BCAF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22" y="3069549"/>
            <a:ext cx="3047754" cy="1820430"/>
          </a:xfrm>
          <a:prstGeom prst="rect">
            <a:avLst/>
          </a:prstGeom>
        </p:spPr>
      </p:pic>
      <p:pic>
        <p:nvPicPr>
          <p:cNvPr id="15" name="Picture 14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6871A744-B639-4431-4630-9763C0021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390" y="5064485"/>
            <a:ext cx="1025239" cy="833779"/>
          </a:xfrm>
          <a:prstGeom prst="rect">
            <a:avLst/>
          </a:prstGeom>
        </p:spPr>
      </p:pic>
      <p:sp>
        <p:nvSpPr>
          <p:cNvPr id="17" name="Right Arrow 16">
            <a:extLst>
              <a:ext uri="{FF2B5EF4-FFF2-40B4-BE49-F238E27FC236}">
                <a16:creationId xmlns:a16="http://schemas.microsoft.com/office/drawing/2014/main" id="{B5569AD7-5253-9D0D-D326-0D3E381FCC7C}"/>
              </a:ext>
            </a:extLst>
          </p:cNvPr>
          <p:cNvSpPr/>
          <p:nvPr/>
        </p:nvSpPr>
        <p:spPr>
          <a:xfrm rot="20348449">
            <a:off x="4152734" y="5063592"/>
            <a:ext cx="875224" cy="232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Bent-Up Arrow 2">
            <a:extLst>
              <a:ext uri="{FF2B5EF4-FFF2-40B4-BE49-F238E27FC236}">
                <a16:creationId xmlns:a16="http://schemas.microsoft.com/office/drawing/2014/main" id="{2A669B34-53B2-75F6-4B8D-891A9406DD00}"/>
              </a:ext>
            </a:extLst>
          </p:cNvPr>
          <p:cNvSpPr/>
          <p:nvPr/>
        </p:nvSpPr>
        <p:spPr>
          <a:xfrm rot="5400000">
            <a:off x="1957839" y="5139592"/>
            <a:ext cx="589538" cy="568552"/>
          </a:xfrm>
          <a:prstGeom prst="bentUpArrow">
            <a:avLst>
              <a:gd name="adj1" fmla="val 23191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787E0B-954C-00E1-3614-87C33B023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199" y="1280669"/>
            <a:ext cx="2787450" cy="1370367"/>
          </a:xfrm>
          <a:prstGeom prst="rect">
            <a:avLst/>
          </a:prstGeom>
        </p:spPr>
      </p:pic>
      <p:sp>
        <p:nvSpPr>
          <p:cNvPr id="12" name="Cloud 11">
            <a:extLst>
              <a:ext uri="{FF2B5EF4-FFF2-40B4-BE49-F238E27FC236}">
                <a16:creationId xmlns:a16="http://schemas.microsoft.com/office/drawing/2014/main" id="{140754D1-3F7F-3945-21AD-09830E85593B}"/>
              </a:ext>
            </a:extLst>
          </p:cNvPr>
          <p:cNvSpPr/>
          <p:nvPr/>
        </p:nvSpPr>
        <p:spPr>
          <a:xfrm>
            <a:off x="4989874" y="80863"/>
            <a:ext cx="7202126" cy="5790538"/>
          </a:xfrm>
          <a:prstGeom prst="cloud">
            <a:avLst/>
          </a:prstGeom>
          <a:solidFill>
            <a:srgbClr val="E8E8E8">
              <a:alpha val="2902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EC320CD-5237-5299-0C70-F10D1CC64A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4109" y="2725786"/>
            <a:ext cx="5159156" cy="2214815"/>
          </a:xfrm>
          <a:prstGeom prst="rect">
            <a:avLst/>
          </a:prstGeom>
        </p:spPr>
      </p:pic>
      <p:pic>
        <p:nvPicPr>
          <p:cNvPr id="16" name="Picture 15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F56BDE08-5E77-9F60-CC0E-684AD741B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022" y="6064510"/>
            <a:ext cx="721452" cy="586723"/>
          </a:xfrm>
          <a:prstGeom prst="rect">
            <a:avLst/>
          </a:prstGeom>
        </p:spPr>
      </p:pic>
      <p:pic>
        <p:nvPicPr>
          <p:cNvPr id="18" name="Picture 17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9D2C117C-F8FF-D656-313F-8740BFF69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67" y="6059297"/>
            <a:ext cx="721452" cy="586723"/>
          </a:xfrm>
          <a:prstGeom prst="rect">
            <a:avLst/>
          </a:prstGeom>
        </p:spPr>
      </p:pic>
      <p:pic>
        <p:nvPicPr>
          <p:cNvPr id="19" name="Picture 18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222B890F-2985-9135-C7EA-F3C50389D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4505" y="5687564"/>
            <a:ext cx="721452" cy="586723"/>
          </a:xfrm>
          <a:prstGeom prst="rect">
            <a:avLst/>
          </a:prstGeom>
        </p:spPr>
      </p:pic>
      <p:sp>
        <p:nvSpPr>
          <p:cNvPr id="20" name="Left-Right Arrow 19">
            <a:extLst>
              <a:ext uri="{FF2B5EF4-FFF2-40B4-BE49-F238E27FC236}">
                <a16:creationId xmlns:a16="http://schemas.microsoft.com/office/drawing/2014/main" id="{3CBAEFD3-FE10-F1F4-6D93-81DDC333C624}"/>
              </a:ext>
            </a:extLst>
          </p:cNvPr>
          <p:cNvSpPr/>
          <p:nvPr/>
        </p:nvSpPr>
        <p:spPr>
          <a:xfrm rot="3136357">
            <a:off x="9913560" y="4956227"/>
            <a:ext cx="859853" cy="265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-Right Arrow 23">
            <a:extLst>
              <a:ext uri="{FF2B5EF4-FFF2-40B4-BE49-F238E27FC236}">
                <a16:creationId xmlns:a16="http://schemas.microsoft.com/office/drawing/2014/main" id="{07D5C28A-5EDD-E5AA-4030-B95139BD1CAD}"/>
              </a:ext>
            </a:extLst>
          </p:cNvPr>
          <p:cNvSpPr/>
          <p:nvPr/>
        </p:nvSpPr>
        <p:spPr>
          <a:xfrm rot="4660625">
            <a:off x="8453761" y="5209418"/>
            <a:ext cx="859853" cy="265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-Right Arrow 24">
            <a:extLst>
              <a:ext uri="{FF2B5EF4-FFF2-40B4-BE49-F238E27FC236}">
                <a16:creationId xmlns:a16="http://schemas.microsoft.com/office/drawing/2014/main" id="{EDE47C4D-5338-E97A-356C-A0CDD2AA47EC}"/>
              </a:ext>
            </a:extLst>
          </p:cNvPr>
          <p:cNvSpPr/>
          <p:nvPr/>
        </p:nvSpPr>
        <p:spPr>
          <a:xfrm rot="3957520">
            <a:off x="9213068" y="5261193"/>
            <a:ext cx="859853" cy="265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730860C-5A57-5872-E7B0-BF1DDC5D6DB5}"/>
              </a:ext>
            </a:extLst>
          </p:cNvPr>
          <p:cNvGrpSpPr/>
          <p:nvPr/>
        </p:nvGrpSpPr>
        <p:grpSpPr>
          <a:xfrm>
            <a:off x="8096777" y="855482"/>
            <a:ext cx="3137747" cy="1553018"/>
            <a:chOff x="4584873" y="4735296"/>
            <a:chExt cx="3137747" cy="1553018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3BD02FA-FFE3-8832-5EAC-3FE9058D0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41841" y="4865391"/>
              <a:ext cx="1660793" cy="712975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FE6EC4F-DC0F-B4C6-2CF0-9ECB35BE5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84873" y="5151279"/>
              <a:ext cx="1660793" cy="71297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0A817E49-32BA-426C-FFC8-EE920FED9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37935" y="5575339"/>
              <a:ext cx="1660793" cy="712975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4F01611-32A1-8C3E-F49C-4ABB767E9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61827" y="4735296"/>
              <a:ext cx="1660793" cy="712975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7DE728E-49D5-8E0E-885D-C7A7407FE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27822" y="5176347"/>
              <a:ext cx="1660793" cy="712975"/>
            </a:xfrm>
            <a:prstGeom prst="rect">
              <a:avLst/>
            </a:prstGeom>
          </p:spPr>
        </p:pic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54586E6B-EF32-AA41-A051-CAE90E1E43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9805" y="374585"/>
            <a:ext cx="643977" cy="712975"/>
          </a:xfrm>
          <a:prstGeom prst="rect">
            <a:avLst/>
          </a:prstGeom>
        </p:spPr>
      </p:pic>
      <p:pic>
        <p:nvPicPr>
          <p:cNvPr id="35" name="Picture 34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F59BB0C7-0687-A57E-D305-757584182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256" y="5992158"/>
            <a:ext cx="721452" cy="586723"/>
          </a:xfrm>
          <a:prstGeom prst="rect">
            <a:avLst/>
          </a:prstGeom>
        </p:spPr>
      </p:pic>
      <p:pic>
        <p:nvPicPr>
          <p:cNvPr id="36" name="Picture 35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5C265BCF-CDFA-2ED1-397B-8CB1A7530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661" y="5871401"/>
            <a:ext cx="721452" cy="586723"/>
          </a:xfrm>
          <a:prstGeom prst="rect">
            <a:avLst/>
          </a:prstGeom>
        </p:spPr>
      </p:pic>
      <p:pic>
        <p:nvPicPr>
          <p:cNvPr id="37" name="Picture 36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9FAE5461-55F2-E90D-3B13-EC642EF57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841" y="6097930"/>
            <a:ext cx="721452" cy="586723"/>
          </a:xfrm>
          <a:prstGeom prst="rect">
            <a:avLst/>
          </a:prstGeom>
        </p:spPr>
      </p:pic>
      <p:sp>
        <p:nvSpPr>
          <p:cNvPr id="38" name="Left-Right Arrow 37">
            <a:extLst>
              <a:ext uri="{FF2B5EF4-FFF2-40B4-BE49-F238E27FC236}">
                <a16:creationId xmlns:a16="http://schemas.microsoft.com/office/drawing/2014/main" id="{C0FC1311-9485-D7A8-59C5-BA796D239E1B}"/>
              </a:ext>
            </a:extLst>
          </p:cNvPr>
          <p:cNvSpPr/>
          <p:nvPr/>
        </p:nvSpPr>
        <p:spPr>
          <a:xfrm rot="7126337">
            <a:off x="6204145" y="5556038"/>
            <a:ext cx="859853" cy="265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Left-Right Arrow 38">
            <a:extLst>
              <a:ext uri="{FF2B5EF4-FFF2-40B4-BE49-F238E27FC236}">
                <a16:creationId xmlns:a16="http://schemas.microsoft.com/office/drawing/2014/main" id="{FFD1B384-8D38-8A59-C851-A06B1B510874}"/>
              </a:ext>
            </a:extLst>
          </p:cNvPr>
          <p:cNvSpPr/>
          <p:nvPr/>
        </p:nvSpPr>
        <p:spPr>
          <a:xfrm rot="5887104">
            <a:off x="7443205" y="5431898"/>
            <a:ext cx="859853" cy="265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6CA0E6F-3155-F8BF-7242-6B00E249E543}"/>
              </a:ext>
            </a:extLst>
          </p:cNvPr>
          <p:cNvGrpSpPr/>
          <p:nvPr/>
        </p:nvGrpSpPr>
        <p:grpSpPr>
          <a:xfrm>
            <a:off x="9442799" y="1397760"/>
            <a:ext cx="2219966" cy="1098765"/>
            <a:chOff x="4584873" y="4735296"/>
            <a:chExt cx="3137747" cy="155301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1C1F8F9-1BC1-E63B-E3B6-6D913C7F0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41841" y="4865391"/>
              <a:ext cx="1660793" cy="71297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31C2582-3B3D-A9D5-FCB9-CECB7D75A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84873" y="5151279"/>
              <a:ext cx="1660793" cy="71297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AC8B862-002F-6D1E-A949-69E4AD87E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37935" y="5575339"/>
              <a:ext cx="1660793" cy="71297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E08B8B1-C0D9-2EF1-E985-6E87EA36C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61827" y="4735296"/>
              <a:ext cx="1660793" cy="712975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EA1D2E7-2DB6-6C03-DA25-EBE081361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27822" y="5176347"/>
              <a:ext cx="1660793" cy="712975"/>
            </a:xfrm>
            <a:prstGeom prst="rect">
              <a:avLst/>
            </a:prstGeom>
          </p:spPr>
        </p:pic>
      </p:grp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060A7D-CFFE-F2F8-9AAB-5E481AD47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8" y="2606691"/>
            <a:ext cx="3047754" cy="1820430"/>
          </a:xfrm>
          <a:prstGeom prst="rect">
            <a:avLst/>
          </a:prstGeom>
        </p:spPr>
      </p:pic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379468-FD34-E439-E1FC-249DB2C89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937" y="2852583"/>
            <a:ext cx="3047754" cy="182043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356F72-A3CF-97D4-9C21-DA869567E66F}"/>
              </a:ext>
            </a:extLst>
          </p:cNvPr>
          <p:cNvSpPr/>
          <p:nvPr/>
        </p:nvSpPr>
        <p:spPr>
          <a:xfrm>
            <a:off x="216816" y="2214237"/>
            <a:ext cx="5260157" cy="424388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7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66C2B-5312-4935-9340-135D74108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0EA09-9B36-B978-FC65-58BAD2155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Existing Administrator Workflow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57E4D3-AB34-EDD7-7B15-DA8AD3036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57" y="2329159"/>
            <a:ext cx="3669831" cy="2192000"/>
          </a:xfrm>
          <a:prstGeom prst="rect">
            <a:avLst/>
          </a:prstGeom>
        </p:spPr>
      </p:pic>
      <p:pic>
        <p:nvPicPr>
          <p:cNvPr id="13" name="Picture 12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C4F420CD-9B3F-8DFE-9F19-B0AF99791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016" y="3278321"/>
            <a:ext cx="3098427" cy="2787696"/>
          </a:xfrm>
          <a:prstGeom prst="rect">
            <a:avLst/>
          </a:prstGeom>
        </p:spPr>
      </p:pic>
      <p:pic>
        <p:nvPicPr>
          <p:cNvPr id="15" name="Picture 14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0798792F-3AAE-34F7-626F-A9ABC608D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175" y="3186449"/>
            <a:ext cx="1918447" cy="1560183"/>
          </a:xfrm>
          <a:prstGeom prst="rect">
            <a:avLst/>
          </a:prstGeom>
        </p:spPr>
      </p:pic>
      <p:sp>
        <p:nvSpPr>
          <p:cNvPr id="16" name="Right Arrow 15">
            <a:extLst>
              <a:ext uri="{FF2B5EF4-FFF2-40B4-BE49-F238E27FC236}">
                <a16:creationId xmlns:a16="http://schemas.microsoft.com/office/drawing/2014/main" id="{579C8C13-E318-5F03-F184-5F851D978D0B}"/>
              </a:ext>
            </a:extLst>
          </p:cNvPr>
          <p:cNvSpPr/>
          <p:nvPr/>
        </p:nvSpPr>
        <p:spPr>
          <a:xfrm>
            <a:off x="4531977" y="3751892"/>
            <a:ext cx="722301" cy="4105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75BB4F27-0E2F-3103-1F20-3422768DE702}"/>
              </a:ext>
            </a:extLst>
          </p:cNvPr>
          <p:cNvSpPr/>
          <p:nvPr/>
        </p:nvSpPr>
        <p:spPr>
          <a:xfrm>
            <a:off x="7513983" y="3754551"/>
            <a:ext cx="649136" cy="4105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793C8A-6753-1FF0-BB22-B9EB9DF797D0}"/>
              </a:ext>
            </a:extLst>
          </p:cNvPr>
          <p:cNvSpPr txBox="1"/>
          <p:nvPr/>
        </p:nvSpPr>
        <p:spPr>
          <a:xfrm rot="19575581">
            <a:off x="4819304" y="2125896"/>
            <a:ext cx="1838112" cy="9226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10,000+ changes per month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A71FC5-E501-1BC3-90A5-07937515F344}"/>
              </a:ext>
            </a:extLst>
          </p:cNvPr>
          <p:cNvSpPr txBox="1"/>
          <p:nvPr/>
        </p:nvSpPr>
        <p:spPr>
          <a:xfrm rot="867319">
            <a:off x="4345913" y="4987200"/>
            <a:ext cx="1683068" cy="9233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150,000+ pages to track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890610-D1DB-A220-1D68-3CDA315423B5}"/>
              </a:ext>
            </a:extLst>
          </p:cNvPr>
          <p:cNvSpPr txBox="1"/>
          <p:nvPr/>
        </p:nvSpPr>
        <p:spPr>
          <a:xfrm>
            <a:off x="709556" y="4628668"/>
            <a:ext cx="36698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uk.wikisource.org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A75D8-CCFB-0116-63A4-C8D49203BA68}"/>
              </a:ext>
            </a:extLst>
          </p:cNvPr>
          <p:cNvSpPr txBox="1"/>
          <p:nvPr/>
        </p:nvSpPr>
        <p:spPr>
          <a:xfrm>
            <a:off x="5746312" y="3194453"/>
            <a:ext cx="585325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5400" dirty="0"/>
              <a:t>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E97999-1B7B-FF92-12CE-6C0A2CD7E79D}"/>
              </a:ext>
            </a:extLst>
          </p:cNvPr>
          <p:cNvSpPr txBox="1"/>
          <p:nvPr/>
        </p:nvSpPr>
        <p:spPr>
          <a:xfrm rot="1805804">
            <a:off x="7020594" y="2283227"/>
            <a:ext cx="2260653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Overwhelming email notifications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6AFDCB-72D2-1661-F80A-3550DAF158DF}"/>
              </a:ext>
            </a:extLst>
          </p:cNvPr>
          <p:cNvSpPr txBox="1"/>
          <p:nvPr/>
        </p:nvSpPr>
        <p:spPr>
          <a:xfrm rot="19387863">
            <a:off x="6383961" y="4697148"/>
            <a:ext cx="1792931" cy="9233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Copy/paste by the 100’s or 1,000’s</a:t>
            </a:r>
          </a:p>
        </p:txBody>
      </p:sp>
    </p:spTree>
    <p:extLst>
      <p:ext uri="{BB962C8B-B14F-4D97-AF65-F5344CB8AC3E}">
        <p14:creationId xmlns:p14="http://schemas.microsoft.com/office/powerpoint/2010/main" val="2912252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3" grpId="0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FA54A-C01C-3014-807B-2D7D1F263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A873E-BE99-9B28-3ABF-BE1AF950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Birddog-Assisted Workflow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4DB04B-1867-6444-7252-54FC301FD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09" y="1876280"/>
            <a:ext cx="2872372" cy="1715675"/>
          </a:xfrm>
          <a:prstGeom prst="rect">
            <a:avLst/>
          </a:prstGeom>
        </p:spPr>
      </p:pic>
      <p:pic>
        <p:nvPicPr>
          <p:cNvPr id="13" name="Picture 12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B277CA6D-1D83-3535-F9CD-06C7296CF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157" y="3399177"/>
            <a:ext cx="3098427" cy="2787696"/>
          </a:xfrm>
          <a:prstGeom prst="rect">
            <a:avLst/>
          </a:prstGeom>
        </p:spPr>
      </p:pic>
      <p:pic>
        <p:nvPicPr>
          <p:cNvPr id="6" name="Picture 5" descr="A screenshot of a web page&#10;&#10;AI-generated content may be incorrect.">
            <a:extLst>
              <a:ext uri="{FF2B5EF4-FFF2-40B4-BE49-F238E27FC236}">
                <a16:creationId xmlns:a16="http://schemas.microsoft.com/office/drawing/2014/main" id="{11B501C2-29D1-8FB7-9FEA-E66D575AF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529" y="3876063"/>
            <a:ext cx="3868743" cy="2310809"/>
          </a:xfrm>
          <a:prstGeom prst="rect">
            <a:avLst/>
          </a:prstGeom>
        </p:spPr>
      </p:pic>
      <p:pic>
        <p:nvPicPr>
          <p:cNvPr id="15" name="Picture 14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FABA21F3-D50C-AD0F-CB97-FD96459B7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490" y="1900518"/>
            <a:ext cx="1585319" cy="1289266"/>
          </a:xfrm>
          <a:prstGeom prst="rect">
            <a:avLst/>
          </a:prstGeom>
        </p:spPr>
      </p:pic>
      <p:sp>
        <p:nvSpPr>
          <p:cNvPr id="17" name="Right Arrow 16">
            <a:extLst>
              <a:ext uri="{FF2B5EF4-FFF2-40B4-BE49-F238E27FC236}">
                <a16:creationId xmlns:a16="http://schemas.microsoft.com/office/drawing/2014/main" id="{33A137F3-A86D-2615-5017-C422888A9494}"/>
              </a:ext>
            </a:extLst>
          </p:cNvPr>
          <p:cNvSpPr/>
          <p:nvPr/>
        </p:nvSpPr>
        <p:spPr>
          <a:xfrm>
            <a:off x="7320646" y="4596121"/>
            <a:ext cx="649136" cy="4105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Bent-Up Arrow 2">
            <a:extLst>
              <a:ext uri="{FF2B5EF4-FFF2-40B4-BE49-F238E27FC236}">
                <a16:creationId xmlns:a16="http://schemas.microsoft.com/office/drawing/2014/main" id="{3DBD3FB2-A636-7B1C-0930-AFF1A2CDA366}"/>
              </a:ext>
            </a:extLst>
          </p:cNvPr>
          <p:cNvSpPr/>
          <p:nvPr/>
        </p:nvSpPr>
        <p:spPr>
          <a:xfrm rot="5400000">
            <a:off x="2142542" y="3892288"/>
            <a:ext cx="911598" cy="879148"/>
          </a:xfrm>
          <a:prstGeom prst="bentUpArrow">
            <a:avLst>
              <a:gd name="adj1" fmla="val 23191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Up-Down Arrow 4">
            <a:extLst>
              <a:ext uri="{FF2B5EF4-FFF2-40B4-BE49-F238E27FC236}">
                <a16:creationId xmlns:a16="http://schemas.microsoft.com/office/drawing/2014/main" id="{25B63EB2-C702-1E6E-A281-DED96ABB612E}"/>
              </a:ext>
            </a:extLst>
          </p:cNvPr>
          <p:cNvSpPr/>
          <p:nvPr/>
        </p:nvSpPr>
        <p:spPr>
          <a:xfrm>
            <a:off x="4720432" y="2981937"/>
            <a:ext cx="413468" cy="91159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286675-6BDB-DA16-1F7B-91E1A90E7BF4}"/>
              </a:ext>
            </a:extLst>
          </p:cNvPr>
          <p:cNvSpPr txBox="1"/>
          <p:nvPr/>
        </p:nvSpPr>
        <p:spPr>
          <a:xfrm>
            <a:off x="4154556" y="1908469"/>
            <a:ext cx="499256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400" dirty="0"/>
              <a:t>😊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6CA9FB-8783-7745-C805-4E4B1418814E}"/>
              </a:ext>
            </a:extLst>
          </p:cNvPr>
          <p:cNvSpPr txBox="1"/>
          <p:nvPr/>
        </p:nvSpPr>
        <p:spPr>
          <a:xfrm rot="1876922">
            <a:off x="5842642" y="2491945"/>
            <a:ext cx="1838112" cy="646331"/>
          </a:xfrm>
          <a:prstGeom prst="rect">
            <a:avLst/>
          </a:prstGeom>
          <a:solidFill>
            <a:srgbClr val="D1E7DE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Consolidated change alerts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DE5966-D79F-D170-F4A8-AB67ABD62494}"/>
              </a:ext>
            </a:extLst>
          </p:cNvPr>
          <p:cNvSpPr txBox="1"/>
          <p:nvPr/>
        </p:nvSpPr>
        <p:spPr>
          <a:xfrm rot="335984">
            <a:off x="7271272" y="1976555"/>
            <a:ext cx="1901770" cy="646331"/>
          </a:xfrm>
          <a:prstGeom prst="rect">
            <a:avLst/>
          </a:prstGeom>
          <a:solidFill>
            <a:srgbClr val="D1E7DE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Streamlined change review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1E16F2-2C4A-55F5-695F-E10956E8DF1B}"/>
              </a:ext>
            </a:extLst>
          </p:cNvPr>
          <p:cNvSpPr txBox="1"/>
          <p:nvPr/>
        </p:nvSpPr>
        <p:spPr>
          <a:xfrm rot="20912755">
            <a:off x="8342886" y="981654"/>
            <a:ext cx="1838112" cy="646331"/>
          </a:xfrm>
          <a:prstGeom prst="rect">
            <a:avLst/>
          </a:prstGeom>
          <a:solidFill>
            <a:srgbClr val="D1E7DE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Built-in translation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00F4F9-F8AF-8CA3-BF22-D938DF644A24}"/>
              </a:ext>
            </a:extLst>
          </p:cNvPr>
          <p:cNvSpPr txBox="1"/>
          <p:nvPr/>
        </p:nvSpPr>
        <p:spPr>
          <a:xfrm rot="20250580">
            <a:off x="9570977" y="1809423"/>
            <a:ext cx="1838112" cy="923330"/>
          </a:xfrm>
          <a:prstGeom prst="rect">
            <a:avLst/>
          </a:prstGeom>
          <a:solidFill>
            <a:srgbClr val="D1E7DE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Automated spreadsheet generation</a:t>
            </a:r>
          </a:p>
        </p:txBody>
      </p:sp>
    </p:spTree>
    <p:extLst>
      <p:ext uri="{BB962C8B-B14F-4D97-AF65-F5344CB8AC3E}">
        <p14:creationId xmlns:p14="http://schemas.microsoft.com/office/powerpoint/2010/main" val="297240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" grpId="0" animBg="1"/>
      <p:bldP spid="5" grpId="0" animBg="1"/>
      <p:bldP spid="11" grpId="0"/>
      <p:bldP spid="14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459AF-795D-8343-04B1-59B549EC9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0B939-71BC-A9BC-74F7-3D013B70D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386" y="535242"/>
            <a:ext cx="4376337" cy="1872775"/>
          </a:xfrm>
        </p:spPr>
        <p:txBody>
          <a:bodyPr anchor="b">
            <a:normAutofit fontScale="90000"/>
          </a:bodyPr>
          <a:lstStyle/>
          <a:p>
            <a:r>
              <a:rPr lang="en-US" sz="4800" dirty="0" err="1">
                <a:solidFill>
                  <a:schemeClr val="tx2"/>
                </a:solidFill>
              </a:rPr>
              <a:t>JewishGen</a:t>
            </a:r>
            <a:r>
              <a:rPr lang="en-US" sz="4800" dirty="0">
                <a:solidFill>
                  <a:schemeClr val="tx2"/>
                </a:solidFill>
              </a:rPr>
              <a:t> URD</a:t>
            </a:r>
            <a:br>
              <a:rPr lang="en-US" sz="4800" dirty="0">
                <a:solidFill>
                  <a:schemeClr val="tx2"/>
                </a:solidFill>
              </a:rPr>
            </a:br>
            <a:r>
              <a:rPr lang="en-US" sz="4800" dirty="0">
                <a:solidFill>
                  <a:schemeClr val="tx2"/>
                </a:solidFill>
              </a:rPr>
              <a:t>Acquisition</a:t>
            </a:r>
            <a:br>
              <a:rPr lang="en-US" sz="4800" dirty="0">
                <a:solidFill>
                  <a:schemeClr val="tx2"/>
                </a:solidFill>
              </a:rPr>
            </a:br>
            <a:r>
              <a:rPr lang="en-US" sz="4800" dirty="0">
                <a:solidFill>
                  <a:schemeClr val="tx2"/>
                </a:solidFill>
              </a:rPr>
              <a:t>Birds-Eye View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18C930-A96A-DBCB-D999-8E2C9E3E2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22" y="3069549"/>
            <a:ext cx="3047754" cy="1820430"/>
          </a:xfrm>
          <a:prstGeom prst="rect">
            <a:avLst/>
          </a:prstGeom>
        </p:spPr>
      </p:pic>
      <p:pic>
        <p:nvPicPr>
          <p:cNvPr id="15" name="Picture 14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1FABD920-AB02-8828-0272-4C81DD7E2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390" y="5064485"/>
            <a:ext cx="1025239" cy="833779"/>
          </a:xfrm>
          <a:prstGeom prst="rect">
            <a:avLst/>
          </a:prstGeom>
        </p:spPr>
      </p:pic>
      <p:sp>
        <p:nvSpPr>
          <p:cNvPr id="17" name="Right Arrow 16">
            <a:extLst>
              <a:ext uri="{FF2B5EF4-FFF2-40B4-BE49-F238E27FC236}">
                <a16:creationId xmlns:a16="http://schemas.microsoft.com/office/drawing/2014/main" id="{89DC6DC8-36CA-AB82-BBE3-131F4C315C88}"/>
              </a:ext>
            </a:extLst>
          </p:cNvPr>
          <p:cNvSpPr/>
          <p:nvPr/>
        </p:nvSpPr>
        <p:spPr>
          <a:xfrm rot="20348449">
            <a:off x="4152734" y="5063592"/>
            <a:ext cx="875224" cy="232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Bent-Up Arrow 2">
            <a:extLst>
              <a:ext uri="{FF2B5EF4-FFF2-40B4-BE49-F238E27FC236}">
                <a16:creationId xmlns:a16="http://schemas.microsoft.com/office/drawing/2014/main" id="{FF1D1E5E-964B-244A-7C24-2ED024864CB4}"/>
              </a:ext>
            </a:extLst>
          </p:cNvPr>
          <p:cNvSpPr/>
          <p:nvPr/>
        </p:nvSpPr>
        <p:spPr>
          <a:xfrm rot="5400000">
            <a:off x="1957839" y="5139592"/>
            <a:ext cx="589538" cy="568552"/>
          </a:xfrm>
          <a:prstGeom prst="bentUpArrow">
            <a:avLst>
              <a:gd name="adj1" fmla="val 23191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E8D5F6-AF59-36C7-81F6-9A299376D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199" y="1280669"/>
            <a:ext cx="2787450" cy="1370367"/>
          </a:xfrm>
          <a:prstGeom prst="rect">
            <a:avLst/>
          </a:prstGeom>
        </p:spPr>
      </p:pic>
      <p:sp>
        <p:nvSpPr>
          <p:cNvPr id="12" name="Cloud 11">
            <a:extLst>
              <a:ext uri="{FF2B5EF4-FFF2-40B4-BE49-F238E27FC236}">
                <a16:creationId xmlns:a16="http://schemas.microsoft.com/office/drawing/2014/main" id="{D19DD038-97F8-8EF7-011E-46BCF226F934}"/>
              </a:ext>
            </a:extLst>
          </p:cNvPr>
          <p:cNvSpPr/>
          <p:nvPr/>
        </p:nvSpPr>
        <p:spPr>
          <a:xfrm>
            <a:off x="4989874" y="80863"/>
            <a:ext cx="7202126" cy="5790538"/>
          </a:xfrm>
          <a:prstGeom prst="cloud">
            <a:avLst/>
          </a:prstGeom>
          <a:solidFill>
            <a:srgbClr val="E8E8E8">
              <a:alpha val="2902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E68413D-6814-9B4F-3457-E72C8315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4109" y="2725786"/>
            <a:ext cx="5159156" cy="2214815"/>
          </a:xfrm>
          <a:prstGeom prst="rect">
            <a:avLst/>
          </a:prstGeom>
        </p:spPr>
      </p:pic>
      <p:pic>
        <p:nvPicPr>
          <p:cNvPr id="16" name="Picture 15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6B0C901A-76DA-76ED-59A1-187EE22B4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022" y="6064510"/>
            <a:ext cx="721452" cy="586723"/>
          </a:xfrm>
          <a:prstGeom prst="rect">
            <a:avLst/>
          </a:prstGeom>
        </p:spPr>
      </p:pic>
      <p:pic>
        <p:nvPicPr>
          <p:cNvPr id="18" name="Picture 17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E87BBD98-F3C4-4B73-0401-5E0F8E20B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67" y="6059297"/>
            <a:ext cx="721452" cy="586723"/>
          </a:xfrm>
          <a:prstGeom prst="rect">
            <a:avLst/>
          </a:prstGeom>
        </p:spPr>
      </p:pic>
      <p:pic>
        <p:nvPicPr>
          <p:cNvPr id="19" name="Picture 18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2F402A39-D807-601C-9351-7B3F743EA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4505" y="5687564"/>
            <a:ext cx="721452" cy="586723"/>
          </a:xfrm>
          <a:prstGeom prst="rect">
            <a:avLst/>
          </a:prstGeom>
        </p:spPr>
      </p:pic>
      <p:sp>
        <p:nvSpPr>
          <p:cNvPr id="20" name="Left-Right Arrow 19">
            <a:extLst>
              <a:ext uri="{FF2B5EF4-FFF2-40B4-BE49-F238E27FC236}">
                <a16:creationId xmlns:a16="http://schemas.microsoft.com/office/drawing/2014/main" id="{C3256439-93DE-0075-A834-C9E6E353135B}"/>
              </a:ext>
            </a:extLst>
          </p:cNvPr>
          <p:cNvSpPr/>
          <p:nvPr/>
        </p:nvSpPr>
        <p:spPr>
          <a:xfrm rot="3136357">
            <a:off x="9913560" y="4956227"/>
            <a:ext cx="859853" cy="265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-Right Arrow 23">
            <a:extLst>
              <a:ext uri="{FF2B5EF4-FFF2-40B4-BE49-F238E27FC236}">
                <a16:creationId xmlns:a16="http://schemas.microsoft.com/office/drawing/2014/main" id="{E7F84DD6-1851-3BA6-8F1B-CD8C7C55F18A}"/>
              </a:ext>
            </a:extLst>
          </p:cNvPr>
          <p:cNvSpPr/>
          <p:nvPr/>
        </p:nvSpPr>
        <p:spPr>
          <a:xfrm rot="4660625">
            <a:off x="8453761" y="5209418"/>
            <a:ext cx="859853" cy="265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-Right Arrow 24">
            <a:extLst>
              <a:ext uri="{FF2B5EF4-FFF2-40B4-BE49-F238E27FC236}">
                <a16:creationId xmlns:a16="http://schemas.microsoft.com/office/drawing/2014/main" id="{B7DF5CF1-938E-31D0-79FF-CD897C22F92E}"/>
              </a:ext>
            </a:extLst>
          </p:cNvPr>
          <p:cNvSpPr/>
          <p:nvPr/>
        </p:nvSpPr>
        <p:spPr>
          <a:xfrm rot="3957520">
            <a:off x="9213068" y="5261193"/>
            <a:ext cx="859853" cy="265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ECCC162-5B94-DBA9-0D8E-11731E8BF757}"/>
              </a:ext>
            </a:extLst>
          </p:cNvPr>
          <p:cNvGrpSpPr/>
          <p:nvPr/>
        </p:nvGrpSpPr>
        <p:grpSpPr>
          <a:xfrm>
            <a:off x="8096777" y="855482"/>
            <a:ext cx="3137747" cy="1553018"/>
            <a:chOff x="4584873" y="4735296"/>
            <a:chExt cx="3137747" cy="1553018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678DD57-3393-69E5-4902-012632198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41841" y="4865391"/>
              <a:ext cx="1660793" cy="712975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0C17DF2-9B3F-035F-38DA-07751BBA0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84873" y="5151279"/>
              <a:ext cx="1660793" cy="71297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216ADF02-B6E7-5D87-5BBC-9F3F753C8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37935" y="5575339"/>
              <a:ext cx="1660793" cy="712975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4259606A-7F14-3A6F-C21D-48FF9081A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61827" y="4735296"/>
              <a:ext cx="1660793" cy="712975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8F1E6DB7-6C33-6B33-76E2-F0723FF131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27822" y="5176347"/>
              <a:ext cx="1660793" cy="712975"/>
            </a:xfrm>
            <a:prstGeom prst="rect">
              <a:avLst/>
            </a:prstGeom>
          </p:spPr>
        </p:pic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F40F2A67-F14D-12DA-8C9A-114DF239C6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9805" y="374585"/>
            <a:ext cx="643977" cy="712975"/>
          </a:xfrm>
          <a:prstGeom prst="rect">
            <a:avLst/>
          </a:prstGeom>
        </p:spPr>
      </p:pic>
      <p:pic>
        <p:nvPicPr>
          <p:cNvPr id="35" name="Picture 34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7F84712C-EACA-4FB2-C436-41F90F1F7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256" y="5992158"/>
            <a:ext cx="721452" cy="586723"/>
          </a:xfrm>
          <a:prstGeom prst="rect">
            <a:avLst/>
          </a:prstGeom>
        </p:spPr>
      </p:pic>
      <p:pic>
        <p:nvPicPr>
          <p:cNvPr id="36" name="Picture 35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5E015815-E20D-2E69-AD05-EF12C3CC7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661" y="5871401"/>
            <a:ext cx="721452" cy="586723"/>
          </a:xfrm>
          <a:prstGeom prst="rect">
            <a:avLst/>
          </a:prstGeom>
        </p:spPr>
      </p:pic>
      <p:pic>
        <p:nvPicPr>
          <p:cNvPr id="37" name="Picture 36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1258E6EB-458C-5B01-307A-48B12519C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841" y="6097930"/>
            <a:ext cx="721452" cy="586723"/>
          </a:xfrm>
          <a:prstGeom prst="rect">
            <a:avLst/>
          </a:prstGeom>
        </p:spPr>
      </p:pic>
      <p:sp>
        <p:nvSpPr>
          <p:cNvPr id="38" name="Left-Right Arrow 37">
            <a:extLst>
              <a:ext uri="{FF2B5EF4-FFF2-40B4-BE49-F238E27FC236}">
                <a16:creationId xmlns:a16="http://schemas.microsoft.com/office/drawing/2014/main" id="{A82CE391-8C88-43C4-6FA1-9F0B43188313}"/>
              </a:ext>
            </a:extLst>
          </p:cNvPr>
          <p:cNvSpPr/>
          <p:nvPr/>
        </p:nvSpPr>
        <p:spPr>
          <a:xfrm rot="7126337">
            <a:off x="6204145" y="5556038"/>
            <a:ext cx="859853" cy="265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Left-Right Arrow 38">
            <a:extLst>
              <a:ext uri="{FF2B5EF4-FFF2-40B4-BE49-F238E27FC236}">
                <a16:creationId xmlns:a16="http://schemas.microsoft.com/office/drawing/2014/main" id="{83BC9B14-9E24-896A-3F69-E6E57E6610FD}"/>
              </a:ext>
            </a:extLst>
          </p:cNvPr>
          <p:cNvSpPr/>
          <p:nvPr/>
        </p:nvSpPr>
        <p:spPr>
          <a:xfrm rot="5887104">
            <a:off x="7443205" y="5431898"/>
            <a:ext cx="859853" cy="265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4421FE0-19B2-1875-36D9-A23A923F4574}"/>
              </a:ext>
            </a:extLst>
          </p:cNvPr>
          <p:cNvGrpSpPr/>
          <p:nvPr/>
        </p:nvGrpSpPr>
        <p:grpSpPr>
          <a:xfrm>
            <a:off x="9442799" y="1397760"/>
            <a:ext cx="2219966" cy="1098765"/>
            <a:chOff x="4584873" y="4735296"/>
            <a:chExt cx="3137747" cy="155301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698B5ED-5D54-040E-E0A3-8D4D37150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41841" y="4865391"/>
              <a:ext cx="1660793" cy="71297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39564AC-6A09-7776-85B0-2941CB0E0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84873" y="5151279"/>
              <a:ext cx="1660793" cy="71297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E292ADE-E163-00FC-FB46-DF74F359A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37935" y="5575339"/>
              <a:ext cx="1660793" cy="71297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678A470-05AF-CA5C-452B-8016D4A97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61827" y="4735296"/>
              <a:ext cx="1660793" cy="712975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9B477A7-AD1D-254B-F05D-C54BA55A9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27822" y="5176347"/>
              <a:ext cx="1660793" cy="712975"/>
            </a:xfrm>
            <a:prstGeom prst="rect">
              <a:avLst/>
            </a:prstGeom>
          </p:spPr>
        </p:pic>
      </p:grp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9B1BC6-D24F-8E59-12B1-70A3604AB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8" y="2606691"/>
            <a:ext cx="3047754" cy="1820430"/>
          </a:xfrm>
          <a:prstGeom prst="rect">
            <a:avLst/>
          </a:prstGeom>
        </p:spPr>
      </p:pic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E099DF-D8A4-2B1F-46E9-A33355E4D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937" y="2852583"/>
            <a:ext cx="3047754" cy="182043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66FE603-906D-1F1D-E1F0-71940A8ECE55}"/>
              </a:ext>
            </a:extLst>
          </p:cNvPr>
          <p:cNvSpPr/>
          <p:nvPr/>
        </p:nvSpPr>
        <p:spPr>
          <a:xfrm>
            <a:off x="4708281" y="80863"/>
            <a:ext cx="7405162" cy="669627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3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3B70F1-AF25-38CC-FFC1-DAD8405D7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URD Data Problem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C5F6F-8FF7-6B39-D41A-FAFAC934643F}"/>
              </a:ext>
            </a:extLst>
          </p:cNvPr>
          <p:cNvSpPr txBox="1"/>
          <p:nvPr/>
        </p:nvSpPr>
        <p:spPr>
          <a:xfrm>
            <a:off x="292231" y="2599509"/>
            <a:ext cx="5619302" cy="36394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171450">
              <a:lnSpc>
                <a:spcPct val="150000"/>
              </a:lnSpc>
              <a:spcAft>
                <a:spcPts val="600"/>
              </a:spcAft>
            </a:pPr>
            <a:r>
              <a:rPr lang="en-US" sz="2400" b="1" dirty="0"/>
              <a:t>Labor intensive </a:t>
            </a:r>
            <a:r>
              <a:rPr lang="en-US" sz="2400" dirty="0"/>
              <a:t>to maintain</a:t>
            </a:r>
          </a:p>
          <a:p>
            <a:pPr indent="-171450">
              <a:lnSpc>
                <a:spcPct val="150000"/>
              </a:lnSpc>
              <a:spcAft>
                <a:spcPts val="600"/>
              </a:spcAft>
            </a:pPr>
            <a:r>
              <a:rPr lang="en-US" sz="2400" b="1" dirty="0"/>
              <a:t>Fragile</a:t>
            </a:r>
            <a:r>
              <a:rPr lang="en-US" sz="2400" dirty="0"/>
              <a:t> multi-tab relationships</a:t>
            </a:r>
          </a:p>
          <a:p>
            <a:pPr indent="-171450">
              <a:lnSpc>
                <a:spcPct val="150000"/>
              </a:lnSpc>
              <a:spcAft>
                <a:spcPts val="600"/>
              </a:spcAft>
            </a:pPr>
            <a:r>
              <a:rPr lang="en-US" sz="2400" b="1" dirty="0"/>
              <a:t>Inflexible</a:t>
            </a:r>
            <a:r>
              <a:rPr lang="en-US" sz="2400" dirty="0"/>
              <a:t> sheet structure</a:t>
            </a:r>
          </a:p>
          <a:p>
            <a:pPr indent="-171450">
              <a:lnSpc>
                <a:spcPct val="150000"/>
              </a:lnSpc>
              <a:spcAft>
                <a:spcPts val="600"/>
              </a:spcAft>
            </a:pPr>
            <a:r>
              <a:rPr lang="en-US" sz="2400" b="1" dirty="0"/>
              <a:t>Not scalable</a:t>
            </a:r>
          </a:p>
          <a:p>
            <a:pPr indent="-171450">
              <a:lnSpc>
                <a:spcPct val="150000"/>
              </a:lnSpc>
              <a:spcAft>
                <a:spcPts val="600"/>
              </a:spcAft>
            </a:pPr>
            <a:r>
              <a:rPr lang="en-US" sz="2400" b="1" dirty="0"/>
              <a:t>Error prone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FE355E-5CA5-7435-D557-FFDF19203C7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13968" y="2984778"/>
            <a:ext cx="3868831" cy="274388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058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FE98F6-2CCC-0493-5C86-A30EA0FCBC30}"/>
              </a:ext>
            </a:extLst>
          </p:cNvPr>
          <p:cNvSpPr txBox="1"/>
          <p:nvPr/>
        </p:nvSpPr>
        <p:spPr>
          <a:xfrm>
            <a:off x="0" y="123197"/>
            <a:ext cx="12191999" cy="1024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Solution: Replace Spreadsheets with 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Unified Database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92C415-EEF8-E440-10F4-C34ECF6075F9}"/>
              </a:ext>
            </a:extLst>
          </p:cNvPr>
          <p:cNvSpPr txBox="1"/>
          <p:nvPr/>
        </p:nvSpPr>
        <p:spPr>
          <a:xfrm>
            <a:off x="232419" y="2567727"/>
            <a:ext cx="3103621" cy="271912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171450">
              <a:lnSpc>
                <a:spcPct val="170000"/>
              </a:lnSpc>
              <a:spcAft>
                <a:spcPts val="600"/>
              </a:spcAft>
            </a:pPr>
            <a:r>
              <a:rPr lang="en-US" sz="2400" b="1" dirty="0"/>
              <a:t>Scales</a:t>
            </a:r>
          </a:p>
          <a:p>
            <a:pPr marL="171450">
              <a:lnSpc>
                <a:spcPct val="170000"/>
              </a:lnSpc>
              <a:spcAft>
                <a:spcPts val="600"/>
              </a:spcAft>
            </a:pPr>
            <a:r>
              <a:rPr lang="en-US" sz="2400" b="1" dirty="0"/>
              <a:t>Reduces errors</a:t>
            </a:r>
            <a:endParaRPr lang="en-US" sz="2400" dirty="0"/>
          </a:p>
          <a:p>
            <a:pPr marL="171450">
              <a:lnSpc>
                <a:spcPct val="170000"/>
              </a:lnSpc>
              <a:spcAft>
                <a:spcPts val="600"/>
              </a:spcAft>
            </a:pPr>
            <a:r>
              <a:rPr lang="en-US" sz="2400" b="1" dirty="0"/>
              <a:t>Streamlines</a:t>
            </a:r>
            <a:endParaRPr lang="en-US" sz="2400" dirty="0"/>
          </a:p>
          <a:p>
            <a:pPr marL="171450">
              <a:lnSpc>
                <a:spcPct val="170000"/>
              </a:lnSpc>
              <a:spcAft>
                <a:spcPts val="600"/>
              </a:spcAft>
            </a:pPr>
            <a:r>
              <a:rPr lang="en-US" sz="2400" b="1" dirty="0"/>
              <a:t>Automates</a:t>
            </a:r>
          </a:p>
          <a:p>
            <a:pPr marL="171450">
              <a:lnSpc>
                <a:spcPct val="170000"/>
              </a:lnSpc>
              <a:spcAft>
                <a:spcPts val="600"/>
              </a:spcAft>
            </a:pPr>
            <a:r>
              <a:rPr lang="en-US" sz="2400" b="1" dirty="0"/>
              <a:t>Adapts and evolves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787083-CD46-8363-52C6-258AC86E1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226" y="1671123"/>
            <a:ext cx="6446200" cy="45123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FEA531D-6109-B1AA-B31A-B0D26650F210}"/>
              </a:ext>
            </a:extLst>
          </p:cNvPr>
          <p:cNvSpPr txBox="1"/>
          <p:nvPr/>
        </p:nvSpPr>
        <p:spPr>
          <a:xfrm>
            <a:off x="9995157" y="5566035"/>
            <a:ext cx="1838112" cy="369332"/>
          </a:xfrm>
          <a:prstGeom prst="rect">
            <a:avLst/>
          </a:prstGeom>
          <a:solidFill>
            <a:srgbClr val="D1E7DE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Lower Cost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8F7F1D-EACD-611F-87F8-35EDA3DCF9E0}"/>
              </a:ext>
            </a:extLst>
          </p:cNvPr>
          <p:cNvSpPr txBox="1"/>
          <p:nvPr/>
        </p:nvSpPr>
        <p:spPr>
          <a:xfrm>
            <a:off x="9995157" y="4133163"/>
            <a:ext cx="1838112" cy="923330"/>
          </a:xfrm>
          <a:prstGeom prst="rect">
            <a:avLst/>
          </a:prstGeom>
          <a:solidFill>
            <a:srgbClr val="D1E7DE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Increased Volunteer Engagement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1AFDF5-68BE-8BDF-F7F5-B8FB5D805CD3}"/>
              </a:ext>
            </a:extLst>
          </p:cNvPr>
          <p:cNvSpPr txBox="1"/>
          <p:nvPr/>
        </p:nvSpPr>
        <p:spPr>
          <a:xfrm>
            <a:off x="9995157" y="1544418"/>
            <a:ext cx="1838112" cy="923330"/>
          </a:xfrm>
          <a:prstGeom prst="rect">
            <a:avLst/>
          </a:prstGeom>
          <a:solidFill>
            <a:srgbClr val="D1E7DE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Improved Quality and Accuracy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AEB38A-F070-5D50-213F-16A3CD18049B}"/>
              </a:ext>
            </a:extLst>
          </p:cNvPr>
          <p:cNvSpPr txBox="1"/>
          <p:nvPr/>
        </p:nvSpPr>
        <p:spPr>
          <a:xfrm>
            <a:off x="9995157" y="2977290"/>
            <a:ext cx="1838112" cy="646331"/>
          </a:xfrm>
          <a:prstGeom prst="rect">
            <a:avLst/>
          </a:prstGeom>
          <a:solidFill>
            <a:srgbClr val="D1E7DE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Reduced Backlog</a:t>
            </a:r>
          </a:p>
        </p:txBody>
      </p:sp>
    </p:spTree>
    <p:extLst>
      <p:ext uri="{BB962C8B-B14F-4D97-AF65-F5344CB8AC3E}">
        <p14:creationId xmlns:p14="http://schemas.microsoft.com/office/powerpoint/2010/main" val="2544372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406B0-4264-016B-C138-4CC8550E5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D25A624-5774-E5B9-A23D-6BEEC2E149C0}"/>
              </a:ext>
            </a:extLst>
          </p:cNvPr>
          <p:cNvSpPr/>
          <p:nvPr/>
        </p:nvSpPr>
        <p:spPr>
          <a:xfrm>
            <a:off x="7135660" y="444998"/>
            <a:ext cx="4739014" cy="221469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D1E399-DFC2-8F95-CE64-4A4FDD1A105F}"/>
              </a:ext>
            </a:extLst>
          </p:cNvPr>
          <p:cNvSpPr/>
          <p:nvPr/>
        </p:nvSpPr>
        <p:spPr>
          <a:xfrm>
            <a:off x="9540658" y="2659692"/>
            <a:ext cx="2334016" cy="20793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7480B6F-F435-DC52-C61D-AE0AAF774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954" y="1366757"/>
            <a:ext cx="615915" cy="48686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C1E70BA2-4B3B-2BAB-9238-2D1EE8E86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146" y="1470351"/>
            <a:ext cx="917016" cy="3514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70CAD1-8F19-41DD-7271-E04C2B0E6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Status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4B00B3-2310-7E76-762F-042912F34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0083" y="1251751"/>
            <a:ext cx="643977" cy="712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7EB1D6-C84B-3796-4E2D-FE7237A88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0588" y="3405443"/>
            <a:ext cx="482774" cy="479999"/>
          </a:xfrm>
          <a:prstGeom prst="rect">
            <a:avLst/>
          </a:prstGeom>
        </p:spPr>
      </p:pic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5C3DD66D-C60C-B008-DFBB-F7CEA34B593B}"/>
              </a:ext>
            </a:extLst>
          </p:cNvPr>
          <p:cNvCxnSpPr>
            <a:cxnSpLocks/>
            <a:stCxn id="41" idx="3"/>
            <a:endCxn id="5" idx="1"/>
          </p:cNvCxnSpPr>
          <p:nvPr/>
        </p:nvCxnSpPr>
        <p:spPr>
          <a:xfrm>
            <a:off x="9596862" y="1610190"/>
            <a:ext cx="903726" cy="2035253"/>
          </a:xfrm>
          <a:prstGeom prst="curvedConnector3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ABDC8674-2DF1-1317-4050-AF765D978662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 rot="5400000">
            <a:off x="10026666" y="2680036"/>
            <a:ext cx="1440717" cy="10097"/>
          </a:xfrm>
          <a:prstGeom prst="curvedConnector3">
            <a:avLst>
              <a:gd name="adj1" fmla="val 50000"/>
            </a:avLst>
          </a:prstGeom>
          <a:ln>
            <a:solidFill>
              <a:schemeClr val="accent2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6504EAFC-7499-2B4F-1279-72F01DD7D92D}"/>
              </a:ext>
            </a:extLst>
          </p:cNvPr>
          <p:cNvCxnSpPr>
            <a:cxnSpLocks/>
          </p:cNvCxnSpPr>
          <p:nvPr/>
        </p:nvCxnSpPr>
        <p:spPr>
          <a:xfrm flipV="1">
            <a:off x="8405162" y="1618519"/>
            <a:ext cx="559800" cy="417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4FC8E7F-DA1B-37D3-1F3E-82D4032D0766}"/>
              </a:ext>
            </a:extLst>
          </p:cNvPr>
          <p:cNvSpPr txBox="1"/>
          <p:nvPr/>
        </p:nvSpPr>
        <p:spPr>
          <a:xfrm>
            <a:off x="7486282" y="1847012"/>
            <a:ext cx="947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Wikisource</a:t>
            </a:r>
            <a:endParaRPr 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8AC49B-18BA-CCAB-DCB4-F7BCD31818DB}"/>
              </a:ext>
            </a:extLst>
          </p:cNvPr>
          <p:cNvSpPr txBox="1"/>
          <p:nvPr/>
        </p:nvSpPr>
        <p:spPr>
          <a:xfrm>
            <a:off x="8932355" y="1873668"/>
            <a:ext cx="697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Birddog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1B82CE-3A28-2A9F-70CC-86373E232397}"/>
              </a:ext>
            </a:extLst>
          </p:cNvPr>
          <p:cNvSpPr txBox="1"/>
          <p:nvPr/>
        </p:nvSpPr>
        <p:spPr>
          <a:xfrm>
            <a:off x="10203781" y="974367"/>
            <a:ext cx="10680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Google Drive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9C8EA0-C31E-9A5E-35B7-7AC25113A5A2}"/>
              </a:ext>
            </a:extLst>
          </p:cNvPr>
          <p:cNvSpPr txBox="1"/>
          <p:nvPr/>
        </p:nvSpPr>
        <p:spPr>
          <a:xfrm>
            <a:off x="10332727" y="3896729"/>
            <a:ext cx="827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Database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A9B8ED-CD72-B2DF-F285-30D0618A5FC4}"/>
              </a:ext>
            </a:extLst>
          </p:cNvPr>
          <p:cNvSpPr txBox="1"/>
          <p:nvPr/>
        </p:nvSpPr>
        <p:spPr>
          <a:xfrm>
            <a:off x="10356388" y="2699630"/>
            <a:ext cx="89421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Snapshots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6944114-6791-D214-4C23-CC171FCDD27D}"/>
              </a:ext>
            </a:extLst>
          </p:cNvPr>
          <p:cNvSpPr/>
          <p:nvPr/>
        </p:nvSpPr>
        <p:spPr>
          <a:xfrm>
            <a:off x="7486282" y="1445120"/>
            <a:ext cx="929550" cy="401892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CC25971-295E-095A-CC32-98EAAC45331D}"/>
              </a:ext>
            </a:extLst>
          </p:cNvPr>
          <p:cNvSpPr/>
          <p:nvPr/>
        </p:nvSpPr>
        <p:spPr>
          <a:xfrm>
            <a:off x="8964962" y="1366756"/>
            <a:ext cx="631900" cy="486867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73613C19-51C7-081C-71EA-6FD9C546214C}"/>
              </a:ext>
            </a:extLst>
          </p:cNvPr>
          <p:cNvSpPr/>
          <p:nvPr/>
        </p:nvSpPr>
        <p:spPr>
          <a:xfrm>
            <a:off x="10506999" y="3421754"/>
            <a:ext cx="469951" cy="463688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04E58E81-CB20-CD7D-7498-1FF2BA535CE9}"/>
              </a:ext>
            </a:extLst>
          </p:cNvPr>
          <p:cNvSpPr/>
          <p:nvPr/>
        </p:nvSpPr>
        <p:spPr>
          <a:xfrm>
            <a:off x="10424555" y="1245745"/>
            <a:ext cx="643977" cy="719366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30C465-A9C8-95E3-4F09-99AD8114718C}"/>
              </a:ext>
            </a:extLst>
          </p:cNvPr>
          <p:cNvSpPr txBox="1"/>
          <p:nvPr/>
        </p:nvSpPr>
        <p:spPr>
          <a:xfrm>
            <a:off x="7132672" y="453651"/>
            <a:ext cx="1571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Ongoing 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7BC63C-6615-1B45-25D2-9600B9723004}"/>
              </a:ext>
            </a:extLst>
          </p:cNvPr>
          <p:cNvSpPr txBox="1"/>
          <p:nvPr/>
        </p:nvSpPr>
        <p:spPr>
          <a:xfrm>
            <a:off x="9597084" y="4400461"/>
            <a:ext cx="22775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Database Development</a:t>
            </a: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B141C3B5-6520-77C0-6478-F5E2CD1DBD83}"/>
              </a:ext>
            </a:extLst>
          </p:cNvPr>
          <p:cNvCxnSpPr>
            <a:cxnSpLocks/>
            <a:stCxn id="41" idx="3"/>
            <a:endCxn id="3" idx="1"/>
          </p:cNvCxnSpPr>
          <p:nvPr/>
        </p:nvCxnSpPr>
        <p:spPr>
          <a:xfrm flipV="1">
            <a:off x="9596862" y="1608239"/>
            <a:ext cx="833221" cy="195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B301B7A-4C14-E82B-7831-6FA10CC6151A}"/>
              </a:ext>
            </a:extLst>
          </p:cNvPr>
          <p:cNvSpPr/>
          <p:nvPr/>
        </p:nvSpPr>
        <p:spPr>
          <a:xfrm>
            <a:off x="1208638" y="3075077"/>
            <a:ext cx="520313" cy="514895"/>
          </a:xfrm>
          <a:prstGeom prst="rect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3E84B0-6953-FE3E-88E8-86002AEF9DEC}"/>
              </a:ext>
            </a:extLst>
          </p:cNvPr>
          <p:cNvSpPr/>
          <p:nvPr/>
        </p:nvSpPr>
        <p:spPr>
          <a:xfrm>
            <a:off x="1208638" y="3875685"/>
            <a:ext cx="520313" cy="514895"/>
          </a:xfrm>
          <a:prstGeom prst="rect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C9CC97-C8B9-7EDF-4363-DC710D068EA5}"/>
              </a:ext>
            </a:extLst>
          </p:cNvPr>
          <p:cNvSpPr/>
          <p:nvPr/>
        </p:nvSpPr>
        <p:spPr>
          <a:xfrm>
            <a:off x="1208638" y="4676294"/>
            <a:ext cx="520313" cy="514895"/>
          </a:xfrm>
          <a:prstGeom prst="rect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B24CCA-ADA5-8963-3B37-75C1B232DB9B}"/>
              </a:ext>
            </a:extLst>
          </p:cNvPr>
          <p:cNvSpPr txBox="1"/>
          <p:nvPr/>
        </p:nvSpPr>
        <p:spPr>
          <a:xfrm>
            <a:off x="1996401" y="3960476"/>
            <a:ext cx="363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 import from spreadsheets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9B084-6858-D43A-D225-B6EF9C54C59A}"/>
              </a:ext>
            </a:extLst>
          </p:cNvPr>
          <p:cNvSpPr txBox="1"/>
          <p:nvPr/>
        </p:nvSpPr>
        <p:spPr>
          <a:xfrm>
            <a:off x="1996401" y="3121686"/>
            <a:ext cx="56673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Birddog Integration - automatic updates from Wiki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6DE1CA-1539-1120-5647-108503A343CE}"/>
              </a:ext>
            </a:extLst>
          </p:cNvPr>
          <p:cNvSpPr txBox="1"/>
          <p:nvPr/>
        </p:nvSpPr>
        <p:spPr>
          <a:xfrm>
            <a:off x="1996401" y="4725406"/>
            <a:ext cx="5733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Workflow development (views, roles, streamlining)</a:t>
            </a:r>
          </a:p>
        </p:txBody>
      </p:sp>
      <p:pic>
        <p:nvPicPr>
          <p:cNvPr id="23" name="Graphic 22" descr="Checkbox Checked with solid fill">
            <a:extLst>
              <a:ext uri="{FF2B5EF4-FFF2-40B4-BE49-F238E27FC236}">
                <a16:creationId xmlns:a16="http://schemas.microsoft.com/office/drawing/2014/main" id="{570121F7-C793-8292-5517-DA4C61D259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7241" y="2943157"/>
            <a:ext cx="777972" cy="777972"/>
          </a:xfrm>
          <a:prstGeom prst="rect">
            <a:avLst/>
          </a:prstGeom>
        </p:spPr>
      </p:pic>
      <p:pic>
        <p:nvPicPr>
          <p:cNvPr id="24" name="Graphic 23" descr="Checkbox Checked with solid fill">
            <a:extLst>
              <a:ext uri="{FF2B5EF4-FFF2-40B4-BE49-F238E27FC236}">
                <a16:creationId xmlns:a16="http://schemas.microsoft.com/office/drawing/2014/main" id="{6CD02740-3125-9E41-6255-8E302506E8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8963" y="3741579"/>
            <a:ext cx="777972" cy="77797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E953FA5-9C5E-15D4-49F7-9F6E51DD3465}"/>
              </a:ext>
            </a:extLst>
          </p:cNvPr>
          <p:cNvSpPr/>
          <p:nvPr/>
        </p:nvSpPr>
        <p:spPr>
          <a:xfrm>
            <a:off x="1208638" y="5387649"/>
            <a:ext cx="520313" cy="514895"/>
          </a:xfrm>
          <a:prstGeom prst="rect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21B2AE-652D-8B27-4C26-904CAA0BDFCB}"/>
              </a:ext>
            </a:extLst>
          </p:cNvPr>
          <p:cNvSpPr txBox="1"/>
          <p:nvPr/>
        </p:nvSpPr>
        <p:spPr>
          <a:xfrm>
            <a:off x="1996401" y="5436761"/>
            <a:ext cx="6017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Transition the URD process to the database platform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27EE90-A648-B738-B150-72930BACE5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0017" y="4717289"/>
            <a:ext cx="435446" cy="43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959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54098D-F956-71E2-B468-BAE5F9F34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94" y="2074607"/>
            <a:ext cx="6579757" cy="376440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93A3ABE-18E6-403F-D6A9-C9AFD0AC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Current Database Scale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7D74BF-1CA4-F153-38E8-95B8E79858F7}"/>
              </a:ext>
            </a:extLst>
          </p:cNvPr>
          <p:cNvSpPr txBox="1"/>
          <p:nvPr/>
        </p:nvSpPr>
        <p:spPr>
          <a:xfrm>
            <a:off x="7616815" y="2987311"/>
            <a:ext cx="418024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Most of Google Drive data is in</a:t>
            </a:r>
          </a:p>
          <a:p>
            <a:endParaRPr lang="en-US" sz="2400" dirty="0"/>
          </a:p>
          <a:p>
            <a:r>
              <a:rPr lang="en-US" sz="2400" dirty="0"/>
              <a:t>358k Page records</a:t>
            </a:r>
          </a:p>
          <a:p>
            <a:endParaRPr lang="en-US" sz="2400" dirty="0"/>
          </a:p>
          <a:p>
            <a:r>
              <a:rPr lang="en-US" sz="2400" dirty="0"/>
              <a:t>171k Document records</a:t>
            </a:r>
          </a:p>
        </p:txBody>
      </p:sp>
    </p:spTree>
    <p:extLst>
      <p:ext uri="{BB962C8B-B14F-4D97-AF65-F5344CB8AC3E}">
        <p14:creationId xmlns:p14="http://schemas.microsoft.com/office/powerpoint/2010/main" val="2876637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7715D5-151C-19A3-BF52-16BCEB73E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944B551-1D10-B571-04B5-460C59A458D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607" b="712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C49CE6-6A9D-BAE7-AF3D-19CFFD0EC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Needs to Move Forward</a:t>
            </a:r>
            <a:endParaRPr lang="en-US" dirty="0"/>
          </a:p>
        </p:txBody>
      </p:sp>
      <p:graphicFrame>
        <p:nvGraphicFramePr>
          <p:cNvPr id="36" name="TextBox 2">
            <a:extLst>
              <a:ext uri="{FF2B5EF4-FFF2-40B4-BE49-F238E27FC236}">
                <a16:creationId xmlns:a16="http://schemas.microsoft.com/office/drawing/2014/main" id="{4F7C6664-DE37-3F6D-E75C-AD29EFE4B9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89535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62997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6633</TotalTime>
  <Words>211</Words>
  <Application>Microsoft Macintosh PowerPoint</Application>
  <PresentationFormat>Widescreen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Office Theme</vt:lpstr>
      <vt:lpstr>URD Database Project</vt:lpstr>
      <vt:lpstr>URD Database Team</vt:lpstr>
      <vt:lpstr>JewishGen URD Acquisition Birds-Eye View</vt:lpstr>
      <vt:lpstr>Existing Administrator Workflow</vt:lpstr>
      <vt:lpstr>Birddog-Assisted Workflow</vt:lpstr>
      <vt:lpstr>JewishGen URD Acquisition Birds-Eye View</vt:lpstr>
      <vt:lpstr>URD Data Problem</vt:lpstr>
      <vt:lpstr>PowerPoint Presentation</vt:lpstr>
      <vt:lpstr>Development Status</vt:lpstr>
      <vt:lpstr>Current Database Scale</vt:lpstr>
      <vt:lpstr>Needs to Move Forward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Brandt</dc:creator>
  <cp:lastModifiedBy>Jon Brandt</cp:lastModifiedBy>
  <cp:revision>57</cp:revision>
  <dcterms:created xsi:type="dcterms:W3CDTF">2025-09-28T01:29:04Z</dcterms:created>
  <dcterms:modified xsi:type="dcterms:W3CDTF">2026-06-01T16:31:58Z</dcterms:modified>
</cp:coreProperties>
</file>